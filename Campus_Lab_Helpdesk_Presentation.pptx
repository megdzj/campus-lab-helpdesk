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59936ce-dbc3-8930-c01c-e2aec5dff7d4}">
          <p14:sldIdLst>
            <p14:sldId id="256"/>
            <p14:sldId id="257"/>
            <p14:sldId id="258"/>
          </p14:sldIdLst>
        </p14:section>
        <p14:section name="Design" id="{3cf9d1f3-5f9d-6810-c297-dc1c0e28d5d0}">
          <p14:sldIdLst>
            <p14:sldId id="259"/>
            <p14:sldId id="260"/>
          </p14:sldIdLst>
        </p14:section>
        <p14:section name="Networking" id="{388ce29a-c302-7a46-2a1a-958eb7cda8a3}">
          <p14:sldIdLst>
            <p14:sldId id="261"/>
            <p14:sldId id="262"/>
            <p14:sldId id="263"/>
            <p14:sldId id="264"/>
          </p14:sldIdLst>
        </p14:section>
        <p14:section name="Data and security" id="{cfeb6b08-a1c1-6c25-0bde-0f5ede8ff777}">
          <p14:sldIdLst>
            <p14:sldId id="265"/>
            <p14:sldId id="266"/>
            <p14:sldId id="267"/>
          </p14:sldIdLst>
        </p14:section>
        <p14:section name="Outcomes" id="{04c5db73-6aa3-26f9-1ca9-6aef43df6051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Campus Lab Helpdesk  ·  Computer Networks Project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223760" y="2651760"/>
            <a:ext cx="2743200" cy="274320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COMPUTER NETWORKS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Lab Helpdesk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 offline, LAN-based helpdesk and communication system for campus computer laboratories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Python · Flask · Socket.IO (WebSocket over TCP) · SQLite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Submitted by: Meghant Darji   |   BCSE Year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in a computer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goes wrong today</a:t>
            </a:r>
            <a:endParaRPr lang="en-US" sz="2000" dirty="0"/>
          </a:p>
        </p:txBody>
      </p:sp>
      <p:sp>
        <p:nvSpPr>
          <p:cNvPr id="4" name="badge 1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PC will not start, software fails, the network is down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Problems are common and varied</a:t>
            </a:r>
            <a:endParaRPr lang="en-US" sz="1200" dirty="0"/>
          </a:p>
        </p:txBody>
      </p:sp>
      <p:sp>
        <p:nvSpPr>
          <p:cNvPr id="8" name="badge 2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student must leave their seat to find the lab assistant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Time lost, work interrupted</a:t>
            </a:r>
            <a:endParaRPr lang="en-US" sz="1200" dirty="0"/>
          </a:p>
        </p:txBody>
      </p:sp>
      <p:sp>
        <p:nvSpPr>
          <p:cNvPr id="12" name="badge 3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assistant has no overview of what is waiting or urgent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 queue, no priority, no owner</a:t>
            </a:r>
            <a:endParaRPr lang="en-US" sz="1200" dirty="0"/>
          </a:p>
        </p:txBody>
      </p:sp>
      <p:sp>
        <p:nvSpPr>
          <p:cNvPr id="16" name="solution card"/>
          <p:cNvSpPr/>
          <p:nvPr/>
        </p:nvSpPr>
        <p:spPr>
          <a:xfrm>
            <a:off x="5029200" y="1188720"/>
            <a:ext cx="365760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Student files a ticket from their own workstation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Assistant is notified in real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Both chat on the ticket until it is resolved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on one lab computer, used through a browser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Needs only the local network, no internet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000" dirty="0"/>
          </a:p>
        </p:txBody>
      </p:sp>
      <p:sp>
        <p:nvSpPr>
          <p:cNvPr id="3" name="feature 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Student portal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with live ticket counts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a problem: category, priority, workstation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 ticket number, e.g. LAB-0010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status timeline and chat with assistant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Announcements pushed instantly</a:t>
            </a:r>
            <a:endParaRPr lang="en-US" sz="1400" dirty="0"/>
          </a:p>
        </p:txBody>
      </p:sp>
      <p:sp>
        <p:nvSpPr>
          <p:cNvPr id="7" name="feature 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Lab assistant console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1168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tickets appear without a page refresh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Search, filter and sort the whole queue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Assign, start work, resolve, reopen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Publish announcements to every browser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Network monitor: client IPs and transport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client"/>
          <p:cNvSpPr/>
          <p:nvPr/>
        </p:nvSpPr>
        <p:spPr>
          <a:xfrm>
            <a:off x="457200" y="132588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103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 browser (PC-14)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560320" y="1691640"/>
            <a:ext cx="68580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client"/>
          <p:cNvSpPr/>
          <p:nvPr/>
        </p:nvSpPr>
        <p:spPr>
          <a:xfrm>
            <a:off x="457200" y="233172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 browser (PC-21)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 flipV="1">
            <a:off x="2560320" y="2331720"/>
            <a:ext cx="685800" cy="365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client"/>
          <p:cNvSpPr/>
          <p:nvPr/>
        </p:nvSpPr>
        <p:spPr>
          <a:xfrm>
            <a:off x="457200" y="333756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Assistant browser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 flipV="1">
            <a:off x="2560320" y="2651760"/>
            <a:ext cx="685800" cy="10515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37744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HTTP + WebSocket over TCP</a:t>
            </a:r>
            <a:endParaRPr lang="en-US" sz="1100" dirty="0"/>
          </a:p>
        </p:txBody>
      </p:sp>
      <p:sp>
        <p:nvSpPr>
          <p:cNvPr id="13" name="server box"/>
          <p:cNvSpPr/>
          <p:nvPr/>
        </p:nvSpPr>
        <p:spPr>
          <a:xfrm>
            <a:off x="3291840" y="1188720"/>
            <a:ext cx="320040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Flask + Socket.IO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192.168.1.10 : 5000</a:t>
            </a:r>
            <a:endParaRPr lang="en-US" sz="1400" dirty="0"/>
          </a:p>
        </p:txBody>
      </p:sp>
      <p:sp>
        <p:nvSpPr>
          <p:cNvPr id="15" name="layer"/>
          <p:cNvSpPr/>
          <p:nvPr/>
        </p:nvSpPr>
        <p:spPr>
          <a:xfrm>
            <a:off x="3474720" y="1920240"/>
            <a:ext cx="2834640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1920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Routes: pages + JSON API</a:t>
            </a:r>
            <a:endParaRPr lang="en-US" sz="1200" dirty="0"/>
          </a:p>
        </p:txBody>
      </p:sp>
      <p:sp>
        <p:nvSpPr>
          <p:cNvPr id="17" name="layer"/>
          <p:cNvSpPr/>
          <p:nvPr/>
        </p:nvSpPr>
        <p:spPr>
          <a:xfrm>
            <a:off x="3474720" y="2468880"/>
            <a:ext cx="2834640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24688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Socket.IO handlers</a:t>
            </a:r>
            <a:endParaRPr lang="en-US" sz="1200" dirty="0"/>
          </a:p>
        </p:txBody>
      </p:sp>
      <p:sp>
        <p:nvSpPr>
          <p:cNvPr id="19" name="layer"/>
          <p:cNvSpPr/>
          <p:nvPr/>
        </p:nvSpPr>
        <p:spPr>
          <a:xfrm>
            <a:off x="3474720" y="3017520"/>
            <a:ext cx="2834640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0175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Service layer: rules and checks</a:t>
            </a:r>
            <a:endParaRPr lang="en-US" sz="1200" dirty="0"/>
          </a:p>
        </p:txBody>
      </p:sp>
      <p:sp>
        <p:nvSpPr>
          <p:cNvPr id="21" name="layer"/>
          <p:cNvSpPr/>
          <p:nvPr/>
        </p:nvSpPr>
        <p:spPr>
          <a:xfrm>
            <a:off x="3474720" y="3566160"/>
            <a:ext cx="2834640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5661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realtime.py: room broadcasts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6492240" y="2743200"/>
            <a:ext cx="5943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database"/>
          <p:cNvSpPr/>
          <p:nvPr/>
        </p:nvSpPr>
        <p:spPr>
          <a:xfrm>
            <a:off x="7132320" y="2194560"/>
            <a:ext cx="1554480" cy="1280160"/>
          </a:xfrm>
          <a:prstGeom prst="ca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23317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helpdesk.db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611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Both the API and the Socket.IO handlers call the same service functions, so every rule is written once.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ch card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vanilla JavaScript, Jinja2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No build step, no CDN</a:t>
            </a:r>
            <a:endParaRPr lang="en-US" sz="1200" dirty="0"/>
          </a:p>
        </p:txBody>
      </p:sp>
      <p:sp>
        <p:nvSpPr>
          <p:cNvPr id="7" name="tech card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Real-time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Flask-SocketIO 5 + Socket.IO 4 client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Rooms, acks, reconnect</a:t>
            </a:r>
            <a:endParaRPr lang="en-US" sz="1200" dirty="0"/>
          </a:p>
        </p:txBody>
      </p:sp>
      <p:sp>
        <p:nvSpPr>
          <p:cNvPr id="11" name="tech card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64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3.10+, Flask 3 blueprints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Small and readable</a:t>
            </a:r>
            <a:endParaRPr lang="en-US" sz="1200" dirty="0"/>
          </a:p>
        </p:txBody>
      </p:sp>
      <p:sp>
        <p:nvSpPr>
          <p:cNvPr id="15" name="tech card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Database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64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via Flask-SQLAlchemy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One file, no DB server</a:t>
            </a:r>
            <a:endParaRPr lang="en-US" sz="1200" dirty="0"/>
          </a:p>
        </p:txBody>
      </p:sp>
      <p:sp>
        <p:nvSpPr>
          <p:cNvPr id="19" name="tech card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Auth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64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Signed-cookie sessions, hashed passwords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Built in, offline</a:t>
            </a:r>
            <a:endParaRPr lang="en-US" sz="1200" dirty="0"/>
          </a:p>
        </p:txBody>
      </p:sp>
      <p:sp>
        <p:nvSpPr>
          <p:cNvPr id="23" name="tech card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Server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64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Werkzeug threaded + simple-websocket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One thread per client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 CDN, web font, cloud service or external API: everything is served from the lab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design</a:t>
            </a:r>
            <a:endParaRPr lang="en-US" sz="3000" dirty="0"/>
          </a:p>
        </p:txBody>
      </p:sp>
      <p:sp>
        <p:nvSpPr>
          <p:cNvPr id="3" name="stack layer"/>
          <p:cNvSpPr/>
          <p:nvPr/>
        </p:nvSpPr>
        <p:spPr>
          <a:xfrm>
            <a:off x="457200" y="1188720"/>
            <a:ext cx="137160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5" name="stack detail"/>
          <p:cNvSpPr/>
          <p:nvPr/>
        </p:nvSpPr>
        <p:spPr>
          <a:xfrm>
            <a:off x="1920240" y="118872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11887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HTTP/1.1 pages and API, Socket.IO events</a:t>
            </a:r>
            <a:endParaRPr lang="en-US" sz="1200" dirty="0"/>
          </a:p>
        </p:txBody>
      </p:sp>
      <p:sp>
        <p:nvSpPr>
          <p:cNvPr id="7" name="stack layer"/>
          <p:cNvSpPr/>
          <p:nvPr/>
        </p:nvSpPr>
        <p:spPr>
          <a:xfrm>
            <a:off x="457200" y="1847088"/>
            <a:ext cx="1371600" cy="566928"/>
          </a:xfrm>
          <a:prstGeom prst="roundRect">
            <a:avLst>
              <a:gd name="adj" fmla="val 96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Session</a:t>
            </a:r>
            <a:endParaRPr lang="en-US" sz="1400" dirty="0"/>
          </a:p>
        </p:txBody>
      </p:sp>
      <p:sp>
        <p:nvSpPr>
          <p:cNvPr id="9" name="stack detail"/>
          <p:cNvSpPr/>
          <p:nvPr/>
        </p:nvSpPr>
        <p:spPr>
          <a:xfrm>
            <a:off x="1920240" y="1847088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847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WebSocket frames or HTTP long-polling</a:t>
            </a:r>
            <a:endParaRPr lang="en-US" sz="1200" dirty="0"/>
          </a:p>
        </p:txBody>
      </p:sp>
      <p:sp>
        <p:nvSpPr>
          <p:cNvPr id="11" name="stack layer"/>
          <p:cNvSpPr/>
          <p:nvPr/>
        </p:nvSpPr>
        <p:spPr>
          <a:xfrm>
            <a:off x="457200" y="2505456"/>
            <a:ext cx="137160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Transport</a:t>
            </a:r>
            <a:endParaRPr lang="en-US" sz="1400" dirty="0"/>
          </a:p>
        </p:txBody>
      </p:sp>
      <p:sp>
        <p:nvSpPr>
          <p:cNvPr id="13" name="stack detail"/>
          <p:cNvSpPr/>
          <p:nvPr/>
        </p:nvSpPr>
        <p:spPr>
          <a:xfrm>
            <a:off x="1920240" y="2505456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57400" y="25054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TCP: reliable, ordered, port 5000</a:t>
            </a:r>
            <a:endParaRPr lang="en-US" sz="1200" dirty="0"/>
          </a:p>
        </p:txBody>
      </p:sp>
      <p:sp>
        <p:nvSpPr>
          <p:cNvPr id="15" name="stack layer"/>
          <p:cNvSpPr/>
          <p:nvPr/>
        </p:nvSpPr>
        <p:spPr>
          <a:xfrm>
            <a:off x="457200" y="3163824"/>
            <a:ext cx="1371600" cy="566928"/>
          </a:xfrm>
          <a:prstGeom prst="roundRect">
            <a:avLst>
              <a:gd name="adj" fmla="val 96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Network</a:t>
            </a:r>
            <a:endParaRPr lang="en-US" sz="1400" dirty="0"/>
          </a:p>
        </p:txBody>
      </p:sp>
      <p:sp>
        <p:nvSpPr>
          <p:cNvPr id="17" name="stack detail"/>
          <p:cNvSpPr/>
          <p:nvPr/>
        </p:nvSpPr>
        <p:spPr>
          <a:xfrm>
            <a:off x="1920240" y="3163824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57400" y="3163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IPv4, private LAN addresses</a:t>
            </a:r>
            <a:endParaRPr lang="en-US" sz="1200" dirty="0"/>
          </a:p>
        </p:txBody>
      </p:sp>
      <p:sp>
        <p:nvSpPr>
          <p:cNvPr id="19" name="stack layer"/>
          <p:cNvSpPr/>
          <p:nvPr/>
        </p:nvSpPr>
        <p:spPr>
          <a:xfrm>
            <a:off x="457200" y="3822192"/>
            <a:ext cx="1371600" cy="566928"/>
          </a:xfrm>
          <a:prstGeom prst="roundRect">
            <a:avLst>
              <a:gd name="adj" fmla="val 967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Link</a:t>
            </a:r>
            <a:endParaRPr lang="en-US" sz="1400" dirty="0"/>
          </a:p>
        </p:txBody>
      </p:sp>
      <p:sp>
        <p:nvSpPr>
          <p:cNvPr id="21" name="stack detail"/>
          <p:cNvSpPr/>
          <p:nvPr/>
        </p:nvSpPr>
        <p:spPr>
          <a:xfrm>
            <a:off x="1920240" y="3822192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57400" y="38221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Ethernet / Wi-Fi of the lab</a:t>
            </a:r>
            <a:endParaRPr lang="en-US" sz="1200" dirty="0"/>
          </a:p>
        </p:txBody>
      </p:sp>
      <p:sp>
        <p:nvSpPr>
          <p:cNvPr id="23" name="binding card"/>
          <p:cNvSpPr/>
          <p:nvPr/>
        </p:nvSpPr>
        <p:spPr>
          <a:xfrm>
            <a:off x="5760720" y="1188720"/>
            <a:ext cx="2926080" cy="3218688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Binds to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0.0.0.0:5000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23317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0.0.0.0 = every network interface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127.0.0.1 alone would block other PCs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Clients open http://SERVER_LAN_IP:5000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Private ranges are never routed to the internet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HTTP, WebSocket and Socket.IO</a:t>
            </a:r>
            <a:endParaRPr lang="en-US" sz="3000" dirty="0"/>
          </a:p>
        </p:txBody>
      </p:sp>
      <p:sp>
        <p:nvSpPr>
          <p:cNvPr id="3" name="protocol card"/>
          <p:cNvSpPr/>
          <p:nvPr/>
        </p:nvSpPr>
        <p:spPr>
          <a:xfrm>
            <a:off x="45720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tocol header"/>
          <p:cNvSpPr/>
          <p:nvPr/>
        </p:nvSpPr>
        <p:spPr>
          <a:xfrm>
            <a:off x="45720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HTTP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Request, then response, then done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Pages and form posts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JSON API: create ticket, change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Browser must ask first</a:t>
            </a:r>
            <a:endParaRPr lang="en-US" sz="1400" dirty="0"/>
          </a:p>
        </p:txBody>
      </p:sp>
      <p:sp>
        <p:nvSpPr>
          <p:cNvPr id="8" name="protocol card"/>
          <p:cNvSpPr/>
          <p:nvPr/>
        </p:nvSpPr>
        <p:spPr>
          <a:xfrm>
            <a:off x="324612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tocol header"/>
          <p:cNvSpPr/>
          <p:nvPr/>
        </p:nvSpPr>
        <p:spPr>
          <a:xfrm>
            <a:off x="324612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WebSocket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TCP connection that stays open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Starts as HTTP Upgrade request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Server answers 101 Switching Protocols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Either side can send at any time</a:t>
            </a:r>
            <a:endParaRPr lang="en-US" sz="1400" dirty="0"/>
          </a:p>
        </p:txBody>
      </p:sp>
      <p:sp>
        <p:nvSpPr>
          <p:cNvPr id="13" name="protocol card"/>
          <p:cNvSpPr/>
          <p:nvPr/>
        </p:nvSpPr>
        <p:spPr>
          <a:xfrm>
            <a:off x="603504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tocol header"/>
          <p:cNvSpPr/>
          <p:nvPr/>
        </p:nvSpPr>
        <p:spPr>
          <a:xfrm>
            <a:off x="603504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Socket.IO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Protocol on top of WebSocket / polling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Named events with 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Acknowledgements and 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Heartbeat, auto-reconnect,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ticket is created</a:t>
            </a:r>
            <a:endParaRPr lang="en-US" sz="3000" dirty="0"/>
          </a:p>
        </p:txBody>
      </p:sp>
      <p:sp>
        <p:nvSpPr>
          <p:cNvPr id="3" name="flow step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 submits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 /api/tickets with JSON, CSRF token and session cookie</a:t>
            </a:r>
            <a:endParaRPr lang="en-US" sz="1200" dirty="0"/>
          </a:p>
        </p:txBody>
      </p:sp>
      <p:sp>
        <p:nvSpPr>
          <p:cNvPr id="8" name="flow step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342900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Server checks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470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Login, role and every field are validated</a:t>
            </a:r>
            <a:endParaRPr lang="en-US" sz="1200" dirty="0"/>
          </a:p>
        </p:txBody>
      </p:sp>
      <p:sp>
        <p:nvSpPr>
          <p:cNvPr id="13" name="flow step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21792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Saved to SQLite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470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 row and history row, ticket number LAB-00NN, COMMIT</a:t>
            </a:r>
            <a:endParaRPr lang="en-US" sz="1200" dirty="0"/>
          </a:p>
        </p:txBody>
      </p:sp>
      <p:sp>
        <p:nvSpPr>
          <p:cNvPr id="18" name="flow step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Student gets reply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472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201 Created with the ticket number</a:t>
            </a:r>
            <a:endParaRPr lang="en-US" sz="1200" dirty="0"/>
          </a:p>
        </p:txBody>
      </p:sp>
      <p:sp>
        <p:nvSpPr>
          <p:cNvPr id="23" name="flow step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3429000" y="295351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 pushes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4472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ticket:created sent to room role:assistant after the commit</a:t>
            </a:r>
            <a:endParaRPr lang="en-US" sz="1200" dirty="0"/>
          </a:p>
        </p:txBody>
      </p:sp>
      <p:sp>
        <p:nvSpPr>
          <p:cNvPr id="28" name="flow step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badge 6"/>
          <p:cNvSpPr/>
          <p:nvPr/>
        </p:nvSpPr>
        <p:spPr>
          <a:xfrm>
            <a:off x="6217920" y="295351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Assistant sees it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4472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New row and pop-up appear with no page refresh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Chat messages follow the same pattern: the server acknowledges only after saving, which becomes the Delivered tick.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Socket.IO rooms and events</a:t>
            </a:r>
            <a:endParaRPr lang="en-US" sz="3000" dirty="0"/>
          </a:p>
        </p:txBody>
      </p:sp>
      <p:sp>
        <p:nvSpPr>
          <p:cNvPr id="3" name="room row"/>
          <p:cNvSpPr/>
          <p:nvPr/>
        </p:nvSpPr>
        <p:spPr>
          <a:xfrm>
            <a:off x="457200" y="1188720"/>
            <a:ext cx="5120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188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Every logged-in connection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Announcements</a:t>
            </a:r>
            <a:endParaRPr lang="en-US" sz="1200" dirty="0"/>
          </a:p>
        </p:txBody>
      </p:sp>
      <p:sp>
        <p:nvSpPr>
          <p:cNvPr id="6" name="room row"/>
          <p:cNvSpPr/>
          <p:nvPr/>
        </p:nvSpPr>
        <p:spPr>
          <a:xfrm>
            <a:off x="457200" y="2011680"/>
            <a:ext cx="5120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role:assistant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0116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All assistant connections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New tickets, presence, lab stats</a:t>
            </a:r>
            <a:endParaRPr lang="en-US" sz="1200" dirty="0"/>
          </a:p>
        </p:txBody>
      </p:sp>
      <p:sp>
        <p:nvSpPr>
          <p:cNvPr id="9" name="room row"/>
          <p:cNvSpPr/>
          <p:nvPr/>
        </p:nvSpPr>
        <p:spPr>
          <a:xfrm>
            <a:off x="457200" y="2834640"/>
            <a:ext cx="5120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user:&lt;id&gt;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834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Every tab of one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Updates to a student's own tickets</a:t>
            </a:r>
            <a:endParaRPr lang="en-US" sz="1200" dirty="0"/>
          </a:p>
        </p:txBody>
      </p:sp>
      <p:sp>
        <p:nvSpPr>
          <p:cNvPr id="12" name="room row"/>
          <p:cNvSpPr/>
          <p:nvPr/>
        </p:nvSpPr>
        <p:spPr>
          <a:xfrm>
            <a:off x="457200" y="3657600"/>
            <a:ext cx="512064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6576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ticket:&lt;id&gt;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6576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Viewers of one ticket, joined only after an ownership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Chat messages, status changes</a:t>
            </a:r>
            <a:endParaRPr lang="en-US" sz="1200" dirty="0"/>
          </a:p>
        </p:txBody>
      </p:sp>
      <p:sp>
        <p:nvSpPr>
          <p:cNvPr id="15" name="heartbeat card"/>
          <p:cNvSpPr/>
          <p:nvPr/>
        </p:nvSpPr>
        <p:spPr>
          <a:xfrm>
            <a:off x="5852160" y="1188720"/>
            <a:ext cx="2834640" cy="3090672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Staying connected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83080"/>
            <a:ext cx="2514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Heartbeat ping every 10 s, 10 s to answer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Browser reconnects in 1 to 5 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After reconnecting each page reloads from the database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Event ids stop duplicate pop-ups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able card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id, username, display_name, password_hash, role</a:t>
            </a:r>
            <a:endParaRPr lang="en-US" sz="1200" dirty="0"/>
          </a:p>
        </p:txBody>
      </p:sp>
      <p:sp>
        <p:nvSpPr>
          <p:cNvPr id="6" name="table card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tickets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1907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ticket_number, student_id, assignee_id, title, category, priority, status, workstation</a:t>
            </a:r>
            <a:endParaRPr lang="en-US" sz="1200" dirty="0"/>
          </a:p>
        </p:txBody>
      </p:sp>
      <p:sp>
        <p:nvSpPr>
          <p:cNvPr id="9" name="table card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ticket_messages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1907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ticket_id, sender_id, body, created_at</a:t>
            </a:r>
            <a:endParaRPr lang="en-US" sz="1200" dirty="0"/>
          </a:p>
        </p:txBody>
      </p:sp>
      <p:sp>
        <p:nvSpPr>
          <p:cNvPr id="12" name="table card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ticket_history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107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ticket_id, actor_id, from_status, to_status, action</a:t>
            </a:r>
            <a:endParaRPr lang="en-US" sz="1200" dirty="0"/>
          </a:p>
        </p:txBody>
      </p:sp>
      <p:sp>
        <p:nvSpPr>
          <p:cNvPr id="15" name="table card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announcements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107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author_id, title, content, updated_at</a:t>
            </a:r>
            <a:endParaRPr lang="en-US" sz="1200" dirty="0"/>
          </a:p>
        </p:txBody>
      </p:sp>
      <p:sp>
        <p:nvSpPr>
          <p:cNvPr id="18" name="notes card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9718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CHECK constraints on role, category, priority, status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Indexes on student, assignee, status, date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WAL mode for concurrent reads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status workflow</a:t>
            </a:r>
            <a:endParaRPr lang="en-US" sz="3000" dirty="0"/>
          </a:p>
        </p:txBody>
      </p:sp>
      <p:sp>
        <p:nvSpPr>
          <p:cNvPr id="3" name="status Open"/>
          <p:cNvSpPr/>
          <p:nvPr/>
        </p:nvSpPr>
        <p:spPr>
          <a:xfrm>
            <a:off x="548640" y="155448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Open</a:t>
            </a:r>
            <a:endParaRPr lang="en-US" sz="2000" dirty="0"/>
          </a:p>
        </p:txBody>
      </p:sp>
      <p:sp>
        <p:nvSpPr>
          <p:cNvPr id="5" name="status In Progress"/>
          <p:cNvSpPr/>
          <p:nvPr/>
        </p:nvSpPr>
        <p:spPr>
          <a:xfrm>
            <a:off x="3566160" y="155448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A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56616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Progress</a:t>
            </a:r>
            <a:endParaRPr lang="en-US" sz="2000" dirty="0"/>
          </a:p>
        </p:txBody>
      </p:sp>
      <p:sp>
        <p:nvSpPr>
          <p:cNvPr id="7" name="status Resolved"/>
          <p:cNvSpPr/>
          <p:nvPr/>
        </p:nvSpPr>
        <p:spPr>
          <a:xfrm>
            <a:off x="6583680" y="155448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Resolved</a:t>
            </a:r>
            <a:endParaRPr lang="en-US" sz="2000" dirty="0"/>
          </a:p>
        </p:txBody>
      </p:sp>
      <p:sp>
        <p:nvSpPr>
          <p:cNvPr id="9" name="arrow"/>
          <p:cNvSpPr/>
          <p:nvPr/>
        </p:nvSpPr>
        <p:spPr>
          <a:xfrm>
            <a:off x="2560320" y="1828800"/>
            <a:ext cx="10058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arrow"/>
          <p:cNvSpPr/>
          <p:nvPr/>
        </p:nvSpPr>
        <p:spPr>
          <a:xfrm>
            <a:off x="5577840" y="1828800"/>
            <a:ext cx="10058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arrow"/>
          <p:cNvSpPr/>
          <p:nvPr/>
        </p:nvSpPr>
        <p:spPr>
          <a:xfrm flipH="1">
            <a:off x="2560320" y="2194560"/>
            <a:ext cx="10058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46888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Start work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Mark as resolved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Return to queue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Reopen ticket: Resolved goes back to Open</a:t>
            </a:r>
            <a:endParaRPr lang="en-US" sz="1200" dirty="0"/>
          </a:p>
        </p:txBody>
      </p:sp>
      <p:sp>
        <p:nvSpPr>
          <p:cNvPr id="16" name="rule card"/>
          <p:cNvSpPr/>
          <p:nvPr/>
        </p:nvSpPr>
        <p:spPr>
          <a:xfrm>
            <a:off x="457200" y="32004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 to Resolved directly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Rejected with HTTP 409</a:t>
            </a:r>
            <a:endParaRPr lang="en-US" sz="1200" dirty="0"/>
          </a:p>
        </p:txBody>
      </p:sp>
      <p:sp>
        <p:nvSpPr>
          <p:cNvPr id="19" name="rule card"/>
          <p:cNvSpPr/>
          <p:nvPr/>
        </p:nvSpPr>
        <p:spPr>
          <a:xfrm>
            <a:off x="3246120" y="32004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Same status again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Rejected with HTTP 409</a:t>
            </a:r>
            <a:endParaRPr lang="en-US" sz="1200" dirty="0"/>
          </a:p>
        </p:txBody>
      </p:sp>
      <p:sp>
        <p:nvSpPr>
          <p:cNvPr id="22" name="rule card"/>
          <p:cNvSpPr/>
          <p:nvPr/>
        </p:nvSpPr>
        <p:spPr>
          <a:xfrm>
            <a:off x="6035040" y="32004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Start work, unassigned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 is assigned to that assistant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</a:t>
            </a:r>
            <a:endParaRPr lang="en-US" sz="3000" dirty="0"/>
          </a:p>
        </p:txBody>
      </p:sp>
      <p:sp>
        <p:nvSpPr>
          <p:cNvPr id="3" name="security card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Passwords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Salted scrypt hashes, never plain text</a:t>
            </a:r>
            <a:endParaRPr lang="en-US" sz="1200" dirty="0"/>
          </a:p>
        </p:txBody>
      </p:sp>
      <p:sp>
        <p:nvSpPr>
          <p:cNvPr id="8" name="security card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3429000" y="135331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Sessions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Signed, HttpOnly, SameSite=Lax cookie</a:t>
            </a:r>
            <a:endParaRPr lang="en-US" sz="1200" dirty="0"/>
          </a:p>
        </p:txBody>
      </p:sp>
      <p:sp>
        <p:nvSpPr>
          <p:cNvPr id="13" name="security card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21792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Authorisation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 and ownership checked on every route and event</a:t>
            </a:r>
            <a:endParaRPr lang="en-US" sz="1200" dirty="0"/>
          </a:p>
        </p:txBody>
      </p:sp>
      <p:sp>
        <p:nvSpPr>
          <p:cNvPr id="18" name="security card"/>
          <p:cNvSpPr/>
          <p:nvPr/>
        </p:nvSpPr>
        <p:spPr>
          <a:xfrm>
            <a:off x="45720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40080" y="295351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Sockets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Anonymous refused; ticket rooms need an ownership check</a:t>
            </a:r>
            <a:endParaRPr lang="en-US" sz="1200" dirty="0"/>
          </a:p>
        </p:txBody>
      </p:sp>
      <p:sp>
        <p:nvSpPr>
          <p:cNvPr id="23" name="security card"/>
          <p:cNvSpPr/>
          <p:nvPr/>
        </p:nvSpPr>
        <p:spPr>
          <a:xfrm>
            <a:off x="324612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3429000" y="29535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CSRF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 token on every state-changing request</a:t>
            </a:r>
            <a:endParaRPr lang="en-US" sz="1200" dirty="0"/>
          </a:p>
        </p:txBody>
      </p:sp>
      <p:sp>
        <p:nvSpPr>
          <p:cNvPr id="28" name="security card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6"/>
          <p:cNvSpPr/>
          <p:nvPr/>
        </p:nvSpPr>
        <p:spPr>
          <a:xfrm>
            <a:off x="6217920" y="295351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Injection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Bound SQL parameters, escaped HTML, textContent in JS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 foreign ticket returns 404, the same as a missing one, so guessing ids reveals nothing.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Networks concepts demonstrated</a:t>
            </a:r>
            <a:endParaRPr lang="en-US" sz="3000" dirty="0"/>
          </a:p>
        </p:txBody>
      </p:sp>
      <p:sp>
        <p:nvSpPr>
          <p:cNvPr id="3" name="concept chip"/>
          <p:cNvSpPr/>
          <p:nvPr/>
        </p:nvSpPr>
        <p:spPr>
          <a:xfrm>
            <a:off x="45720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Client–server model</a:t>
            </a:r>
            <a:endParaRPr lang="en-US" sz="1400" dirty="0"/>
          </a:p>
        </p:txBody>
      </p:sp>
      <p:sp>
        <p:nvSpPr>
          <p:cNvPr id="5" name="concept chip"/>
          <p:cNvSpPr/>
          <p:nvPr/>
        </p:nvSpPr>
        <p:spPr>
          <a:xfrm>
            <a:off x="324612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3756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LAN communication</a:t>
            </a:r>
            <a:endParaRPr lang="en-US" sz="1400" dirty="0"/>
          </a:p>
        </p:txBody>
      </p:sp>
      <p:sp>
        <p:nvSpPr>
          <p:cNvPr id="7" name="concept chip"/>
          <p:cNvSpPr/>
          <p:nvPr/>
        </p:nvSpPr>
        <p:spPr>
          <a:xfrm>
            <a:off x="6035040" y="11887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IP addressing</a:t>
            </a:r>
            <a:endParaRPr lang="en-US" sz="1400" dirty="0"/>
          </a:p>
        </p:txBody>
      </p:sp>
      <p:sp>
        <p:nvSpPr>
          <p:cNvPr id="9" name="concept chip"/>
          <p:cNvSpPr/>
          <p:nvPr/>
        </p:nvSpPr>
        <p:spPr>
          <a:xfrm>
            <a:off x="457200" y="1847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TCP reliability</a:t>
            </a:r>
            <a:endParaRPr lang="en-US" sz="1400" dirty="0"/>
          </a:p>
        </p:txBody>
      </p:sp>
      <p:sp>
        <p:nvSpPr>
          <p:cNvPr id="11" name="concept chip"/>
          <p:cNvSpPr/>
          <p:nvPr/>
        </p:nvSpPr>
        <p:spPr>
          <a:xfrm>
            <a:off x="3246120" y="1847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HTTP request–response</a:t>
            </a:r>
            <a:endParaRPr lang="en-US" sz="1400" dirty="0"/>
          </a:p>
        </p:txBody>
      </p:sp>
      <p:sp>
        <p:nvSpPr>
          <p:cNvPr id="13" name="concept chip"/>
          <p:cNvSpPr/>
          <p:nvPr/>
        </p:nvSpPr>
        <p:spPr>
          <a:xfrm>
            <a:off x="6035040" y="1847088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8470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WebSockets</a:t>
            </a:r>
            <a:endParaRPr lang="en-US" sz="1400" dirty="0"/>
          </a:p>
        </p:txBody>
      </p:sp>
      <p:sp>
        <p:nvSpPr>
          <p:cNvPr id="15" name="concept chip"/>
          <p:cNvSpPr/>
          <p:nvPr/>
        </p:nvSpPr>
        <p:spPr>
          <a:xfrm>
            <a:off x="457200" y="2505456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054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Ports and binding</a:t>
            </a:r>
            <a:endParaRPr lang="en-US" sz="1400" dirty="0"/>
          </a:p>
        </p:txBody>
      </p:sp>
      <p:sp>
        <p:nvSpPr>
          <p:cNvPr id="17" name="concept chip"/>
          <p:cNvSpPr/>
          <p:nvPr/>
        </p:nvSpPr>
        <p:spPr>
          <a:xfrm>
            <a:off x="3246120" y="2505456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25054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Concurrent clients</a:t>
            </a:r>
            <a:endParaRPr lang="en-US" sz="1400" dirty="0"/>
          </a:p>
        </p:txBody>
      </p:sp>
      <p:sp>
        <p:nvSpPr>
          <p:cNvPr id="19" name="concept chip"/>
          <p:cNvSpPr/>
          <p:nvPr/>
        </p:nvSpPr>
        <p:spPr>
          <a:xfrm>
            <a:off x="6035040" y="2505456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25054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Connection lifecycle</a:t>
            </a:r>
            <a:endParaRPr lang="en-US" sz="1400" dirty="0"/>
          </a:p>
        </p:txBody>
      </p:sp>
      <p:sp>
        <p:nvSpPr>
          <p:cNvPr id="21" name="concept chip"/>
          <p:cNvSpPr/>
          <p:nvPr/>
        </p:nvSpPr>
        <p:spPr>
          <a:xfrm>
            <a:off x="457200" y="3163824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1638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 protocol</a:t>
            </a:r>
            <a:endParaRPr lang="en-US" sz="1400" dirty="0"/>
          </a:p>
        </p:txBody>
      </p:sp>
      <p:sp>
        <p:nvSpPr>
          <p:cNvPr id="23" name="concept chip"/>
          <p:cNvSpPr/>
          <p:nvPr/>
        </p:nvSpPr>
        <p:spPr>
          <a:xfrm>
            <a:off x="3246120" y="3163824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1638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Reconnection</a:t>
            </a:r>
            <a:endParaRPr lang="en-US" sz="1400" dirty="0"/>
          </a:p>
        </p:txBody>
      </p:sp>
      <p:sp>
        <p:nvSpPr>
          <p:cNvPr id="25" name="concept chip"/>
          <p:cNvSpPr/>
          <p:nvPr/>
        </p:nvSpPr>
        <p:spPr>
          <a:xfrm>
            <a:off x="6035040" y="3163824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31638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Internet vs LAN</a:t>
            </a:r>
            <a:endParaRPr lang="en-US" sz="1400" dirty="0"/>
          </a:p>
        </p:txBody>
      </p:sp>
      <p:sp>
        <p:nvSpPr>
          <p:cNvPr id="27" name="concept chip"/>
          <p:cNvSpPr/>
          <p:nvPr/>
        </p:nvSpPr>
        <p:spPr>
          <a:xfrm>
            <a:off x="457200" y="3822192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822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Persistence vs memory</a:t>
            </a:r>
            <a:endParaRPr lang="en-US" sz="1400" dirty="0"/>
          </a:p>
        </p:txBody>
      </p:sp>
      <p:sp>
        <p:nvSpPr>
          <p:cNvPr id="29" name="concept chip"/>
          <p:cNvSpPr/>
          <p:nvPr/>
        </p:nvSpPr>
        <p:spPr>
          <a:xfrm>
            <a:off x="3246120" y="3822192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37560" y="3822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31" name="concept chip"/>
          <p:cNvSpPr/>
          <p:nvPr/>
        </p:nvSpPr>
        <p:spPr>
          <a:xfrm>
            <a:off x="6035040" y="3822192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0" y="3822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 sandbox limits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verification</a:t>
            </a:r>
            <a:endParaRPr lang="en-US" sz="3000" dirty="0"/>
          </a:p>
        </p:txBody>
      </p:sp>
      <p:sp>
        <p:nvSpPr>
          <p:cNvPr id="3" name="stat card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internet calls at runtime</a:t>
            </a:r>
            <a:endParaRPr lang="en-US" sz="1400" dirty="0"/>
          </a:p>
        </p:txBody>
      </p:sp>
      <p:sp>
        <p:nvSpPr>
          <p:cNvPr id="12" name="test area"/>
          <p:cNvSpPr/>
          <p:nvPr/>
        </p:nvSpPr>
        <p:spPr>
          <a:xfrm>
            <a:off x="457200" y="2788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889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Authentication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login, hashing, CSRF, role access</a:t>
            </a:r>
            <a:endParaRPr lang="en-US" sz="1200" dirty="0"/>
          </a:p>
        </p:txBody>
      </p:sp>
      <p:sp>
        <p:nvSpPr>
          <p:cNvPr id="14" name="test area"/>
          <p:cNvSpPr/>
          <p:nvPr/>
        </p:nvSpPr>
        <p:spPr>
          <a:xfrm>
            <a:off x="4663440" y="2788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7889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Tickets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validation, filters, status rules</a:t>
            </a:r>
            <a:endParaRPr lang="en-US" sz="1200" dirty="0"/>
          </a:p>
        </p:txBody>
      </p:sp>
      <p:sp>
        <p:nvSpPr>
          <p:cNvPr id="16" name="test area"/>
          <p:cNvSpPr/>
          <p:nvPr/>
        </p:nvSpPr>
        <p:spPr>
          <a:xfrm>
            <a:off x="457200" y="365760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576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Authorisation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access to other students' tickets</a:t>
            </a:r>
            <a:endParaRPr lang="en-US" sz="1200" dirty="0"/>
          </a:p>
        </p:txBody>
      </p:sp>
      <p:sp>
        <p:nvSpPr>
          <p:cNvPr id="18" name="test area"/>
          <p:cNvSpPr/>
          <p:nvPr/>
        </p:nvSpPr>
        <p:spPr>
          <a:xfrm>
            <a:off x="4663440" y="365760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576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Real-time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rooms, acks, presence, logout closes sockets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list 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Known limitations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Development server, fine for tens of clients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Plain HTTP: LAN traffic is not encrypted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Presence list lives in memory, one process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self-registration or login rate limiting</a:t>
            </a:r>
            <a:endParaRPr lang="en-US" sz="1400" dirty="0"/>
          </a:p>
        </p:txBody>
      </p:sp>
      <p:sp>
        <p:nvSpPr>
          <p:cNvPr id="7" name="list 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0312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gunicorn with eventlet and HTTPS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Redis so several servers share rooms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 and database migrations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or SMS alerts and ticket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complete helpdesk that works on the lab LAN alone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TCP, HTTP and WebSocket used for what each does best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Real-time push, delivery receipts and automatic recovery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Server-side security checks on every path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Lab Helpdesk">
  <a:themeElements>
    <a:clrScheme name="Campus Lab Helpdesk">
      <a:dk1>
        <a:srgbClr val="10243A"/>
      </a:dk1>
      <a:lt1>
        <a:srgbClr val="FFFFFF"/>
      </a:lt1>
      <a:dk2>
        <a:srgbClr val="0B3350"/>
      </a:dk2>
      <a:lt2>
        <a:srgbClr val="EAF1F6"/>
      </a:lt2>
      <a:accent1>
        <a:srgbClr val="0E7C86"/>
      </a:accent1>
      <a:accent2>
        <a:srgbClr val="F2A33A"/>
      </a:accent2>
      <a:accent3>
        <a:srgbClr val="2F6FDE"/>
      </a:accent3>
      <a:accent4>
        <a:srgbClr val="4E8F5E"/>
      </a:accent4>
      <a:accent5>
        <a:srgbClr val="C8553D"/>
      </a:accent5>
      <a:accent6>
        <a:srgbClr val="6B7F90"/>
      </a:accent6>
      <a:hlink>
        <a:srgbClr val="0E7C86"/>
      </a:hlink>
      <a:folHlink>
        <a:srgbClr val="6B7F90"/>
      </a:folHlink>
    </a:clrScheme>
    <a:fontScheme name="Campus Lab Help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Lab Helpdesk</dc:title>
  <dc:subject>PptxGenJS Presentation</dc:subject>
  <dc:creator>PptxGenJS</dc:creator>
  <cp:lastModifiedBy>PptxGenJS</cp:lastModifiedBy>
  <cp:revision>1</cp:revision>
  <dcterms:created xsi:type="dcterms:W3CDTF">2026-10-27T18:50:08Z</dcterms:created>
  <dcterms:modified xsi:type="dcterms:W3CDTF">2026-10-27T18:50:08Z</dcterms:modified>
</cp:coreProperties>
</file>