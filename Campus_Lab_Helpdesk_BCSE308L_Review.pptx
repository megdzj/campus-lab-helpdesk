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97432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A3F"/>
        </a:solidFill>
        <a:effectLst/>
      </p:bgPr>
    </p:bg>
    <p:spTree>
      <p:nvGrpSpPr>
        <p:cNvPr id="1" name=""/>
        <p:cNvGrpSpPr/>
        <p:nvPr/>
      </p:nvGrpSpPr>
      <p:grpSpPr>
        <a:xfrm>
          <a:off x="0" y="0"/>
          <a:ext cx="0" cy="0"/>
          <a:chOff x="0" y="0"/>
          <a:chExt cx="0" cy="0"/>
        </a:xfrm>
      </p:grpSpPr>
      <p:pic>
        <p:nvPicPr>
          <p:cNvPr id="2" name="Image 0" descr="C:/Users/MEGHAN~1/AppData/Local/Temp/dk/img/01_image1.jpeg"/>
          <p:cNvPicPr>
            <a:picLocks noChangeAspect="1"/>
          </p:cNvPicPr>
          <p:nvPr/>
        </p:nvPicPr>
        <p:blipFill>
          <a:blip r:embed="rId3"/>
          <a:stretch>
            <a:fillRect/>
          </a:stretch>
        </p:blipFill>
        <p:spPr>
          <a:xfrm>
            <a:off x="457200" y="320040"/>
            <a:ext cx="731520" cy="731520"/>
          </a:xfrm>
          <a:prstGeom prst="rect">
            <a:avLst/>
          </a:prstGeom>
        </p:spPr>
      </p:pic>
      <p:sp>
        <p:nvSpPr>
          <p:cNvPr id="3" name="Text 0"/>
          <p:cNvSpPr txBox="1"/>
          <p:nvPr/>
        </p:nvSpPr>
        <p:spPr>
          <a:xfrm>
            <a:off x="1371600" y="320040"/>
            <a:ext cx="7315200" cy="731520"/>
          </a:xfrm>
          <a:prstGeom prst="rect">
            <a:avLst/>
          </a:prstGeom>
          <a:noFill/>
          <a:ln/>
        </p:spPr>
        <p:txBody>
          <a:bodyPr wrap="square" lIns="0" tIns="0" rIns="0" bIns="0" rtlCol="0" anchor="ctr"/>
          <a:lstStyle/>
          <a:p>
            <a:pPr marL="0" indent="0">
              <a:buNone/>
            </a:pPr>
            <a:r>
              <a:rPr lang="en-US" sz="1300" b="1" dirty="0">
                <a:solidFill>
                  <a:srgbClr val="CADCE3"/>
                </a:solidFill>
                <a:latin typeface="Calibri" pitchFamily="34" charset="0"/>
                <a:ea typeface="Calibri" pitchFamily="34" charset="-122"/>
                <a:cs typeface="Calibri" pitchFamily="34" charset="-120"/>
              </a:rPr>
              <a:t>VELLORE INSTITUTE OF TECHNOLOGY, VELLORE</a:t>
            </a:r>
            <a:endParaRPr lang="en-US" sz="1300" dirty="0"/>
          </a:p>
          <a:p>
            <a:pPr marL="0" indent="0">
              <a:buNone/>
            </a:pPr>
            <a:r>
              <a:rPr lang="en-US" sz="1300" dirty="0">
                <a:solidFill>
                  <a:srgbClr val="CADCE3"/>
                </a:solidFill>
                <a:latin typeface="Calibri" pitchFamily="34" charset="0"/>
                <a:ea typeface="Calibri" pitchFamily="34" charset="-122"/>
                <a:cs typeface="Calibri" pitchFamily="34" charset="-120"/>
              </a:rPr>
              <a:t>School of Computer Science and Engineering  |  BCSE308L Computer Networks Laboratory</a:t>
            </a:r>
            <a:endParaRPr lang="en-US" sz="1300" dirty="0"/>
          </a:p>
        </p:txBody>
      </p:sp>
      <p:sp>
        <p:nvSpPr>
          <p:cNvPr id="4" name="Text 1"/>
          <p:cNvSpPr txBox="1"/>
          <p:nvPr/>
        </p:nvSpPr>
        <p:spPr>
          <a:xfrm>
            <a:off x="457200" y="1325880"/>
            <a:ext cx="8229600" cy="73152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Campus Lab Helpdesk</a:t>
            </a:r>
            <a:endParaRPr lang="en-US" sz="4400" dirty="0"/>
          </a:p>
        </p:txBody>
      </p:sp>
      <p:sp>
        <p:nvSpPr>
          <p:cNvPr id="5" name="Text 2"/>
          <p:cNvSpPr txBox="1"/>
          <p:nvPr/>
        </p:nvSpPr>
        <p:spPr>
          <a:xfrm>
            <a:off x="457200" y="2057400"/>
            <a:ext cx="7498080" cy="731520"/>
          </a:xfrm>
          <a:prstGeom prst="rect">
            <a:avLst/>
          </a:prstGeom>
          <a:noFill/>
          <a:ln/>
        </p:spPr>
        <p:txBody>
          <a:bodyPr wrap="square" lIns="0" tIns="0" rIns="0" bIns="0" rtlCol="0" anchor="ctr"/>
          <a:lstStyle/>
          <a:p>
            <a:pPr marL="0" indent="0">
              <a:buNone/>
            </a:pPr>
            <a:r>
              <a:rPr lang="en-US" sz="1700" dirty="0">
                <a:solidFill>
                  <a:srgbClr val="F2A93B"/>
                </a:solidFill>
                <a:latin typeface="Calibri" pitchFamily="34" charset="0"/>
                <a:ea typeface="Calibri" pitchFamily="34" charset="-122"/>
                <a:cs typeface="Calibri" pitchFamily="34" charset="-120"/>
              </a:rPr>
              <a:t>Design and Implementation of an Offline LAN-Based Helpdesk and Communication System for Campus Computer Laboratories</a:t>
            </a:r>
            <a:endParaRPr lang="en-US" sz="1700" dirty="0"/>
          </a:p>
        </p:txBody>
      </p:sp>
      <p:sp>
        <p:nvSpPr>
          <p:cNvPr id="6" name="Text 3"/>
          <p:cNvSpPr txBox="1"/>
          <p:nvPr/>
        </p:nvSpPr>
        <p:spPr>
          <a:xfrm>
            <a:off x="457200" y="3063240"/>
            <a:ext cx="4754880" cy="1188720"/>
          </a:xfrm>
          <a:prstGeom prst="rect">
            <a:avLst/>
          </a:prstGeom>
          <a:noFill/>
          <a:ln/>
        </p:spPr>
        <p:txBody>
          <a:bodyPr wrap="square" lIns="0" tIns="0" rIns="0" bIns="0" rtlCol="0" anchor="t"/>
          <a:lstStyle/>
          <a:p>
            <a:pPr marL="0" indent="0">
              <a:buNone/>
            </a:pPr>
            <a:r>
              <a:rPr lang="en-US" sz="1400" b="1" dirty="0">
                <a:solidFill>
                  <a:srgbClr val="CADCE3"/>
                </a:solidFill>
                <a:latin typeface="Calibri" pitchFamily="34" charset="0"/>
                <a:ea typeface="Calibri" pitchFamily="34" charset="-122"/>
                <a:cs typeface="Calibri" pitchFamily="34" charset="-120"/>
              </a:rPr>
              <a:t>Submitted by</a:t>
            </a:r>
          </a:p>
          <a:p>
            <a:r>
              <a:rPr lang="en-IN" sz="1200" dirty="0">
                <a:solidFill>
                  <a:schemeClr val="bg1"/>
                </a:solidFill>
              </a:rPr>
              <a:t>Name: Aarush Sanghi Registration Number: 24BCE2501</a:t>
            </a:r>
          </a:p>
          <a:p>
            <a:r>
              <a:rPr lang="en-IN" sz="1200" dirty="0">
                <a:solidFill>
                  <a:schemeClr val="bg1"/>
                </a:solidFill>
              </a:rPr>
              <a:t>Name: Meghant Archit Darji Registration Number: 24BCE2288</a:t>
            </a:r>
          </a:p>
          <a:p>
            <a:r>
              <a:rPr lang="en-IN" sz="1200" dirty="0">
                <a:solidFill>
                  <a:schemeClr val="bg1"/>
                </a:solidFill>
              </a:rPr>
              <a:t>Name: </a:t>
            </a:r>
            <a:r>
              <a:rPr lang="en-IN" sz="1200" dirty="0" err="1">
                <a:solidFill>
                  <a:schemeClr val="bg1"/>
                </a:solidFill>
              </a:rPr>
              <a:t>Mishank</a:t>
            </a:r>
            <a:r>
              <a:rPr lang="en-IN" sz="1200" dirty="0">
                <a:solidFill>
                  <a:schemeClr val="bg1"/>
                </a:solidFill>
              </a:rPr>
              <a:t> Shah Registration Number: 24BCE2467</a:t>
            </a:r>
          </a:p>
          <a:p>
            <a:pPr marL="0" indent="0">
              <a:buNone/>
            </a:pPr>
            <a:endParaRPr lang="en-US" sz="1400" dirty="0"/>
          </a:p>
        </p:txBody>
      </p:sp>
      <p:sp>
        <p:nvSpPr>
          <p:cNvPr id="7" name="Text 4"/>
          <p:cNvSpPr txBox="1"/>
          <p:nvPr/>
        </p:nvSpPr>
        <p:spPr>
          <a:xfrm>
            <a:off x="5486400" y="3063240"/>
            <a:ext cx="3200400" cy="1188720"/>
          </a:xfrm>
          <a:prstGeom prst="rect">
            <a:avLst/>
          </a:prstGeom>
          <a:noFill/>
          <a:ln/>
        </p:spPr>
        <p:txBody>
          <a:bodyPr wrap="square" lIns="0" tIns="0" rIns="0" bIns="0" rtlCol="0" anchor="t"/>
          <a:lstStyle/>
          <a:p>
            <a:pPr marL="0" indent="0">
              <a:buNone/>
            </a:pPr>
            <a:r>
              <a:rPr lang="en-US" sz="1400" b="1" dirty="0">
                <a:solidFill>
                  <a:srgbClr val="CADCE3"/>
                </a:solidFill>
                <a:latin typeface="Calibri" pitchFamily="34" charset="0"/>
                <a:ea typeface="Calibri" pitchFamily="34" charset="-122"/>
                <a:cs typeface="Calibri" pitchFamily="34" charset="-120"/>
              </a:rPr>
              <a:t>Under the guidance of</a:t>
            </a:r>
            <a:endParaRPr lang="en-US" sz="1400" dirty="0"/>
          </a:p>
          <a:p>
            <a:pPr marL="0" indent="0">
              <a:buNone/>
            </a:pPr>
            <a:r>
              <a:rPr lang="en-US" sz="1400" dirty="0">
                <a:solidFill>
                  <a:srgbClr val="FFFFFF"/>
                </a:solidFill>
                <a:latin typeface="Calibri" pitchFamily="34" charset="0"/>
                <a:ea typeface="Calibri" pitchFamily="34" charset="-122"/>
                <a:cs typeface="Calibri" pitchFamily="34" charset="-120"/>
              </a:rPr>
              <a:t>Kopperundevi N,</a:t>
            </a:r>
            <a:endParaRPr lang="en-US" sz="1400" dirty="0"/>
          </a:p>
          <a:p>
            <a:pPr marL="0" indent="0">
              <a:buNone/>
            </a:pPr>
            <a:r>
              <a:rPr lang="en-US" sz="1400" dirty="0">
                <a:solidFill>
                  <a:srgbClr val="FFFFFF"/>
                </a:solidFill>
                <a:latin typeface="Calibri" pitchFamily="34" charset="0"/>
                <a:ea typeface="Calibri" pitchFamily="34" charset="-122"/>
                <a:cs typeface="Calibri" pitchFamily="34" charset="-120"/>
              </a:rPr>
              <a:t>Assistant Professor Senior Grade II</a:t>
            </a:r>
            <a:endParaRPr lang="en-US" sz="1400" dirty="0"/>
          </a:p>
          <a:p>
            <a:pPr marL="0" indent="0">
              <a:buNone/>
            </a:pPr>
            <a:r>
              <a:rPr lang="en-US" sz="1400" dirty="0">
                <a:solidFill>
                  <a:srgbClr val="FFFFFF"/>
                </a:solidFill>
                <a:latin typeface="Calibri" pitchFamily="34" charset="0"/>
                <a:ea typeface="Calibri" pitchFamily="34" charset="-122"/>
                <a:cs typeface="Calibri" pitchFamily="34" charset="-120"/>
              </a:rPr>
              <a:t>September,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rgbClr val="0B2A3F"/>
                </a:solidFill>
                <a:latin typeface="Cambria" pitchFamily="34" charset="0"/>
                <a:ea typeface="Cambria" pitchFamily="34" charset="-122"/>
                <a:cs typeface="Cambria" pitchFamily="34" charset="-120"/>
              </a:rPr>
              <a:t>Abstract</a:t>
            </a:r>
            <a:endParaRPr lang="en-US" sz="3000" dirty="0"/>
          </a:p>
        </p:txBody>
      </p:sp>
      <p:sp>
        <p:nvSpPr>
          <p:cNvPr id="3" name="Text 1"/>
          <p:cNvSpPr txBox="1"/>
          <p:nvPr/>
        </p:nvSpPr>
        <p:spPr>
          <a:xfrm>
            <a:off x="457200" y="4754880"/>
            <a:ext cx="4572000" cy="228600"/>
          </a:xfrm>
          <a:prstGeom prst="rect">
            <a:avLst/>
          </a:prstGeom>
          <a:noFill/>
          <a:ln/>
        </p:spPr>
        <p:txBody>
          <a:bodyPr wrap="square" lIns="0" tIns="0" rIns="0" bIns="0" rtlCol="0" anchor="ctr"/>
          <a:lstStyle/>
          <a:p>
            <a:pPr marL="0" indent="0">
              <a:buNone/>
            </a:pPr>
            <a:r>
              <a:rPr lang="en-US" sz="1000" dirty="0">
                <a:solidFill>
                  <a:srgbClr val="5B6B78"/>
                </a:solidFill>
                <a:latin typeface="Calibri" pitchFamily="34" charset="0"/>
                <a:ea typeface="Calibri" pitchFamily="34" charset="-122"/>
                <a:cs typeface="Calibri" pitchFamily="34" charset="-120"/>
              </a:rPr>
              <a:t>Campus Lab Helpdesk  |  BCSE308L</a:t>
            </a:r>
            <a:endParaRPr lang="en-US" sz="1000" dirty="0"/>
          </a:p>
        </p:txBody>
      </p:sp>
      <p:sp>
        <p:nvSpPr>
          <p:cNvPr id="4" name="Text 2"/>
          <p:cNvSpPr txBox="1"/>
          <p:nvPr/>
        </p:nvSpPr>
        <p:spPr>
          <a:xfrm>
            <a:off x="7772400" y="4754880"/>
            <a:ext cx="914400" cy="228600"/>
          </a:xfrm>
          <a:prstGeom prst="rect">
            <a:avLst/>
          </a:prstGeom>
          <a:noFill/>
          <a:ln/>
        </p:spPr>
        <p:txBody>
          <a:bodyPr wrap="square" lIns="0" tIns="0" rIns="0" bIns="0" rtlCol="0" anchor="ctr"/>
          <a:lstStyle/>
          <a:p>
            <a:pPr marL="0" indent="0" algn="r">
              <a:buNone/>
            </a:pPr>
            <a:r>
              <a:rPr lang="en-US" sz="1000" dirty="0">
                <a:solidFill>
                  <a:srgbClr val="5B6B78"/>
                </a:solidFill>
                <a:latin typeface="Calibri" pitchFamily="34" charset="0"/>
                <a:ea typeface="Calibri" pitchFamily="34" charset="-122"/>
                <a:cs typeface="Calibri" pitchFamily="34" charset="-120"/>
              </a:rPr>
              <a:t>2</a:t>
            </a:r>
            <a:endParaRPr lang="en-US" sz="1000" dirty="0"/>
          </a:p>
        </p:txBody>
      </p:sp>
      <p:sp>
        <p:nvSpPr>
          <p:cNvPr id="5" name="Text 3"/>
          <p:cNvSpPr txBox="1"/>
          <p:nvPr/>
        </p:nvSpPr>
        <p:spPr>
          <a:xfrm>
            <a:off x="457200" y="1051560"/>
            <a:ext cx="5120640" cy="35661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F2D3A"/>
                </a:solidFill>
                <a:latin typeface="Calibri" pitchFamily="34" charset="0"/>
                <a:ea typeface="Calibri" pitchFamily="34" charset="-122"/>
                <a:cs typeface="Calibri" pitchFamily="34" charset="-120"/>
              </a:rPr>
              <a:t>Problem: students must leave their seat to report lab faults; the assistant has no view of what is waiting, urgent or taken.</a:t>
            </a:r>
            <a:endParaRPr lang="en-US" sz="1400" dirty="0"/>
          </a:p>
          <a:p>
            <a:pPr marL="342900" indent="-342900">
              <a:spcAft>
                <a:spcPts val="600"/>
              </a:spcAft>
              <a:buSzPct val="100000"/>
              <a:buChar char="•"/>
            </a:pPr>
            <a:r>
              <a:rPr lang="en-US" sz="1400" dirty="0">
                <a:solidFill>
                  <a:srgbClr val="1F2D3A"/>
                </a:solidFill>
                <a:latin typeface="Calibri" pitchFamily="34" charset="0"/>
                <a:ea typeface="Calibri" pitchFamily="34" charset="-122"/>
                <a:cs typeface="Calibri" pitchFamily="34" charset="-120"/>
              </a:rPr>
              <a:t>Approach: Flask + Flask-SocketIO + SQLite server on one lab PC, used from every other PC through a browser over the LAN.</a:t>
            </a:r>
            <a:endParaRPr lang="en-US" sz="1400" dirty="0"/>
          </a:p>
          <a:p>
            <a:pPr marL="342900" indent="-342900">
              <a:spcAft>
                <a:spcPts val="600"/>
              </a:spcAft>
              <a:buSzPct val="100000"/>
              <a:buChar char="•"/>
            </a:pPr>
            <a:r>
              <a:rPr lang="en-US" sz="1400" dirty="0">
                <a:solidFill>
                  <a:srgbClr val="1F2D3A"/>
                </a:solidFill>
                <a:latin typeface="Calibri" pitchFamily="34" charset="0"/>
                <a:ea typeface="Calibri" pitchFamily="34" charset="-122"/>
                <a:cs typeface="Calibri" pitchFamily="34" charset="-120"/>
              </a:rPr>
              <a:t>HTTP over TCP carries pages and the JSON API; a persistent WebSocket pushes tickets, replies and announcements instantly.</a:t>
            </a:r>
            <a:endParaRPr lang="en-US" sz="1400" dirty="0"/>
          </a:p>
          <a:p>
            <a:pPr marL="342900" indent="-342900">
              <a:spcAft>
                <a:spcPts val="600"/>
              </a:spcAft>
              <a:buSzPct val="100000"/>
              <a:buChar char="•"/>
            </a:pPr>
            <a:r>
              <a:rPr lang="en-US" sz="1400" dirty="0">
                <a:solidFill>
                  <a:srgbClr val="1F2D3A"/>
                </a:solidFill>
                <a:latin typeface="Calibri" pitchFamily="34" charset="0"/>
                <a:ea typeface="Calibri" pitchFamily="34" charset="-122"/>
                <a:cs typeface="Calibri" pitchFamily="34" charset="-120"/>
              </a:rPr>
              <a:t>Reliability: heartbeats, auto-reconnect with resync, delivery acknowledgements, server-side auth, roles and CSRF.</a:t>
            </a:r>
            <a:endParaRPr lang="en-US" sz="1400" dirty="0"/>
          </a:p>
          <a:p>
            <a:pPr marL="342900" indent="-342900">
              <a:spcAft>
                <a:spcPts val="600"/>
              </a:spcAft>
              <a:buSzPct val="100000"/>
              <a:buChar char="•"/>
            </a:pPr>
            <a:r>
              <a:rPr lang="en-US" sz="1400" dirty="0">
                <a:solidFill>
                  <a:srgbClr val="1F2D3A"/>
                </a:solidFill>
                <a:latin typeface="Calibri" pitchFamily="34" charset="0"/>
                <a:ea typeface="Calibri" pitchFamily="34" charset="-122"/>
                <a:cs typeface="Calibri" pitchFamily="34" charset="-120"/>
              </a:rPr>
              <a:t>Outcome: works fully offline; all 81 automated tests pass.</a:t>
            </a:r>
            <a:endParaRPr lang="en-US" sz="1400" dirty="0"/>
          </a:p>
        </p:txBody>
      </p:sp>
      <p:sp>
        <p:nvSpPr>
          <p:cNvPr id="6" name="Shape 4"/>
          <p:cNvSpPr/>
          <p:nvPr/>
        </p:nvSpPr>
        <p:spPr>
          <a:xfrm>
            <a:off x="5943600" y="1051560"/>
            <a:ext cx="2743200" cy="1097280"/>
          </a:xfrm>
          <a:prstGeom prst="roundRect">
            <a:avLst>
              <a:gd name="adj" fmla="val 6667"/>
            </a:avLst>
          </a:prstGeom>
          <a:solidFill>
            <a:srgbClr val="EAF3F4"/>
          </a:solidFill>
          <a:ln w="12700">
            <a:solidFill>
              <a:srgbClr val="EAF3F4"/>
            </a:solidFill>
            <a:prstDash val="solid"/>
          </a:ln>
        </p:spPr>
      </p:sp>
      <p:sp>
        <p:nvSpPr>
          <p:cNvPr id="7" name="Text 5"/>
          <p:cNvSpPr txBox="1"/>
          <p:nvPr/>
        </p:nvSpPr>
        <p:spPr>
          <a:xfrm>
            <a:off x="6035040" y="1097280"/>
            <a:ext cx="2560320" cy="640080"/>
          </a:xfrm>
          <a:prstGeom prst="rect">
            <a:avLst/>
          </a:prstGeom>
          <a:noFill/>
          <a:ln/>
        </p:spPr>
        <p:txBody>
          <a:bodyPr wrap="square" lIns="0" tIns="0" rIns="0" bIns="0" rtlCol="0" anchor="ctr"/>
          <a:lstStyle/>
          <a:p>
            <a:pPr marL="0" indent="0" algn="ctr">
              <a:buNone/>
            </a:pPr>
            <a:r>
              <a:rPr lang="en-US" sz="3600" b="1" dirty="0">
                <a:solidFill>
                  <a:srgbClr val="0E7C86"/>
                </a:solidFill>
                <a:latin typeface="Cambria" pitchFamily="34" charset="0"/>
                <a:ea typeface="Cambria" pitchFamily="34" charset="-122"/>
                <a:cs typeface="Cambria" pitchFamily="34" charset="-120"/>
              </a:rPr>
              <a:t>81</a:t>
            </a:r>
            <a:endParaRPr lang="en-US" sz="3600" dirty="0"/>
          </a:p>
        </p:txBody>
      </p:sp>
      <p:sp>
        <p:nvSpPr>
          <p:cNvPr id="8" name="Text 6"/>
          <p:cNvSpPr txBox="1"/>
          <p:nvPr/>
        </p:nvSpPr>
        <p:spPr>
          <a:xfrm>
            <a:off x="6035040" y="1737360"/>
            <a:ext cx="2560320" cy="320040"/>
          </a:xfrm>
          <a:prstGeom prst="rect">
            <a:avLst/>
          </a:prstGeom>
          <a:noFill/>
          <a:ln/>
        </p:spPr>
        <p:txBody>
          <a:bodyPr wrap="square" lIns="0" tIns="0" rIns="0" bIns="0" rtlCol="0" anchor="ctr"/>
          <a:lstStyle/>
          <a:p>
            <a:pPr marL="0" indent="0" algn="ctr">
              <a:buNone/>
            </a:pPr>
            <a:r>
              <a:rPr lang="en-US" sz="1300" dirty="0">
                <a:solidFill>
                  <a:srgbClr val="1F2D3A"/>
                </a:solidFill>
                <a:latin typeface="Calibri" pitchFamily="34" charset="0"/>
                <a:ea typeface="Calibri" pitchFamily="34" charset="-122"/>
                <a:cs typeface="Calibri" pitchFamily="34" charset="-120"/>
              </a:rPr>
              <a:t>automated tests passing</a:t>
            </a:r>
            <a:endParaRPr lang="en-US" sz="1300" dirty="0"/>
          </a:p>
        </p:txBody>
      </p:sp>
      <p:sp>
        <p:nvSpPr>
          <p:cNvPr id="9" name="Shape 7"/>
          <p:cNvSpPr/>
          <p:nvPr/>
        </p:nvSpPr>
        <p:spPr>
          <a:xfrm>
            <a:off x="5943600" y="2286000"/>
            <a:ext cx="2743200" cy="1097280"/>
          </a:xfrm>
          <a:prstGeom prst="roundRect">
            <a:avLst>
              <a:gd name="adj" fmla="val 6667"/>
            </a:avLst>
          </a:prstGeom>
          <a:solidFill>
            <a:srgbClr val="0B2A3F"/>
          </a:solidFill>
          <a:ln w="12700">
            <a:solidFill>
              <a:srgbClr val="0B2A3F"/>
            </a:solidFill>
            <a:prstDash val="solid"/>
          </a:ln>
        </p:spPr>
      </p:sp>
      <p:sp>
        <p:nvSpPr>
          <p:cNvPr id="10" name="Text 8"/>
          <p:cNvSpPr txBox="1"/>
          <p:nvPr/>
        </p:nvSpPr>
        <p:spPr>
          <a:xfrm>
            <a:off x="6035040" y="2331720"/>
            <a:ext cx="2560320" cy="640080"/>
          </a:xfrm>
          <a:prstGeom prst="rect">
            <a:avLst/>
          </a:prstGeom>
          <a:noFill/>
          <a:ln/>
        </p:spPr>
        <p:txBody>
          <a:bodyPr wrap="square" lIns="0" tIns="0" rIns="0" bIns="0" rtlCol="0" anchor="ctr"/>
          <a:lstStyle/>
          <a:p>
            <a:pPr marL="0" indent="0" algn="ctr">
              <a:buNone/>
            </a:pPr>
            <a:r>
              <a:rPr lang="en-US" sz="3600" b="1" dirty="0">
                <a:solidFill>
                  <a:srgbClr val="F2A93B"/>
                </a:solidFill>
                <a:latin typeface="Cambria" pitchFamily="34" charset="0"/>
                <a:ea typeface="Cambria" pitchFamily="34" charset="-122"/>
                <a:cs typeface="Cambria" pitchFamily="34" charset="-120"/>
              </a:rPr>
              <a:t>0</a:t>
            </a:r>
            <a:endParaRPr lang="en-US" sz="3600" dirty="0"/>
          </a:p>
        </p:txBody>
      </p:sp>
      <p:sp>
        <p:nvSpPr>
          <p:cNvPr id="11" name="Text 9"/>
          <p:cNvSpPr txBox="1"/>
          <p:nvPr/>
        </p:nvSpPr>
        <p:spPr>
          <a:xfrm>
            <a:off x="6035040" y="2971800"/>
            <a:ext cx="2560320" cy="320040"/>
          </a:xfrm>
          <a:prstGeom prst="rect">
            <a:avLst/>
          </a:prstGeom>
          <a:noFill/>
          <a:ln/>
        </p:spPr>
        <p:txBody>
          <a:bodyPr wrap="square" lIns="0" tIns="0" rIns="0" bIns="0"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internet dependencies</a:t>
            </a:r>
            <a:endParaRPr lang="en-US" sz="1300" dirty="0"/>
          </a:p>
        </p:txBody>
      </p:sp>
      <p:sp>
        <p:nvSpPr>
          <p:cNvPr id="12" name="Shape 10"/>
          <p:cNvSpPr/>
          <p:nvPr/>
        </p:nvSpPr>
        <p:spPr>
          <a:xfrm>
            <a:off x="5943600" y="3520440"/>
            <a:ext cx="2743200" cy="1097280"/>
          </a:xfrm>
          <a:prstGeom prst="roundRect">
            <a:avLst>
              <a:gd name="adj" fmla="val 6667"/>
            </a:avLst>
          </a:prstGeom>
          <a:solidFill>
            <a:srgbClr val="EAF3F4"/>
          </a:solidFill>
          <a:ln w="12700">
            <a:solidFill>
              <a:srgbClr val="EAF3F4"/>
            </a:solidFill>
            <a:prstDash val="solid"/>
          </a:ln>
        </p:spPr>
      </p:sp>
      <p:sp>
        <p:nvSpPr>
          <p:cNvPr id="13" name="Text 11"/>
          <p:cNvSpPr txBox="1"/>
          <p:nvPr/>
        </p:nvSpPr>
        <p:spPr>
          <a:xfrm>
            <a:off x="6035040" y="3566160"/>
            <a:ext cx="2560320" cy="640080"/>
          </a:xfrm>
          <a:prstGeom prst="rect">
            <a:avLst/>
          </a:prstGeom>
          <a:noFill/>
          <a:ln/>
        </p:spPr>
        <p:txBody>
          <a:bodyPr wrap="square" lIns="0" tIns="0" rIns="0" bIns="0" rtlCol="0" anchor="ctr"/>
          <a:lstStyle/>
          <a:p>
            <a:pPr marL="0" indent="0" algn="ctr">
              <a:buNone/>
            </a:pPr>
            <a:r>
              <a:rPr lang="en-US" sz="2600" b="1" dirty="0">
                <a:solidFill>
                  <a:srgbClr val="0E7C86"/>
                </a:solidFill>
                <a:latin typeface="Cambria" pitchFamily="34" charset="0"/>
                <a:ea typeface="Cambria" pitchFamily="34" charset="-122"/>
                <a:cs typeface="Cambria" pitchFamily="34" charset="-120"/>
              </a:rPr>
              <a:t>0.0.0.0:5000</a:t>
            </a:r>
            <a:endParaRPr lang="en-US" sz="2600" dirty="0"/>
          </a:p>
        </p:txBody>
      </p:sp>
      <p:sp>
        <p:nvSpPr>
          <p:cNvPr id="14" name="Text 12"/>
          <p:cNvSpPr txBox="1"/>
          <p:nvPr/>
        </p:nvSpPr>
        <p:spPr>
          <a:xfrm>
            <a:off x="6035040" y="4206240"/>
            <a:ext cx="2560320" cy="320040"/>
          </a:xfrm>
          <a:prstGeom prst="rect">
            <a:avLst/>
          </a:prstGeom>
          <a:noFill/>
          <a:ln/>
        </p:spPr>
        <p:txBody>
          <a:bodyPr wrap="square" lIns="0" tIns="0" rIns="0" bIns="0" rtlCol="0" anchor="ctr"/>
          <a:lstStyle/>
          <a:p>
            <a:pPr marL="0" indent="0" algn="ctr">
              <a:buNone/>
            </a:pPr>
            <a:r>
              <a:rPr lang="en-US" sz="1300" dirty="0">
                <a:solidFill>
                  <a:srgbClr val="1F2D3A"/>
                </a:solidFill>
                <a:latin typeface="Calibri" pitchFamily="34" charset="0"/>
                <a:ea typeface="Calibri" pitchFamily="34" charset="-122"/>
                <a:cs typeface="Calibri" pitchFamily="34" charset="-120"/>
              </a:rPr>
              <a:t>LAN bind address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rgbClr val="0B2A3F"/>
                </a:solidFill>
                <a:latin typeface="Cambria" pitchFamily="34" charset="0"/>
                <a:ea typeface="Cambria" pitchFamily="34" charset="-122"/>
                <a:cs typeface="Cambria" pitchFamily="34" charset="-120"/>
              </a:rPr>
              <a:t>Introduction: background and problem</a:t>
            </a:r>
            <a:endParaRPr lang="en-US" sz="3000" dirty="0"/>
          </a:p>
        </p:txBody>
      </p:sp>
      <p:sp>
        <p:nvSpPr>
          <p:cNvPr id="3" name="Text 1"/>
          <p:cNvSpPr txBox="1"/>
          <p:nvPr/>
        </p:nvSpPr>
        <p:spPr>
          <a:xfrm>
            <a:off x="457200" y="4754880"/>
            <a:ext cx="4572000" cy="228600"/>
          </a:xfrm>
          <a:prstGeom prst="rect">
            <a:avLst/>
          </a:prstGeom>
          <a:noFill/>
          <a:ln/>
        </p:spPr>
        <p:txBody>
          <a:bodyPr wrap="square" lIns="0" tIns="0" rIns="0" bIns="0" rtlCol="0" anchor="ctr"/>
          <a:lstStyle/>
          <a:p>
            <a:pPr marL="0" indent="0">
              <a:buNone/>
            </a:pPr>
            <a:r>
              <a:rPr lang="en-US" sz="1000" dirty="0">
                <a:solidFill>
                  <a:srgbClr val="5B6B78"/>
                </a:solidFill>
                <a:latin typeface="Calibri" pitchFamily="34" charset="0"/>
                <a:ea typeface="Calibri" pitchFamily="34" charset="-122"/>
                <a:cs typeface="Calibri" pitchFamily="34" charset="-120"/>
              </a:rPr>
              <a:t>Campus Lab Helpdesk  |  BCSE308L</a:t>
            </a:r>
            <a:endParaRPr lang="en-US" sz="1000" dirty="0"/>
          </a:p>
        </p:txBody>
      </p:sp>
      <p:sp>
        <p:nvSpPr>
          <p:cNvPr id="4" name="Text 2"/>
          <p:cNvSpPr txBox="1"/>
          <p:nvPr/>
        </p:nvSpPr>
        <p:spPr>
          <a:xfrm>
            <a:off x="7772400" y="4754880"/>
            <a:ext cx="914400" cy="228600"/>
          </a:xfrm>
          <a:prstGeom prst="rect">
            <a:avLst/>
          </a:prstGeom>
          <a:noFill/>
          <a:ln/>
        </p:spPr>
        <p:txBody>
          <a:bodyPr wrap="square" lIns="0" tIns="0" rIns="0" bIns="0" rtlCol="0" anchor="ctr"/>
          <a:lstStyle/>
          <a:p>
            <a:pPr marL="0" indent="0" algn="r">
              <a:buNone/>
            </a:pPr>
            <a:r>
              <a:rPr lang="en-US" sz="1000" dirty="0">
                <a:solidFill>
                  <a:srgbClr val="5B6B78"/>
                </a:solidFill>
                <a:latin typeface="Calibri" pitchFamily="34" charset="0"/>
                <a:ea typeface="Calibri" pitchFamily="34" charset="-122"/>
                <a:cs typeface="Calibri" pitchFamily="34" charset="-120"/>
              </a:rPr>
              <a:t>3</a:t>
            </a:r>
            <a:endParaRPr lang="en-US" sz="1000" dirty="0"/>
          </a:p>
        </p:txBody>
      </p:sp>
      <p:sp>
        <p:nvSpPr>
          <p:cNvPr id="5" name="Shape 3"/>
          <p:cNvSpPr/>
          <p:nvPr/>
        </p:nvSpPr>
        <p:spPr>
          <a:xfrm>
            <a:off x="457200" y="1051560"/>
            <a:ext cx="4023360" cy="3520440"/>
          </a:xfrm>
          <a:prstGeom prst="roundRect">
            <a:avLst>
              <a:gd name="adj" fmla="val 2078"/>
            </a:avLst>
          </a:prstGeom>
          <a:solidFill>
            <a:srgbClr val="EAF3F4"/>
          </a:solidFill>
          <a:ln w="12700">
            <a:solidFill>
              <a:srgbClr val="EAF3F4"/>
            </a:solidFill>
            <a:prstDash val="solid"/>
          </a:ln>
        </p:spPr>
      </p:sp>
      <p:sp>
        <p:nvSpPr>
          <p:cNvPr id="6" name="Text 4"/>
          <p:cNvSpPr txBox="1"/>
          <p:nvPr/>
        </p:nvSpPr>
        <p:spPr>
          <a:xfrm>
            <a:off x="640080" y="1161288"/>
            <a:ext cx="3657600" cy="365760"/>
          </a:xfrm>
          <a:prstGeom prst="rect">
            <a:avLst/>
          </a:prstGeom>
          <a:noFill/>
          <a:ln/>
        </p:spPr>
        <p:txBody>
          <a:bodyPr wrap="square" lIns="0" tIns="0" rIns="0" bIns="0" rtlCol="0" anchor="t"/>
          <a:lstStyle/>
          <a:p>
            <a:pPr marL="0" indent="0">
              <a:buNone/>
            </a:pPr>
            <a:r>
              <a:rPr lang="en-US" sz="1600" b="1" dirty="0">
                <a:solidFill>
                  <a:srgbClr val="0E7C86"/>
                </a:solidFill>
                <a:latin typeface="Cambria" pitchFamily="34" charset="0"/>
                <a:ea typeface="Cambria" pitchFamily="34" charset="-122"/>
                <a:cs typeface="Cambria" pitchFamily="34" charset="-120"/>
              </a:rPr>
              <a:t>1.1 Background</a:t>
            </a:r>
            <a:endParaRPr lang="en-US" sz="1600" dirty="0"/>
          </a:p>
        </p:txBody>
      </p:sp>
      <p:sp>
        <p:nvSpPr>
          <p:cNvPr id="7" name="Text 5"/>
          <p:cNvSpPr txBox="1"/>
          <p:nvPr/>
        </p:nvSpPr>
        <p:spPr>
          <a:xfrm>
            <a:off x="640080" y="1554480"/>
            <a:ext cx="3657600" cy="2926080"/>
          </a:xfrm>
          <a:prstGeom prst="rect">
            <a:avLst/>
          </a:prstGeom>
          <a:noFill/>
          <a:ln/>
        </p:spPr>
        <p:txBody>
          <a:bodyPr wrap="square" lIns="0" tIns="0" rIns="0" bIns="0" rtlCol="0" anchor="t"/>
          <a:lstStyle/>
          <a:p>
            <a:pPr marL="0" indent="0">
              <a:buNone/>
            </a:pPr>
            <a:r>
              <a:rPr lang="en-US" sz="1400" dirty="0">
                <a:solidFill>
                  <a:srgbClr val="1F2D3A"/>
                </a:solidFill>
                <a:latin typeface="Calibri" pitchFamily="34" charset="0"/>
                <a:ea typeface="Calibri" pitchFamily="34" charset="-122"/>
                <a:cs typeface="Calibri" pitchFamily="34" charset="-120"/>
              </a:rPr>
              <a:t>Labs are shared by many students, so faults are common: a PC will not start, an IDE fails to open, the network drops. Reporting is informal (walk to the desk, phone a friend), urgent and minor faults get mixed up, and nobody can tell a student whether the problem was seen. Internet is often restricted, but the lab LAN always exists.</a:t>
            </a:r>
            <a:endParaRPr lang="en-US" sz="1400" dirty="0"/>
          </a:p>
        </p:txBody>
      </p:sp>
      <p:sp>
        <p:nvSpPr>
          <p:cNvPr id="8" name="Shape 6"/>
          <p:cNvSpPr/>
          <p:nvPr/>
        </p:nvSpPr>
        <p:spPr>
          <a:xfrm>
            <a:off x="4663440" y="1051560"/>
            <a:ext cx="4023360" cy="3520440"/>
          </a:xfrm>
          <a:prstGeom prst="roundRect">
            <a:avLst>
              <a:gd name="adj" fmla="val 2078"/>
            </a:avLst>
          </a:prstGeom>
          <a:solidFill>
            <a:srgbClr val="0B2A3F"/>
          </a:solidFill>
          <a:ln w="12700">
            <a:solidFill>
              <a:srgbClr val="0B2A3F"/>
            </a:solidFill>
            <a:prstDash val="solid"/>
          </a:ln>
        </p:spPr>
      </p:sp>
      <p:sp>
        <p:nvSpPr>
          <p:cNvPr id="9" name="Text 7"/>
          <p:cNvSpPr txBox="1"/>
          <p:nvPr/>
        </p:nvSpPr>
        <p:spPr>
          <a:xfrm>
            <a:off x="4846320" y="1161288"/>
            <a:ext cx="3657600" cy="365760"/>
          </a:xfrm>
          <a:prstGeom prst="rect">
            <a:avLst/>
          </a:prstGeom>
          <a:noFill/>
          <a:ln/>
        </p:spPr>
        <p:txBody>
          <a:bodyPr wrap="square" lIns="0" tIns="0" rIns="0" bIns="0" rtlCol="0" anchor="t"/>
          <a:lstStyle/>
          <a:p>
            <a:pPr marL="0" indent="0">
              <a:buNone/>
            </a:pPr>
            <a:r>
              <a:rPr lang="en-US" sz="1600" b="1" dirty="0">
                <a:solidFill>
                  <a:srgbClr val="F2A93B"/>
                </a:solidFill>
                <a:latin typeface="Cambria" pitchFamily="34" charset="0"/>
                <a:ea typeface="Cambria" pitchFamily="34" charset="-122"/>
                <a:cs typeface="Cambria" pitchFamily="34" charset="-120"/>
              </a:rPr>
              <a:t>1.2 Problem statement</a:t>
            </a:r>
            <a:endParaRPr lang="en-US" sz="1600" dirty="0"/>
          </a:p>
        </p:txBody>
      </p:sp>
      <p:sp>
        <p:nvSpPr>
          <p:cNvPr id="10" name="Text 8"/>
          <p:cNvSpPr txBox="1"/>
          <p:nvPr/>
        </p:nvSpPr>
        <p:spPr>
          <a:xfrm>
            <a:off x="4846320" y="1554480"/>
            <a:ext cx="3657600" cy="2926080"/>
          </a:xfrm>
          <a:prstGeom prst="rect">
            <a:avLst/>
          </a:prstGeom>
          <a:noFill/>
          <a:ln/>
        </p:spPr>
        <p:txBody>
          <a:bodyPr wrap="square" lIns="0" tIns="0" rIns="0" bIns="0" rtlCol="0" anchor="t"/>
          <a:lstStyle/>
          <a:p>
            <a:pPr marL="0" indent="0">
              <a:buNone/>
            </a:pPr>
            <a:r>
              <a:rPr lang="en-US" sz="1400" dirty="0">
                <a:solidFill>
                  <a:srgbClr val="FFFFFF"/>
                </a:solidFill>
                <a:latin typeface="Calibri" pitchFamily="34" charset="0"/>
                <a:ea typeface="Calibri" pitchFamily="34" charset="-122"/>
                <a:cs typeface="Calibri" pitchFamily="34" charset="-120"/>
              </a:rPr>
              <a:t>Build a helpdesk that works entirely on the local network, so that:</a:t>
            </a:r>
            <a:endParaRPr lang="en-US" sz="1400" dirty="0"/>
          </a:p>
        </p:txBody>
      </p:sp>
      <p:sp>
        <p:nvSpPr>
          <p:cNvPr id="11" name="Text 9"/>
          <p:cNvSpPr txBox="1"/>
          <p:nvPr/>
        </p:nvSpPr>
        <p:spPr>
          <a:xfrm>
            <a:off x="4846320" y="1965960"/>
            <a:ext cx="3657600" cy="25603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a student reports a fault and follows it</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assistant is told instantly and sees priority and status</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both exchange messages in real time with delivery confirmation</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it stays correct on reconnects and no student can see another's tickets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rgbClr val="0B2A3F"/>
                </a:solidFill>
                <a:latin typeface="Cambria" pitchFamily="34" charset="0"/>
                <a:ea typeface="Cambria" pitchFamily="34" charset="-122"/>
                <a:cs typeface="Cambria" pitchFamily="34" charset="-120"/>
              </a:rPr>
              <a:t>Objectives and novelty</a:t>
            </a:r>
            <a:endParaRPr lang="en-US" sz="3000" dirty="0"/>
          </a:p>
        </p:txBody>
      </p:sp>
      <p:sp>
        <p:nvSpPr>
          <p:cNvPr id="3" name="Text 1"/>
          <p:cNvSpPr txBox="1"/>
          <p:nvPr/>
        </p:nvSpPr>
        <p:spPr>
          <a:xfrm>
            <a:off x="457200" y="4754880"/>
            <a:ext cx="4572000" cy="228600"/>
          </a:xfrm>
          <a:prstGeom prst="rect">
            <a:avLst/>
          </a:prstGeom>
          <a:noFill/>
          <a:ln/>
        </p:spPr>
        <p:txBody>
          <a:bodyPr wrap="square" lIns="0" tIns="0" rIns="0" bIns="0" rtlCol="0" anchor="ctr"/>
          <a:lstStyle/>
          <a:p>
            <a:pPr marL="0" indent="0">
              <a:buNone/>
            </a:pPr>
            <a:r>
              <a:rPr lang="en-US" sz="1000" dirty="0">
                <a:solidFill>
                  <a:srgbClr val="5B6B78"/>
                </a:solidFill>
                <a:latin typeface="Calibri" pitchFamily="34" charset="0"/>
                <a:ea typeface="Calibri" pitchFamily="34" charset="-122"/>
                <a:cs typeface="Calibri" pitchFamily="34" charset="-120"/>
              </a:rPr>
              <a:t>Campus Lab Helpdesk  |  BCSE308L</a:t>
            </a:r>
            <a:endParaRPr lang="en-US" sz="1000" dirty="0"/>
          </a:p>
        </p:txBody>
      </p:sp>
      <p:sp>
        <p:nvSpPr>
          <p:cNvPr id="4" name="Text 2"/>
          <p:cNvSpPr txBox="1"/>
          <p:nvPr/>
        </p:nvSpPr>
        <p:spPr>
          <a:xfrm>
            <a:off x="7772400" y="4754880"/>
            <a:ext cx="914400" cy="228600"/>
          </a:xfrm>
          <a:prstGeom prst="rect">
            <a:avLst/>
          </a:prstGeom>
          <a:noFill/>
          <a:ln/>
        </p:spPr>
        <p:txBody>
          <a:bodyPr wrap="square" lIns="0" tIns="0" rIns="0" bIns="0" rtlCol="0" anchor="ctr"/>
          <a:lstStyle/>
          <a:p>
            <a:pPr marL="0" indent="0" algn="r">
              <a:buNone/>
            </a:pPr>
            <a:r>
              <a:rPr lang="en-US" sz="1000" dirty="0">
                <a:solidFill>
                  <a:srgbClr val="5B6B78"/>
                </a:solidFill>
                <a:latin typeface="Calibri" pitchFamily="34" charset="0"/>
                <a:ea typeface="Calibri" pitchFamily="34" charset="-122"/>
                <a:cs typeface="Calibri" pitchFamily="34" charset="-120"/>
              </a:rPr>
              <a:t>4</a:t>
            </a:r>
            <a:endParaRPr lang="en-US" sz="1000" dirty="0"/>
          </a:p>
        </p:txBody>
      </p:sp>
      <p:sp>
        <p:nvSpPr>
          <p:cNvPr id="5" name="Text 3"/>
          <p:cNvSpPr txBox="1"/>
          <p:nvPr/>
        </p:nvSpPr>
        <p:spPr>
          <a:xfrm>
            <a:off x="457200" y="1005840"/>
            <a:ext cx="4023360" cy="320040"/>
          </a:xfrm>
          <a:prstGeom prst="rect">
            <a:avLst/>
          </a:prstGeom>
          <a:noFill/>
          <a:ln/>
        </p:spPr>
        <p:txBody>
          <a:bodyPr wrap="square" lIns="0" tIns="0" rIns="0" bIns="0" rtlCol="0" anchor="ctr"/>
          <a:lstStyle/>
          <a:p>
            <a:pPr marL="0" indent="0">
              <a:buNone/>
            </a:pPr>
            <a:r>
              <a:rPr lang="en-US" sz="1800" b="1" dirty="0">
                <a:solidFill>
                  <a:srgbClr val="0E7C86"/>
                </a:solidFill>
                <a:latin typeface="Cambria" pitchFamily="34" charset="0"/>
                <a:ea typeface="Cambria" pitchFamily="34" charset="-122"/>
                <a:cs typeface="Cambria" pitchFamily="34" charset="-120"/>
              </a:rPr>
              <a:t>Objectives</a:t>
            </a:r>
            <a:endParaRPr lang="en-US" sz="1800" dirty="0"/>
          </a:p>
        </p:txBody>
      </p:sp>
      <p:sp>
        <p:nvSpPr>
          <p:cNvPr id="6" name="Text 4"/>
          <p:cNvSpPr txBox="1"/>
          <p:nvPr/>
        </p:nvSpPr>
        <p:spPr>
          <a:xfrm>
            <a:off x="457200" y="1371600"/>
            <a:ext cx="4114800" cy="32918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F2D3A"/>
                </a:solidFill>
                <a:latin typeface="Calibri" pitchFamily="34" charset="0"/>
                <a:ea typeface="Calibri" pitchFamily="34" charset="-122"/>
                <a:cs typeface="Calibri" pitchFamily="34" charset="-120"/>
              </a:rPr>
              <a:t>Client-server app: one lab PC serves many browsers, bound to 0.0.0.0</a:t>
            </a:r>
            <a:endParaRPr lang="en-US" sz="1300" dirty="0"/>
          </a:p>
          <a:p>
            <a:pPr marL="342900" indent="-342900">
              <a:spcAft>
                <a:spcPts val="600"/>
              </a:spcAft>
              <a:buSzPct val="100000"/>
              <a:buChar char="•"/>
            </a:pPr>
            <a:r>
              <a:rPr lang="en-US" sz="1300" dirty="0">
                <a:solidFill>
                  <a:srgbClr val="1F2D3A"/>
                </a:solidFill>
                <a:latin typeface="Calibri" pitchFamily="34" charset="0"/>
                <a:ea typeface="Calibri" pitchFamily="34" charset="-122"/>
                <a:cs typeface="Calibri" pitchFamily="34" charset="-120"/>
              </a:rPr>
              <a:t>Student portal and lab-assistant console</a:t>
            </a:r>
            <a:endParaRPr lang="en-US" sz="1300" dirty="0"/>
          </a:p>
          <a:p>
            <a:pPr marL="342900" indent="-342900">
              <a:spcAft>
                <a:spcPts val="600"/>
              </a:spcAft>
              <a:buSzPct val="100000"/>
              <a:buChar char="•"/>
            </a:pPr>
            <a:r>
              <a:rPr lang="en-US" sz="1300" dirty="0">
                <a:solidFill>
                  <a:srgbClr val="1F2D3A"/>
                </a:solidFill>
                <a:latin typeface="Calibri" pitchFamily="34" charset="0"/>
                <a:ea typeface="Calibri" pitchFamily="34" charset="-122"/>
                <a:cs typeface="Calibri" pitchFamily="34" charset="-120"/>
              </a:rPr>
              <a:t>HTTP for request-response, WebSocket (Socket.IO) for push, no polling</a:t>
            </a:r>
            <a:endParaRPr lang="en-US" sz="1300" dirty="0"/>
          </a:p>
          <a:p>
            <a:pPr marL="342900" indent="-342900">
              <a:spcAft>
                <a:spcPts val="600"/>
              </a:spcAft>
              <a:buSzPct val="100000"/>
              <a:buChar char="•"/>
            </a:pPr>
            <a:r>
              <a:rPr lang="en-US" sz="1300" dirty="0">
                <a:solidFill>
                  <a:srgbClr val="1F2D3A"/>
                </a:solidFill>
                <a:latin typeface="Calibri" pitchFamily="34" charset="0"/>
                <a:ea typeface="Calibri" pitchFamily="34" charset="-122"/>
                <a:cs typeface="Calibri" pitchFamily="34" charset="-120"/>
              </a:rPr>
              <a:t>SQLite storage that survives restarts</a:t>
            </a:r>
            <a:endParaRPr lang="en-US" sz="1300" dirty="0"/>
          </a:p>
          <a:p>
            <a:pPr marL="342900" indent="-342900">
              <a:spcAft>
                <a:spcPts val="600"/>
              </a:spcAft>
              <a:buSzPct val="100000"/>
              <a:buChar char="•"/>
            </a:pPr>
            <a:r>
              <a:rPr lang="en-US" sz="1300" dirty="0">
                <a:solidFill>
                  <a:srgbClr val="1F2D3A"/>
                </a:solidFill>
                <a:latin typeface="Calibri" pitchFamily="34" charset="0"/>
                <a:ea typeface="Calibri" pitchFamily="34" charset="-122"/>
                <a:cs typeface="Calibri" pitchFamily="34" charset="-120"/>
              </a:rPr>
              <a:t>Heartbeats, auto-reconnect and resync</a:t>
            </a:r>
            <a:endParaRPr lang="en-US" sz="1300" dirty="0"/>
          </a:p>
          <a:p>
            <a:pPr marL="342900" indent="-342900">
              <a:spcAft>
                <a:spcPts val="600"/>
              </a:spcAft>
              <a:buSzPct val="100000"/>
              <a:buChar char="•"/>
            </a:pPr>
            <a:r>
              <a:rPr lang="en-US" sz="1300" dirty="0">
                <a:solidFill>
                  <a:srgbClr val="1F2D3A"/>
                </a:solidFill>
                <a:latin typeface="Calibri" pitchFamily="34" charset="0"/>
                <a:ea typeface="Calibri" pitchFamily="34" charset="-122"/>
                <a:cs typeface="Calibri" pitchFamily="34" charset="-120"/>
              </a:rPr>
              <a:t>Server-side auth, roles, ownership, CSRF, validation</a:t>
            </a:r>
            <a:endParaRPr lang="en-US" sz="1300" dirty="0"/>
          </a:p>
          <a:p>
            <a:pPr marL="342900" indent="-342900">
              <a:spcAft>
                <a:spcPts val="600"/>
              </a:spcAft>
              <a:buSzPct val="100000"/>
              <a:buChar char="•"/>
            </a:pPr>
            <a:r>
              <a:rPr lang="en-US" sz="1300" dirty="0">
                <a:solidFill>
                  <a:srgbClr val="1F2D3A"/>
                </a:solidFill>
                <a:latin typeface="Calibri" pitchFamily="34" charset="0"/>
                <a:ea typeface="Calibri" pitchFamily="34" charset="-122"/>
                <a:cs typeface="Calibri" pitchFamily="34" charset="-120"/>
              </a:rPr>
              <a:t>Network page showing live connections</a:t>
            </a:r>
            <a:endParaRPr lang="en-US" sz="1300" dirty="0"/>
          </a:p>
          <a:p>
            <a:pPr marL="342900" indent="-342900">
              <a:spcAft>
                <a:spcPts val="600"/>
              </a:spcAft>
              <a:buSzPct val="100000"/>
              <a:buChar char="•"/>
            </a:pPr>
            <a:r>
              <a:rPr lang="en-US" sz="1300" dirty="0">
                <a:solidFill>
                  <a:srgbClr val="1F2D3A"/>
                </a:solidFill>
                <a:latin typeface="Calibri" pitchFamily="34" charset="0"/>
                <a:ea typeface="Calibri" pitchFamily="34" charset="-122"/>
                <a:cs typeface="Calibri" pitchFamily="34" charset="-120"/>
              </a:rPr>
              <a:t>Verified by automated tests and scripted runs</a:t>
            </a:r>
            <a:endParaRPr lang="en-US" sz="1300" dirty="0"/>
          </a:p>
        </p:txBody>
      </p:sp>
      <p:sp>
        <p:nvSpPr>
          <p:cNvPr id="7" name="Text 5"/>
          <p:cNvSpPr txBox="1"/>
          <p:nvPr/>
        </p:nvSpPr>
        <p:spPr>
          <a:xfrm>
            <a:off x="4846320" y="1005840"/>
            <a:ext cx="3840480" cy="320040"/>
          </a:xfrm>
          <a:prstGeom prst="rect">
            <a:avLst/>
          </a:prstGeom>
          <a:noFill/>
          <a:ln/>
        </p:spPr>
        <p:txBody>
          <a:bodyPr wrap="square" lIns="0" tIns="0" rIns="0" bIns="0" rtlCol="0" anchor="ctr"/>
          <a:lstStyle/>
          <a:p>
            <a:pPr marL="0" indent="0">
              <a:buNone/>
            </a:pPr>
            <a:r>
              <a:rPr lang="en-US" sz="1800" b="1" dirty="0">
                <a:solidFill>
                  <a:srgbClr val="0E7C86"/>
                </a:solidFill>
                <a:latin typeface="Cambria" pitchFamily="34" charset="0"/>
                <a:ea typeface="Cambria" pitchFamily="34" charset="-122"/>
                <a:cs typeface="Cambria" pitchFamily="34" charset="-120"/>
              </a:rPr>
              <a:t>Novelty</a:t>
            </a:r>
            <a:endParaRPr lang="en-US" sz="1800" dirty="0"/>
          </a:p>
        </p:txBody>
      </p:sp>
      <p:sp>
        <p:nvSpPr>
          <p:cNvPr id="8" name="Shape 6"/>
          <p:cNvSpPr/>
          <p:nvPr/>
        </p:nvSpPr>
        <p:spPr>
          <a:xfrm>
            <a:off x="4846320" y="1371600"/>
            <a:ext cx="3840480" cy="749808"/>
          </a:xfrm>
          <a:prstGeom prst="roundRect">
            <a:avLst>
              <a:gd name="adj" fmla="val 9756"/>
            </a:avLst>
          </a:prstGeom>
          <a:solidFill>
            <a:srgbClr val="EAF3F4"/>
          </a:solidFill>
          <a:ln w="12700">
            <a:solidFill>
              <a:srgbClr val="EAF3F4"/>
            </a:solidFill>
            <a:prstDash val="solid"/>
          </a:ln>
        </p:spPr>
      </p:sp>
      <p:sp>
        <p:nvSpPr>
          <p:cNvPr id="9" name="Text 7"/>
          <p:cNvSpPr txBox="1"/>
          <p:nvPr/>
        </p:nvSpPr>
        <p:spPr>
          <a:xfrm>
            <a:off x="5029200" y="1481328"/>
            <a:ext cx="3474720" cy="365760"/>
          </a:xfrm>
          <a:prstGeom prst="rect">
            <a:avLst/>
          </a:prstGeom>
          <a:noFill/>
          <a:ln/>
        </p:spPr>
        <p:txBody>
          <a:bodyPr wrap="square" lIns="0" tIns="0" rIns="0" bIns="0" rtlCol="0" anchor="t"/>
          <a:lstStyle/>
          <a:p>
            <a:pPr marL="0" indent="0">
              <a:buNone/>
            </a:pPr>
            <a:r>
              <a:rPr lang="en-US" sz="1300" b="1" dirty="0">
                <a:solidFill>
                  <a:srgbClr val="0E7C86"/>
                </a:solidFill>
                <a:latin typeface="Cambria" pitchFamily="34" charset="0"/>
                <a:ea typeface="Cambria" pitchFamily="34" charset="-122"/>
                <a:cs typeface="Cambria" pitchFamily="34" charset="-120"/>
              </a:rPr>
              <a:t>Fully offline</a:t>
            </a:r>
            <a:endParaRPr lang="en-US" sz="1300" dirty="0"/>
          </a:p>
        </p:txBody>
      </p:sp>
      <p:sp>
        <p:nvSpPr>
          <p:cNvPr id="10" name="Text 8"/>
          <p:cNvSpPr txBox="1"/>
          <p:nvPr/>
        </p:nvSpPr>
        <p:spPr>
          <a:xfrm>
            <a:off x="5029200" y="1874520"/>
            <a:ext cx="3474720" cy="155448"/>
          </a:xfrm>
          <a:prstGeom prst="rect">
            <a:avLst/>
          </a:prstGeom>
          <a:noFill/>
          <a:ln/>
        </p:spPr>
        <p:txBody>
          <a:bodyPr wrap="square" lIns="0" tIns="0" rIns="0" bIns="0" rtlCol="0" anchor="t"/>
          <a:lstStyle/>
          <a:p>
            <a:pPr marL="0" indent="0">
              <a:buNone/>
            </a:pPr>
            <a:r>
              <a:rPr lang="en-US" sz="1100" dirty="0">
                <a:solidFill>
                  <a:srgbClr val="1F2D3A"/>
                </a:solidFill>
                <a:latin typeface="Calibri" pitchFamily="34" charset="0"/>
                <a:ea typeface="Calibri" pitchFamily="34" charset="-122"/>
                <a:cs typeface="Calibri" pitchFamily="34" charset="-120"/>
              </a:rPr>
              <a:t>Even the Socket.IO client is served locally; no CDN or API.</a:t>
            </a:r>
            <a:endParaRPr lang="en-US" sz="1100" dirty="0"/>
          </a:p>
        </p:txBody>
      </p:sp>
      <p:sp>
        <p:nvSpPr>
          <p:cNvPr id="11" name="Shape 9"/>
          <p:cNvSpPr/>
          <p:nvPr/>
        </p:nvSpPr>
        <p:spPr>
          <a:xfrm>
            <a:off x="4846320" y="2194560"/>
            <a:ext cx="3840480" cy="749808"/>
          </a:xfrm>
          <a:prstGeom prst="roundRect">
            <a:avLst>
              <a:gd name="adj" fmla="val 9756"/>
            </a:avLst>
          </a:prstGeom>
          <a:solidFill>
            <a:srgbClr val="EAF3F4"/>
          </a:solidFill>
          <a:ln w="12700">
            <a:solidFill>
              <a:srgbClr val="EAF3F4"/>
            </a:solidFill>
            <a:prstDash val="solid"/>
          </a:ln>
        </p:spPr>
      </p:sp>
      <p:sp>
        <p:nvSpPr>
          <p:cNvPr id="12" name="Text 10"/>
          <p:cNvSpPr txBox="1"/>
          <p:nvPr/>
        </p:nvSpPr>
        <p:spPr>
          <a:xfrm>
            <a:off x="5029200" y="2304288"/>
            <a:ext cx="3474720" cy="365760"/>
          </a:xfrm>
          <a:prstGeom prst="rect">
            <a:avLst/>
          </a:prstGeom>
          <a:noFill/>
          <a:ln/>
        </p:spPr>
        <p:txBody>
          <a:bodyPr wrap="square" lIns="0" tIns="0" rIns="0" bIns="0" rtlCol="0" anchor="t"/>
          <a:lstStyle/>
          <a:p>
            <a:pPr marL="0" indent="0">
              <a:buNone/>
            </a:pPr>
            <a:r>
              <a:rPr lang="en-US" sz="1300" b="1" dirty="0">
                <a:solidFill>
                  <a:srgbClr val="0E7C86"/>
                </a:solidFill>
                <a:latin typeface="Cambria" pitchFamily="34" charset="0"/>
                <a:ea typeface="Cambria" pitchFamily="34" charset="-122"/>
                <a:cs typeface="Cambria" pitchFamily="34" charset="-120"/>
              </a:rPr>
              <a:t>Lab-specific workflow</a:t>
            </a:r>
            <a:endParaRPr lang="en-US" sz="1300" dirty="0"/>
          </a:p>
        </p:txBody>
      </p:sp>
      <p:sp>
        <p:nvSpPr>
          <p:cNvPr id="13" name="Text 11"/>
          <p:cNvSpPr txBox="1"/>
          <p:nvPr/>
        </p:nvSpPr>
        <p:spPr>
          <a:xfrm>
            <a:off x="5029200" y="2697480"/>
            <a:ext cx="3474720" cy="155448"/>
          </a:xfrm>
          <a:prstGeom prst="rect">
            <a:avLst/>
          </a:prstGeom>
          <a:noFill/>
          <a:ln/>
        </p:spPr>
        <p:txBody>
          <a:bodyPr wrap="square" lIns="0" tIns="0" rIns="0" bIns="0" rtlCol="0" anchor="t"/>
          <a:lstStyle/>
          <a:p>
            <a:pPr marL="0" indent="0">
              <a:buNone/>
            </a:pPr>
            <a:r>
              <a:rPr lang="en-US" sz="1100" dirty="0">
                <a:solidFill>
                  <a:srgbClr val="1F2D3A"/>
                </a:solidFill>
                <a:latin typeface="Calibri" pitchFamily="34" charset="0"/>
                <a:ea typeface="Calibri" pitchFamily="34" charset="-122"/>
                <a:cs typeface="Calibri" pitchFamily="34" charset="-120"/>
              </a:rPr>
              <a:t>Workstation no., lab categories, 4 priorities.</a:t>
            </a:r>
            <a:endParaRPr lang="en-US" sz="1100" dirty="0"/>
          </a:p>
        </p:txBody>
      </p:sp>
      <p:sp>
        <p:nvSpPr>
          <p:cNvPr id="14" name="Shape 12"/>
          <p:cNvSpPr/>
          <p:nvPr/>
        </p:nvSpPr>
        <p:spPr>
          <a:xfrm>
            <a:off x="4846320" y="3017520"/>
            <a:ext cx="3840480" cy="749808"/>
          </a:xfrm>
          <a:prstGeom prst="roundRect">
            <a:avLst>
              <a:gd name="adj" fmla="val 9756"/>
            </a:avLst>
          </a:prstGeom>
          <a:solidFill>
            <a:srgbClr val="EAF3F4"/>
          </a:solidFill>
          <a:ln w="12700">
            <a:solidFill>
              <a:srgbClr val="EAF3F4"/>
            </a:solidFill>
            <a:prstDash val="solid"/>
          </a:ln>
        </p:spPr>
      </p:sp>
      <p:sp>
        <p:nvSpPr>
          <p:cNvPr id="15" name="Text 13"/>
          <p:cNvSpPr txBox="1"/>
          <p:nvPr/>
        </p:nvSpPr>
        <p:spPr>
          <a:xfrm>
            <a:off x="5029200" y="3127248"/>
            <a:ext cx="3474720" cy="365760"/>
          </a:xfrm>
          <a:prstGeom prst="rect">
            <a:avLst/>
          </a:prstGeom>
          <a:noFill/>
          <a:ln/>
        </p:spPr>
        <p:txBody>
          <a:bodyPr wrap="square" lIns="0" tIns="0" rIns="0" bIns="0" rtlCol="0" anchor="t"/>
          <a:lstStyle/>
          <a:p>
            <a:pPr marL="0" indent="0">
              <a:buNone/>
            </a:pPr>
            <a:r>
              <a:rPr lang="en-US" sz="1300" b="1" dirty="0">
                <a:solidFill>
                  <a:srgbClr val="0E7C86"/>
                </a:solidFill>
                <a:latin typeface="Cambria" pitchFamily="34" charset="0"/>
                <a:ea typeface="Cambria" pitchFamily="34" charset="-122"/>
                <a:cs typeface="Cambria" pitchFamily="34" charset="-120"/>
              </a:rPr>
              <a:t>One rule set</a:t>
            </a:r>
            <a:endParaRPr lang="en-US" sz="1300" dirty="0"/>
          </a:p>
        </p:txBody>
      </p:sp>
      <p:sp>
        <p:nvSpPr>
          <p:cNvPr id="16" name="Text 14"/>
          <p:cNvSpPr txBox="1"/>
          <p:nvPr/>
        </p:nvSpPr>
        <p:spPr>
          <a:xfrm>
            <a:off x="5029200" y="3520440"/>
            <a:ext cx="3474720" cy="155448"/>
          </a:xfrm>
          <a:prstGeom prst="rect">
            <a:avLst/>
          </a:prstGeom>
          <a:noFill/>
          <a:ln/>
        </p:spPr>
        <p:txBody>
          <a:bodyPr wrap="square" lIns="0" tIns="0" rIns="0" bIns="0" rtlCol="0" anchor="t"/>
          <a:lstStyle/>
          <a:p>
            <a:pPr marL="0" indent="0">
              <a:buNone/>
            </a:pPr>
            <a:r>
              <a:rPr lang="en-US" sz="1100" dirty="0">
                <a:solidFill>
                  <a:srgbClr val="1F2D3A"/>
                </a:solidFill>
                <a:latin typeface="Calibri" pitchFamily="34" charset="0"/>
                <a:ea typeface="Calibri" pitchFamily="34" charset="-122"/>
                <a:cs typeface="Calibri" pitchFamily="34" charset="-120"/>
              </a:rPr>
              <a:t>HTTP API and Socket.IO call the same service functions.</a:t>
            </a:r>
            <a:endParaRPr lang="en-US" sz="1100" dirty="0"/>
          </a:p>
        </p:txBody>
      </p:sp>
      <p:sp>
        <p:nvSpPr>
          <p:cNvPr id="17" name="Shape 15"/>
          <p:cNvSpPr/>
          <p:nvPr/>
        </p:nvSpPr>
        <p:spPr>
          <a:xfrm>
            <a:off x="4846320" y="3840480"/>
            <a:ext cx="3840480" cy="749808"/>
          </a:xfrm>
          <a:prstGeom prst="roundRect">
            <a:avLst>
              <a:gd name="adj" fmla="val 9756"/>
            </a:avLst>
          </a:prstGeom>
          <a:solidFill>
            <a:srgbClr val="EAF3F4"/>
          </a:solidFill>
          <a:ln w="12700">
            <a:solidFill>
              <a:srgbClr val="EAF3F4"/>
            </a:solidFill>
            <a:prstDash val="solid"/>
          </a:ln>
        </p:spPr>
      </p:sp>
      <p:sp>
        <p:nvSpPr>
          <p:cNvPr id="18" name="Text 16"/>
          <p:cNvSpPr txBox="1"/>
          <p:nvPr/>
        </p:nvSpPr>
        <p:spPr>
          <a:xfrm>
            <a:off x="5029200" y="3950208"/>
            <a:ext cx="3474720" cy="365760"/>
          </a:xfrm>
          <a:prstGeom prst="rect">
            <a:avLst/>
          </a:prstGeom>
          <a:noFill/>
          <a:ln/>
        </p:spPr>
        <p:txBody>
          <a:bodyPr wrap="square" lIns="0" tIns="0" rIns="0" bIns="0" rtlCol="0" anchor="t"/>
          <a:lstStyle/>
          <a:p>
            <a:pPr marL="0" indent="0">
              <a:buNone/>
            </a:pPr>
            <a:r>
              <a:rPr lang="en-US" sz="1300" b="1" dirty="0">
                <a:solidFill>
                  <a:srgbClr val="0E7C86"/>
                </a:solidFill>
                <a:latin typeface="Cambria" pitchFamily="34" charset="0"/>
                <a:ea typeface="Cambria" pitchFamily="34" charset="-122"/>
                <a:cs typeface="Cambria" pitchFamily="34" charset="-120"/>
              </a:rPr>
              <a:t>Visible networking</a:t>
            </a:r>
            <a:endParaRPr lang="en-US" sz="1300" dirty="0"/>
          </a:p>
        </p:txBody>
      </p:sp>
      <p:sp>
        <p:nvSpPr>
          <p:cNvPr id="19" name="Text 17"/>
          <p:cNvSpPr txBox="1"/>
          <p:nvPr/>
        </p:nvSpPr>
        <p:spPr>
          <a:xfrm>
            <a:off x="5029200" y="4343400"/>
            <a:ext cx="3474720" cy="155448"/>
          </a:xfrm>
          <a:prstGeom prst="rect">
            <a:avLst/>
          </a:prstGeom>
          <a:noFill/>
          <a:ln/>
        </p:spPr>
        <p:txBody>
          <a:bodyPr wrap="square" lIns="0" tIns="0" rIns="0" bIns="0" rtlCol="0" anchor="t"/>
          <a:lstStyle/>
          <a:p>
            <a:pPr marL="0" indent="0">
              <a:buNone/>
            </a:pPr>
            <a:r>
              <a:rPr lang="en-US" sz="1100" dirty="0">
                <a:solidFill>
                  <a:srgbClr val="1F2D3A"/>
                </a:solidFill>
                <a:latin typeface="Calibri" pitchFamily="34" charset="0"/>
                <a:ea typeface="Calibri" pitchFamily="34" charset="-122"/>
                <a:cs typeface="Calibri" pitchFamily="34" charset="-120"/>
              </a:rPr>
              <a:t>IP, port and transport shown live.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rgbClr val="0B2A3F"/>
                </a:solidFill>
                <a:latin typeface="Cambria" pitchFamily="34" charset="0"/>
                <a:ea typeface="Cambria" pitchFamily="34" charset="-122"/>
                <a:cs typeface="Cambria" pitchFamily="34" charset="-120"/>
              </a:rPr>
              <a:t>Literature survey: existing systems</a:t>
            </a:r>
            <a:endParaRPr lang="en-US" sz="3000" dirty="0"/>
          </a:p>
        </p:txBody>
      </p:sp>
      <p:sp>
        <p:nvSpPr>
          <p:cNvPr id="3" name="Text 1"/>
          <p:cNvSpPr txBox="1"/>
          <p:nvPr/>
        </p:nvSpPr>
        <p:spPr>
          <a:xfrm>
            <a:off x="457200" y="4754880"/>
            <a:ext cx="4572000" cy="228600"/>
          </a:xfrm>
          <a:prstGeom prst="rect">
            <a:avLst/>
          </a:prstGeom>
          <a:noFill/>
          <a:ln/>
        </p:spPr>
        <p:txBody>
          <a:bodyPr wrap="square" lIns="0" tIns="0" rIns="0" bIns="0" rtlCol="0" anchor="ctr"/>
          <a:lstStyle/>
          <a:p>
            <a:pPr marL="0" indent="0">
              <a:buNone/>
            </a:pPr>
            <a:r>
              <a:rPr lang="en-US" sz="1000" dirty="0">
                <a:solidFill>
                  <a:srgbClr val="5B6B78"/>
                </a:solidFill>
                <a:latin typeface="Calibri" pitchFamily="34" charset="0"/>
                <a:ea typeface="Calibri" pitchFamily="34" charset="-122"/>
                <a:cs typeface="Calibri" pitchFamily="34" charset="-120"/>
              </a:rPr>
              <a:t>Campus Lab Helpdesk  |  BCSE308L</a:t>
            </a:r>
            <a:endParaRPr lang="en-US" sz="1000" dirty="0"/>
          </a:p>
        </p:txBody>
      </p:sp>
      <p:sp>
        <p:nvSpPr>
          <p:cNvPr id="4" name="Text 2"/>
          <p:cNvSpPr txBox="1"/>
          <p:nvPr/>
        </p:nvSpPr>
        <p:spPr>
          <a:xfrm>
            <a:off x="7772400" y="4754880"/>
            <a:ext cx="914400" cy="228600"/>
          </a:xfrm>
          <a:prstGeom prst="rect">
            <a:avLst/>
          </a:prstGeom>
          <a:noFill/>
          <a:ln/>
        </p:spPr>
        <p:txBody>
          <a:bodyPr wrap="square" lIns="0" tIns="0" rIns="0" bIns="0" rtlCol="0" anchor="ctr"/>
          <a:lstStyle/>
          <a:p>
            <a:pPr marL="0" indent="0" algn="r">
              <a:buNone/>
            </a:pPr>
            <a:r>
              <a:rPr lang="en-US" sz="1000" dirty="0">
                <a:solidFill>
                  <a:srgbClr val="5B6B78"/>
                </a:solidFill>
                <a:latin typeface="Calibri" pitchFamily="34" charset="0"/>
                <a:ea typeface="Calibri" pitchFamily="34" charset="-122"/>
                <a:cs typeface="Calibri" pitchFamily="34" charset="-120"/>
              </a:rPr>
              <a:t>5</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1463040"/>
        </p:xfrm>
        <a:graphic>
          <a:graphicData uri="http://schemas.openxmlformats.org/drawingml/2006/table">
            <a:tbl>
              <a:tblPr/>
              <a:tblGrid>
                <a:gridCol w="265176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tblGrid>
              <a:tr h="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Approach</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0B2A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Works offline</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0B2A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Setup effort</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0B2A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Live updates</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0B2A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Lab fields</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0B2A3F"/>
                    </a:solidFill>
                  </a:tcPr>
                </a:tc>
                <a:extLst>
                  <a:ext uri="{0D108BD9-81ED-4DB2-BD59-A6C34878D82A}">
                    <a16:rowId xmlns:a16="http://schemas.microsoft.com/office/drawing/2014/main" val="10000"/>
                  </a:ext>
                </a:extLst>
              </a:tr>
              <a:tr h="0">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Cloud help desk (Zendesk, Freshdesk)</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EAF3F4"/>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EAF3F4"/>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Account + subscription</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EAF3F4"/>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EAF3F4"/>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EAF3F4"/>
                    </a:solidFill>
                  </a:tcPr>
                </a:tc>
                <a:extLst>
                  <a:ext uri="{0D108BD9-81ED-4DB2-BD59-A6C34878D82A}">
                    <a16:rowId xmlns:a16="http://schemas.microsoft.com/office/drawing/2014/main" val="10001"/>
                  </a:ext>
                </a:extLst>
              </a:tr>
              <a:tr h="0">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Self-hosted (osTicket, GLPI)</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Yes, once installed</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Web server + database</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Varies</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Customisation needed</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Paper register, e-mail, chat group</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EAF3F4"/>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Mostly</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EAF3F4"/>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None</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EAF3F4"/>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Chat only</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EAF3F4"/>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EAF3F4"/>
                    </a:solidFill>
                  </a:tcPr>
                </a:tc>
                <a:extLst>
                  <a:ext uri="{0D108BD9-81ED-4DB2-BD59-A6C34878D82A}">
                    <a16:rowId xmlns:a16="http://schemas.microsoft.com/office/drawing/2014/main" val="10003"/>
                  </a:ext>
                </a:extLst>
              </a:tr>
              <a:tr h="0">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Campus Lab Helpdesk (this project)</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Yes, by design</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Python + one command</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Yes, WebSocket</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3"/>
          <p:cNvSpPr txBox="1"/>
          <p:nvPr/>
        </p:nvSpPr>
        <p:spPr>
          <a:xfrm>
            <a:off x="457200" y="3840480"/>
            <a:ext cx="8229600" cy="640080"/>
          </a:xfrm>
          <a:prstGeom prst="rect">
            <a:avLst/>
          </a:prstGeom>
          <a:noFill/>
          <a:ln/>
        </p:spPr>
        <p:txBody>
          <a:bodyPr wrap="square" lIns="0" tIns="0" rIns="0" bIns="0" rtlCol="0" anchor="ctr"/>
          <a:lstStyle/>
          <a:p>
            <a:pPr marL="0" indent="0">
              <a:buNone/>
            </a:pPr>
            <a:r>
              <a:rPr lang="en-US" sz="1400" dirty="0">
                <a:solidFill>
                  <a:srgbClr val="1F2D3A"/>
                </a:solidFill>
                <a:latin typeface="Calibri" pitchFamily="34" charset="0"/>
                <a:ea typeface="Calibri" pitchFamily="34" charset="-122"/>
                <a:cs typeface="Calibri" pitchFamily="34" charset="-120"/>
              </a:rPr>
              <a:t>Cloud tools need the internet; self-hosted tools need PHP and a separate database; informal methods carry no priority, owner, status or history.</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rgbClr val="0B2A3F"/>
                </a:solidFill>
                <a:latin typeface="Cambria" pitchFamily="34" charset="0"/>
                <a:ea typeface="Cambria" pitchFamily="34" charset="-122"/>
                <a:cs typeface="Cambria" pitchFamily="34" charset="-120"/>
              </a:rPr>
              <a:t>Literature survey: push techniques</a:t>
            </a:r>
            <a:endParaRPr lang="en-US" sz="3000" dirty="0"/>
          </a:p>
        </p:txBody>
      </p:sp>
      <p:sp>
        <p:nvSpPr>
          <p:cNvPr id="3" name="Text 1"/>
          <p:cNvSpPr txBox="1"/>
          <p:nvPr/>
        </p:nvSpPr>
        <p:spPr>
          <a:xfrm>
            <a:off x="457200" y="4754880"/>
            <a:ext cx="4572000" cy="228600"/>
          </a:xfrm>
          <a:prstGeom prst="rect">
            <a:avLst/>
          </a:prstGeom>
          <a:noFill/>
          <a:ln/>
        </p:spPr>
        <p:txBody>
          <a:bodyPr wrap="square" lIns="0" tIns="0" rIns="0" bIns="0" rtlCol="0" anchor="ctr"/>
          <a:lstStyle/>
          <a:p>
            <a:pPr marL="0" indent="0">
              <a:buNone/>
            </a:pPr>
            <a:r>
              <a:rPr lang="en-US" sz="1000" dirty="0">
                <a:solidFill>
                  <a:srgbClr val="5B6B78"/>
                </a:solidFill>
                <a:latin typeface="Calibri" pitchFamily="34" charset="0"/>
                <a:ea typeface="Calibri" pitchFamily="34" charset="-122"/>
                <a:cs typeface="Calibri" pitchFamily="34" charset="-120"/>
              </a:rPr>
              <a:t>Campus Lab Helpdesk  |  BCSE308L</a:t>
            </a:r>
            <a:endParaRPr lang="en-US" sz="1000" dirty="0"/>
          </a:p>
        </p:txBody>
      </p:sp>
      <p:sp>
        <p:nvSpPr>
          <p:cNvPr id="4" name="Text 2"/>
          <p:cNvSpPr txBox="1"/>
          <p:nvPr/>
        </p:nvSpPr>
        <p:spPr>
          <a:xfrm>
            <a:off x="7772400" y="4754880"/>
            <a:ext cx="914400" cy="228600"/>
          </a:xfrm>
          <a:prstGeom prst="rect">
            <a:avLst/>
          </a:prstGeom>
          <a:noFill/>
          <a:ln/>
        </p:spPr>
        <p:txBody>
          <a:bodyPr wrap="square" lIns="0" tIns="0" rIns="0" bIns="0" rtlCol="0" anchor="ctr"/>
          <a:lstStyle/>
          <a:p>
            <a:pPr marL="0" indent="0" algn="r">
              <a:buNone/>
            </a:pPr>
            <a:r>
              <a:rPr lang="en-US" sz="1000" dirty="0">
                <a:solidFill>
                  <a:srgbClr val="5B6B78"/>
                </a:solidFill>
                <a:latin typeface="Calibri" pitchFamily="34" charset="0"/>
                <a:ea typeface="Calibri" pitchFamily="34" charset="-122"/>
                <a:cs typeface="Calibri" pitchFamily="34" charset="-120"/>
              </a:rPr>
              <a:t>6</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1463040"/>
        </p:xfrm>
        <a:graphic>
          <a:graphicData uri="http://schemas.openxmlformats.org/drawingml/2006/table">
            <a:tbl>
              <a:tblPr/>
              <a:tblGrid>
                <a:gridCol w="201168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tblGrid>
              <a:tr h="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Technique</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0B2A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How it works</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0B2A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Drawback here</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0B2A3F"/>
                    </a:solidFill>
                  </a:tcPr>
                </a:tc>
                <a:extLst>
                  <a:ext uri="{0D108BD9-81ED-4DB2-BD59-A6C34878D82A}">
                    <a16:rowId xmlns:a16="http://schemas.microsoft.com/office/drawing/2014/main" val="10000"/>
                  </a:ext>
                </a:extLst>
              </a:tr>
              <a:tr h="0">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Short polling</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EAF3F4"/>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Repeated HTTP request every few seconds</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EAF3F4"/>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Wasteful; delayed by up to one interval</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EAF3F4"/>
                    </a:solidFill>
                  </a:tcPr>
                </a:tc>
                <a:extLst>
                  <a:ext uri="{0D108BD9-81ED-4DB2-BD59-A6C34878D82A}">
                    <a16:rowId xmlns:a16="http://schemas.microsoft.com/office/drawing/2014/main" val="10001"/>
                  </a:ext>
                </a:extLst>
              </a:tr>
              <a:tr h="0">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Long polling</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Request held open until data exists</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New request and headers per event</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Server-sent events</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EAF3F4"/>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One-way stream to browser</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EAF3F4"/>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Chat needs a second channel</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EAF3F4"/>
                    </a:solidFill>
                  </a:tcPr>
                </a:tc>
                <a:extLst>
                  <a:ext uri="{0D108BD9-81ED-4DB2-BD59-A6C34878D82A}">
                    <a16:rowId xmlns:a16="http://schemas.microsoft.com/office/drawing/2014/main" val="10003"/>
                  </a:ext>
                </a:extLst>
              </a:tr>
              <a:tr h="0">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WebSocket (RFC 6455)</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HTTP Upgrade to full-duplex over TCP</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Needs rooms, acks, reconnect: Socket.IO supplies them</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Text 3"/>
          <p:cNvSpPr txBox="1"/>
          <p:nvPr/>
        </p:nvSpPr>
        <p:spPr>
          <a:xfrm>
            <a:off x="457200" y="3657600"/>
            <a:ext cx="8229600" cy="822960"/>
          </a:xfrm>
          <a:prstGeom prst="rect">
            <a:avLst/>
          </a:prstGeom>
          <a:noFill/>
          <a:ln/>
        </p:spPr>
        <p:txBody>
          <a:bodyPr wrap="square" lIns="0" tIns="0" rIns="0" bIns="0" rtlCol="0" anchor="ctr"/>
          <a:lstStyle/>
          <a:p>
            <a:pPr marL="0" indent="0">
              <a:buNone/>
            </a:pPr>
            <a:r>
              <a:rPr lang="en-US" sz="1400" dirty="0">
                <a:solidFill>
                  <a:srgbClr val="1F2D3A"/>
                </a:solidFill>
                <a:latin typeface="Calibri" pitchFamily="34" charset="0"/>
                <a:ea typeface="Calibri" pitchFamily="34" charset="-122"/>
                <a:cs typeface="Calibri" pitchFamily="34" charset="-120"/>
              </a:rPr>
              <a:t>WebSocket was chosen: one long-lived TCP connection, both sides can send at any moment. Socket.IO adds named events, rooms, acknowledgements, heartbeats, reconnection and an HTTP long-polling fallback.</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rgbClr val="0B2A3F"/>
                </a:solidFill>
                <a:latin typeface="Cambria" pitchFamily="34" charset="0"/>
                <a:ea typeface="Cambria" pitchFamily="34" charset="-122"/>
                <a:cs typeface="Cambria" pitchFamily="34" charset="-120"/>
              </a:rPr>
              <a:t>Research gap</a:t>
            </a:r>
            <a:endParaRPr lang="en-US" sz="3000" dirty="0"/>
          </a:p>
        </p:txBody>
      </p:sp>
      <p:sp>
        <p:nvSpPr>
          <p:cNvPr id="3" name="Text 1"/>
          <p:cNvSpPr txBox="1"/>
          <p:nvPr/>
        </p:nvSpPr>
        <p:spPr>
          <a:xfrm>
            <a:off x="457200" y="4754880"/>
            <a:ext cx="4572000" cy="228600"/>
          </a:xfrm>
          <a:prstGeom prst="rect">
            <a:avLst/>
          </a:prstGeom>
          <a:noFill/>
          <a:ln/>
        </p:spPr>
        <p:txBody>
          <a:bodyPr wrap="square" lIns="0" tIns="0" rIns="0" bIns="0" rtlCol="0" anchor="ctr"/>
          <a:lstStyle/>
          <a:p>
            <a:pPr marL="0" indent="0">
              <a:buNone/>
            </a:pPr>
            <a:r>
              <a:rPr lang="en-US" sz="1000" dirty="0">
                <a:solidFill>
                  <a:srgbClr val="5B6B78"/>
                </a:solidFill>
                <a:latin typeface="Calibri" pitchFamily="34" charset="0"/>
                <a:ea typeface="Calibri" pitchFamily="34" charset="-122"/>
                <a:cs typeface="Calibri" pitchFamily="34" charset="-120"/>
              </a:rPr>
              <a:t>Campus Lab Helpdesk  |  BCSE308L</a:t>
            </a:r>
            <a:endParaRPr lang="en-US" sz="1000" dirty="0"/>
          </a:p>
        </p:txBody>
      </p:sp>
      <p:sp>
        <p:nvSpPr>
          <p:cNvPr id="4" name="Text 2"/>
          <p:cNvSpPr txBox="1"/>
          <p:nvPr/>
        </p:nvSpPr>
        <p:spPr>
          <a:xfrm>
            <a:off x="7772400" y="4754880"/>
            <a:ext cx="914400" cy="228600"/>
          </a:xfrm>
          <a:prstGeom prst="rect">
            <a:avLst/>
          </a:prstGeom>
          <a:noFill/>
          <a:ln/>
        </p:spPr>
        <p:txBody>
          <a:bodyPr wrap="square" lIns="0" tIns="0" rIns="0" bIns="0" rtlCol="0" anchor="ctr"/>
          <a:lstStyle/>
          <a:p>
            <a:pPr marL="0" indent="0" algn="r">
              <a:buNone/>
            </a:pPr>
            <a:r>
              <a:rPr lang="en-US" sz="1000" dirty="0">
                <a:solidFill>
                  <a:srgbClr val="5B6B78"/>
                </a:solidFill>
                <a:latin typeface="Calibri" pitchFamily="34" charset="0"/>
                <a:ea typeface="Calibri" pitchFamily="34" charset="-122"/>
                <a:cs typeface="Calibri" pitchFamily="34" charset="-120"/>
              </a:rPr>
              <a:t>7</a:t>
            </a:r>
            <a:endParaRPr lang="en-US" sz="1000" dirty="0"/>
          </a:p>
        </p:txBody>
      </p:sp>
      <p:sp>
        <p:nvSpPr>
          <p:cNvPr id="5" name="Text 3"/>
          <p:cNvSpPr txBox="1"/>
          <p:nvPr/>
        </p:nvSpPr>
        <p:spPr>
          <a:xfrm>
            <a:off x="457200" y="1005840"/>
            <a:ext cx="8229600" cy="640080"/>
          </a:xfrm>
          <a:prstGeom prst="rect">
            <a:avLst/>
          </a:prstGeom>
          <a:noFill/>
          <a:ln/>
        </p:spPr>
        <p:txBody>
          <a:bodyPr wrap="square" lIns="0" tIns="0" rIns="0" bIns="0" rtlCol="0" anchor="ctr"/>
          <a:lstStyle/>
          <a:p>
            <a:pPr marL="0" indent="0">
              <a:buNone/>
            </a:pPr>
            <a:r>
              <a:rPr lang="en-US" sz="1500" dirty="0">
                <a:solidFill>
                  <a:srgbClr val="1F2D3A"/>
                </a:solidFill>
                <a:latin typeface="Calibri" pitchFamily="34" charset="0"/>
                <a:ea typeface="Calibri" pitchFamily="34" charset="-122"/>
                <a:cs typeface="Calibri" pitchFamily="34" charset="-120"/>
              </a:rPr>
              <a:t>Existing options depend on the internet, need a separately maintained web server and database, or lack priority, ownership and real-time notification.</a:t>
            </a:r>
            <a:endParaRPr lang="en-US" sz="1500" dirty="0"/>
          </a:p>
        </p:txBody>
      </p:sp>
      <p:sp>
        <p:nvSpPr>
          <p:cNvPr id="6" name="Shape 4"/>
          <p:cNvSpPr/>
          <p:nvPr/>
        </p:nvSpPr>
        <p:spPr>
          <a:xfrm>
            <a:off x="457200" y="1783080"/>
            <a:ext cx="4023360" cy="1280160"/>
          </a:xfrm>
          <a:prstGeom prst="roundRect">
            <a:avLst>
              <a:gd name="adj" fmla="val 5714"/>
            </a:avLst>
          </a:prstGeom>
          <a:solidFill>
            <a:srgbClr val="EAF3F4"/>
          </a:solidFill>
          <a:ln w="12700">
            <a:solidFill>
              <a:srgbClr val="EAF3F4"/>
            </a:solidFill>
            <a:prstDash val="solid"/>
          </a:ln>
        </p:spPr>
      </p:sp>
      <p:sp>
        <p:nvSpPr>
          <p:cNvPr id="7" name="Text 5"/>
          <p:cNvSpPr txBox="1"/>
          <p:nvPr/>
        </p:nvSpPr>
        <p:spPr>
          <a:xfrm>
            <a:off x="640080" y="1892808"/>
            <a:ext cx="3657600" cy="365760"/>
          </a:xfrm>
          <a:prstGeom prst="rect">
            <a:avLst/>
          </a:prstGeom>
          <a:noFill/>
          <a:ln/>
        </p:spPr>
        <p:txBody>
          <a:bodyPr wrap="square" lIns="0" tIns="0" rIns="0" bIns="0" rtlCol="0" anchor="t"/>
          <a:lstStyle/>
          <a:p>
            <a:pPr marL="0" indent="0">
              <a:buNone/>
            </a:pPr>
            <a:r>
              <a:rPr lang="en-US" sz="1600" b="1" dirty="0">
                <a:solidFill>
                  <a:srgbClr val="0E7C86"/>
                </a:solidFill>
                <a:latin typeface="Cambria" pitchFamily="34" charset="0"/>
                <a:ea typeface="Cambria" pitchFamily="34" charset="-122"/>
                <a:cs typeface="Cambria" pitchFamily="34" charset="-120"/>
              </a:rPr>
              <a:t>Single small program</a:t>
            </a:r>
            <a:endParaRPr lang="en-US" sz="1600" dirty="0"/>
          </a:p>
        </p:txBody>
      </p:sp>
      <p:sp>
        <p:nvSpPr>
          <p:cNvPr id="8" name="Text 6"/>
          <p:cNvSpPr txBox="1"/>
          <p:nvPr/>
        </p:nvSpPr>
        <p:spPr>
          <a:xfrm>
            <a:off x="640080" y="2286000"/>
            <a:ext cx="3657600" cy="685800"/>
          </a:xfrm>
          <a:prstGeom prst="rect">
            <a:avLst/>
          </a:prstGeom>
          <a:noFill/>
          <a:ln/>
        </p:spPr>
        <p:txBody>
          <a:bodyPr wrap="square" lIns="0" tIns="0" rIns="0" bIns="0" rtlCol="0" anchor="t"/>
          <a:lstStyle/>
          <a:p>
            <a:pPr marL="0" indent="0">
              <a:buNone/>
            </a:pPr>
            <a:r>
              <a:rPr lang="en-US" sz="1400" dirty="0">
                <a:solidFill>
                  <a:srgbClr val="1F2D3A"/>
                </a:solidFill>
                <a:latin typeface="Calibri" pitchFamily="34" charset="0"/>
                <a:ea typeface="Calibri" pitchFamily="34" charset="-122"/>
                <a:cs typeface="Calibri" pitchFamily="34" charset="-120"/>
              </a:rPr>
              <a:t>Embedded database, one command, LAN only</a:t>
            </a:r>
            <a:endParaRPr lang="en-US" sz="1400" dirty="0"/>
          </a:p>
        </p:txBody>
      </p:sp>
      <p:sp>
        <p:nvSpPr>
          <p:cNvPr id="9" name="Shape 7"/>
          <p:cNvSpPr/>
          <p:nvPr/>
        </p:nvSpPr>
        <p:spPr>
          <a:xfrm>
            <a:off x="4663440" y="1783080"/>
            <a:ext cx="4023360" cy="1280160"/>
          </a:xfrm>
          <a:prstGeom prst="roundRect">
            <a:avLst>
              <a:gd name="adj" fmla="val 5714"/>
            </a:avLst>
          </a:prstGeom>
          <a:solidFill>
            <a:srgbClr val="EAF3F4"/>
          </a:solidFill>
          <a:ln w="12700">
            <a:solidFill>
              <a:srgbClr val="EAF3F4"/>
            </a:solidFill>
            <a:prstDash val="solid"/>
          </a:ln>
        </p:spPr>
      </p:sp>
      <p:sp>
        <p:nvSpPr>
          <p:cNvPr id="10" name="Text 8"/>
          <p:cNvSpPr txBox="1"/>
          <p:nvPr/>
        </p:nvSpPr>
        <p:spPr>
          <a:xfrm>
            <a:off x="4846320" y="1892808"/>
            <a:ext cx="3657600" cy="365760"/>
          </a:xfrm>
          <a:prstGeom prst="rect">
            <a:avLst/>
          </a:prstGeom>
          <a:noFill/>
          <a:ln/>
        </p:spPr>
        <p:txBody>
          <a:bodyPr wrap="square" lIns="0" tIns="0" rIns="0" bIns="0" rtlCol="0" anchor="t"/>
          <a:lstStyle/>
          <a:p>
            <a:pPr marL="0" indent="0">
              <a:buNone/>
            </a:pPr>
            <a:r>
              <a:rPr lang="en-US" sz="1600" b="1" dirty="0">
                <a:solidFill>
                  <a:srgbClr val="0E7C86"/>
                </a:solidFill>
                <a:latin typeface="Cambria" pitchFamily="34" charset="0"/>
                <a:ea typeface="Cambria" pitchFamily="34" charset="-122"/>
                <a:cs typeface="Cambria" pitchFamily="34" charset="-120"/>
              </a:rPr>
              <a:t>Push, not polling</a:t>
            </a:r>
            <a:endParaRPr lang="en-US" sz="1600" dirty="0"/>
          </a:p>
        </p:txBody>
      </p:sp>
      <p:sp>
        <p:nvSpPr>
          <p:cNvPr id="11" name="Text 9"/>
          <p:cNvSpPr txBox="1"/>
          <p:nvPr/>
        </p:nvSpPr>
        <p:spPr>
          <a:xfrm>
            <a:off x="4846320" y="2286000"/>
            <a:ext cx="3657600" cy="685800"/>
          </a:xfrm>
          <a:prstGeom prst="rect">
            <a:avLst/>
          </a:prstGeom>
          <a:noFill/>
          <a:ln/>
        </p:spPr>
        <p:txBody>
          <a:bodyPr wrap="square" lIns="0" tIns="0" rIns="0" bIns="0" rtlCol="0" anchor="t"/>
          <a:lstStyle/>
          <a:p>
            <a:pPr marL="0" indent="0">
              <a:buNone/>
            </a:pPr>
            <a:r>
              <a:rPr lang="en-US" sz="1400" dirty="0">
                <a:solidFill>
                  <a:srgbClr val="1F2D3A"/>
                </a:solidFill>
                <a:latin typeface="Calibri" pitchFamily="34" charset="0"/>
                <a:ea typeface="Calibri" pitchFamily="34" charset="-122"/>
                <a:cs typeface="Calibri" pitchFamily="34" charset="-120"/>
              </a:rPr>
              <a:t>Acks and automatic recovery after disconnection</a:t>
            </a:r>
            <a:endParaRPr lang="en-US" sz="1400" dirty="0"/>
          </a:p>
        </p:txBody>
      </p:sp>
      <p:sp>
        <p:nvSpPr>
          <p:cNvPr id="12" name="Shape 10"/>
          <p:cNvSpPr/>
          <p:nvPr/>
        </p:nvSpPr>
        <p:spPr>
          <a:xfrm>
            <a:off x="457200" y="3200400"/>
            <a:ext cx="4023360" cy="1280160"/>
          </a:xfrm>
          <a:prstGeom prst="roundRect">
            <a:avLst>
              <a:gd name="adj" fmla="val 5714"/>
            </a:avLst>
          </a:prstGeom>
          <a:solidFill>
            <a:srgbClr val="EAF3F4"/>
          </a:solidFill>
          <a:ln w="12700">
            <a:solidFill>
              <a:srgbClr val="EAF3F4"/>
            </a:solidFill>
            <a:prstDash val="solid"/>
          </a:ln>
        </p:spPr>
      </p:sp>
      <p:sp>
        <p:nvSpPr>
          <p:cNvPr id="13" name="Text 11"/>
          <p:cNvSpPr txBox="1"/>
          <p:nvPr/>
        </p:nvSpPr>
        <p:spPr>
          <a:xfrm>
            <a:off x="640080" y="3310128"/>
            <a:ext cx="3657600" cy="365760"/>
          </a:xfrm>
          <a:prstGeom prst="rect">
            <a:avLst/>
          </a:prstGeom>
          <a:noFill/>
          <a:ln/>
        </p:spPr>
        <p:txBody>
          <a:bodyPr wrap="square" lIns="0" tIns="0" rIns="0" bIns="0" rtlCol="0" anchor="t"/>
          <a:lstStyle/>
          <a:p>
            <a:pPr marL="0" indent="0">
              <a:buNone/>
            </a:pPr>
            <a:r>
              <a:rPr lang="en-US" sz="1600" b="1" dirty="0">
                <a:solidFill>
                  <a:srgbClr val="0E7C86"/>
                </a:solidFill>
                <a:latin typeface="Cambria" pitchFamily="34" charset="0"/>
                <a:ea typeface="Cambria" pitchFamily="34" charset="-122"/>
                <a:cs typeface="Cambria" pitchFamily="34" charset="-120"/>
              </a:rPr>
              <a:t>Lab ticket model</a:t>
            </a:r>
            <a:endParaRPr lang="en-US" sz="1600" dirty="0"/>
          </a:p>
        </p:txBody>
      </p:sp>
      <p:sp>
        <p:nvSpPr>
          <p:cNvPr id="14" name="Text 12"/>
          <p:cNvSpPr txBox="1"/>
          <p:nvPr/>
        </p:nvSpPr>
        <p:spPr>
          <a:xfrm>
            <a:off x="640080" y="3703320"/>
            <a:ext cx="3657600" cy="685800"/>
          </a:xfrm>
          <a:prstGeom prst="rect">
            <a:avLst/>
          </a:prstGeom>
          <a:noFill/>
          <a:ln/>
        </p:spPr>
        <p:txBody>
          <a:bodyPr wrap="square" lIns="0" tIns="0" rIns="0" bIns="0" rtlCol="0" anchor="t"/>
          <a:lstStyle/>
          <a:p>
            <a:pPr marL="0" indent="0">
              <a:buNone/>
            </a:pPr>
            <a:r>
              <a:rPr lang="en-US" sz="1400" dirty="0">
                <a:solidFill>
                  <a:srgbClr val="1F2D3A"/>
                </a:solidFill>
                <a:latin typeface="Calibri" pitchFamily="34" charset="0"/>
                <a:ea typeface="Calibri" pitchFamily="34" charset="-122"/>
                <a:cs typeface="Calibri" pitchFamily="34" charset="-120"/>
              </a:rPr>
              <a:t>Workstation, category, priority, assignee, timeline</a:t>
            </a:r>
            <a:endParaRPr lang="en-US" sz="1400" dirty="0"/>
          </a:p>
        </p:txBody>
      </p:sp>
      <p:sp>
        <p:nvSpPr>
          <p:cNvPr id="15" name="Shape 13"/>
          <p:cNvSpPr/>
          <p:nvPr/>
        </p:nvSpPr>
        <p:spPr>
          <a:xfrm>
            <a:off x="4663440" y="3200400"/>
            <a:ext cx="4023360" cy="1280160"/>
          </a:xfrm>
          <a:prstGeom prst="roundRect">
            <a:avLst>
              <a:gd name="adj" fmla="val 5714"/>
            </a:avLst>
          </a:prstGeom>
          <a:solidFill>
            <a:srgbClr val="EAF3F4"/>
          </a:solidFill>
          <a:ln w="12700">
            <a:solidFill>
              <a:srgbClr val="EAF3F4"/>
            </a:solidFill>
            <a:prstDash val="solid"/>
          </a:ln>
        </p:spPr>
      </p:sp>
      <p:sp>
        <p:nvSpPr>
          <p:cNvPr id="16" name="Text 14"/>
          <p:cNvSpPr txBox="1"/>
          <p:nvPr/>
        </p:nvSpPr>
        <p:spPr>
          <a:xfrm>
            <a:off x="4846320" y="3310128"/>
            <a:ext cx="3657600" cy="365760"/>
          </a:xfrm>
          <a:prstGeom prst="rect">
            <a:avLst/>
          </a:prstGeom>
          <a:noFill/>
          <a:ln/>
        </p:spPr>
        <p:txBody>
          <a:bodyPr wrap="square" lIns="0" tIns="0" rIns="0" bIns="0" rtlCol="0" anchor="t"/>
          <a:lstStyle/>
          <a:p>
            <a:pPr marL="0" indent="0">
              <a:buNone/>
            </a:pPr>
            <a:r>
              <a:rPr lang="en-US" sz="1600" b="1" dirty="0">
                <a:solidFill>
                  <a:srgbClr val="0E7C86"/>
                </a:solidFill>
                <a:latin typeface="Cambria" pitchFamily="34" charset="0"/>
                <a:ea typeface="Cambria" pitchFamily="34" charset="-122"/>
                <a:cs typeface="Cambria" pitchFamily="34" charset="-120"/>
              </a:rPr>
              <a:t>Built-in network monitor</a:t>
            </a:r>
            <a:endParaRPr lang="en-US" sz="1600" dirty="0"/>
          </a:p>
        </p:txBody>
      </p:sp>
      <p:sp>
        <p:nvSpPr>
          <p:cNvPr id="17" name="Text 15"/>
          <p:cNvSpPr txBox="1"/>
          <p:nvPr/>
        </p:nvSpPr>
        <p:spPr>
          <a:xfrm>
            <a:off x="4846320" y="3703320"/>
            <a:ext cx="3657600" cy="685800"/>
          </a:xfrm>
          <a:prstGeom prst="rect">
            <a:avLst/>
          </a:prstGeom>
          <a:noFill/>
          <a:ln/>
        </p:spPr>
        <p:txBody>
          <a:bodyPr wrap="square" lIns="0" tIns="0" rIns="0" bIns="0" rtlCol="0" anchor="t"/>
          <a:lstStyle/>
          <a:p>
            <a:pPr marL="0" indent="0">
              <a:buNone/>
            </a:pPr>
            <a:r>
              <a:rPr lang="en-US" sz="1400" dirty="0">
                <a:solidFill>
                  <a:srgbClr val="1F2D3A"/>
                </a:solidFill>
                <a:latin typeface="Calibri" pitchFamily="34" charset="0"/>
                <a:ea typeface="Calibri" pitchFamily="34" charset="-122"/>
                <a:cs typeface="Calibri" pitchFamily="34" charset="-120"/>
              </a:rPr>
              <a:t>Protocols, addresses and connections made visible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rgbClr val="0B2A3F"/>
                </a:solidFill>
                <a:latin typeface="Cambria" pitchFamily="34" charset="0"/>
                <a:ea typeface="Cambria" pitchFamily="34" charset="-122"/>
                <a:cs typeface="Cambria" pitchFamily="34" charset="-120"/>
              </a:rPr>
              <a:t>System design: architecture</a:t>
            </a:r>
            <a:endParaRPr lang="en-US" sz="3000" dirty="0"/>
          </a:p>
        </p:txBody>
      </p:sp>
      <p:sp>
        <p:nvSpPr>
          <p:cNvPr id="3" name="Text 1"/>
          <p:cNvSpPr txBox="1"/>
          <p:nvPr/>
        </p:nvSpPr>
        <p:spPr>
          <a:xfrm>
            <a:off x="457200" y="4754880"/>
            <a:ext cx="4572000" cy="228600"/>
          </a:xfrm>
          <a:prstGeom prst="rect">
            <a:avLst/>
          </a:prstGeom>
          <a:noFill/>
          <a:ln/>
        </p:spPr>
        <p:txBody>
          <a:bodyPr wrap="square" lIns="0" tIns="0" rIns="0" bIns="0" rtlCol="0" anchor="ctr"/>
          <a:lstStyle/>
          <a:p>
            <a:pPr marL="0" indent="0">
              <a:buNone/>
            </a:pPr>
            <a:r>
              <a:rPr lang="en-US" sz="1000" dirty="0">
                <a:solidFill>
                  <a:srgbClr val="5B6B78"/>
                </a:solidFill>
                <a:latin typeface="Calibri" pitchFamily="34" charset="0"/>
                <a:ea typeface="Calibri" pitchFamily="34" charset="-122"/>
                <a:cs typeface="Calibri" pitchFamily="34" charset="-120"/>
              </a:rPr>
              <a:t>Campus Lab Helpdesk  |  BCSE308L</a:t>
            </a:r>
            <a:endParaRPr lang="en-US" sz="1000" dirty="0"/>
          </a:p>
        </p:txBody>
      </p:sp>
      <p:sp>
        <p:nvSpPr>
          <p:cNvPr id="4" name="Text 2"/>
          <p:cNvSpPr txBox="1"/>
          <p:nvPr/>
        </p:nvSpPr>
        <p:spPr>
          <a:xfrm>
            <a:off x="7772400" y="4754880"/>
            <a:ext cx="914400" cy="228600"/>
          </a:xfrm>
          <a:prstGeom prst="rect">
            <a:avLst/>
          </a:prstGeom>
          <a:noFill/>
          <a:ln/>
        </p:spPr>
        <p:txBody>
          <a:bodyPr wrap="square" lIns="0" tIns="0" rIns="0" bIns="0" rtlCol="0" anchor="ctr"/>
          <a:lstStyle/>
          <a:p>
            <a:pPr marL="0" indent="0" algn="r">
              <a:buNone/>
            </a:pPr>
            <a:r>
              <a:rPr lang="en-US" sz="1000" dirty="0">
                <a:solidFill>
                  <a:srgbClr val="5B6B78"/>
                </a:solidFill>
                <a:latin typeface="Calibri" pitchFamily="34" charset="0"/>
                <a:ea typeface="Calibri" pitchFamily="34" charset="-122"/>
                <a:cs typeface="Calibri" pitchFamily="34" charset="-120"/>
              </a:rPr>
              <a:t>8</a:t>
            </a:r>
            <a:endParaRPr lang="en-US" sz="1000" dirty="0"/>
          </a:p>
        </p:txBody>
      </p:sp>
      <p:pic>
        <p:nvPicPr>
          <p:cNvPr id="5" name="Image 0" descr="C:/Users/MEGHAN~1/AppData/Local/Temp/dk/img/02_image2.png"/>
          <p:cNvPicPr>
            <a:picLocks noChangeAspect="1"/>
          </p:cNvPicPr>
          <p:nvPr/>
        </p:nvPicPr>
        <p:blipFill>
          <a:blip r:embed="rId3"/>
          <a:stretch>
            <a:fillRect/>
          </a:stretch>
        </p:blipFill>
        <p:spPr>
          <a:xfrm>
            <a:off x="634753" y="960120"/>
            <a:ext cx="4765533" cy="2011680"/>
          </a:xfrm>
          <a:prstGeom prst="rect">
            <a:avLst/>
          </a:prstGeom>
        </p:spPr>
      </p:pic>
      <p:sp>
        <p:nvSpPr>
          <p:cNvPr id="6" name="Text 3"/>
          <p:cNvSpPr txBox="1"/>
          <p:nvPr/>
        </p:nvSpPr>
        <p:spPr>
          <a:xfrm>
            <a:off x="457200" y="3017520"/>
            <a:ext cx="5120640" cy="274320"/>
          </a:xfrm>
          <a:prstGeom prst="rect">
            <a:avLst/>
          </a:prstGeom>
          <a:noFill/>
          <a:ln/>
        </p:spPr>
        <p:txBody>
          <a:bodyPr wrap="square" lIns="0" tIns="0" rIns="0" bIns="0" rtlCol="0" anchor="ctr"/>
          <a:lstStyle/>
          <a:p>
            <a:pPr marL="0" indent="0" algn="ctr">
              <a:buNone/>
            </a:pPr>
            <a:r>
              <a:rPr lang="en-US" sz="1100" i="1" dirty="0">
                <a:solidFill>
                  <a:srgbClr val="5B6B78"/>
                </a:solidFill>
                <a:latin typeface="Calibri" pitchFamily="34" charset="0"/>
                <a:ea typeface="Calibri" pitchFamily="34" charset="-122"/>
                <a:cs typeface="Calibri" pitchFamily="34" charset="-120"/>
              </a:rPr>
              <a:t>Figure 3.1: Overall architecture</a:t>
            </a:r>
            <a:endParaRPr lang="en-US" sz="1100" dirty="0"/>
          </a:p>
        </p:txBody>
      </p:sp>
      <p:sp>
        <p:nvSpPr>
          <p:cNvPr id="7" name="Text 4"/>
          <p:cNvSpPr txBox="1"/>
          <p:nvPr/>
        </p:nvSpPr>
        <p:spPr>
          <a:xfrm>
            <a:off x="5760720" y="1005840"/>
            <a:ext cx="2926080" cy="23774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F2D3A"/>
                </a:solidFill>
                <a:latin typeface="Calibri" pitchFamily="34" charset="0"/>
                <a:ea typeface="Calibri" pitchFamily="34" charset="-122"/>
                <a:cs typeface="Calibri" pitchFamily="34" charset="-120"/>
              </a:rPr>
              <a:t>Client-server: one process owns all data</a:t>
            </a:r>
            <a:endParaRPr lang="en-US" sz="1300" dirty="0"/>
          </a:p>
          <a:p>
            <a:pPr marL="342900" indent="-342900">
              <a:spcAft>
                <a:spcPts val="600"/>
              </a:spcAft>
              <a:buSzPct val="100000"/>
              <a:buChar char="•"/>
            </a:pPr>
            <a:r>
              <a:rPr lang="en-US" sz="1300" dirty="0">
                <a:solidFill>
                  <a:srgbClr val="1F2D3A"/>
                </a:solidFill>
                <a:latin typeface="Calibri" pitchFamily="34" charset="0"/>
                <a:ea typeface="Calibri" pitchFamily="34" charset="-122"/>
                <a:cs typeface="Calibri" pitchFamily="34" charset="-120"/>
              </a:rPr>
              <a:t>Two traffic kinds on one TCP port: HTTP and Socket.IO</a:t>
            </a:r>
            <a:endParaRPr lang="en-US" sz="1300" dirty="0"/>
          </a:p>
          <a:p>
            <a:pPr marL="342900" indent="-342900">
              <a:spcAft>
                <a:spcPts val="600"/>
              </a:spcAft>
              <a:buSzPct val="100000"/>
              <a:buChar char="•"/>
            </a:pPr>
            <a:r>
              <a:rPr lang="en-US" sz="1300" dirty="0">
                <a:solidFill>
                  <a:srgbClr val="1F2D3A"/>
                </a:solidFill>
                <a:latin typeface="Calibri" pitchFamily="34" charset="0"/>
                <a:ea typeface="Calibri" pitchFamily="34" charset="-122"/>
                <a:cs typeface="Calibri" pitchFamily="34" charset="-120"/>
              </a:rPr>
              <a:t>Broadcasts only after the DB commit</a:t>
            </a:r>
            <a:endParaRPr lang="en-US" sz="1300" dirty="0"/>
          </a:p>
          <a:p>
            <a:pPr marL="342900" indent="-342900">
              <a:spcAft>
                <a:spcPts val="600"/>
              </a:spcAft>
              <a:buSzPct val="100000"/>
              <a:buChar char="•"/>
            </a:pPr>
            <a:r>
              <a:rPr lang="en-US" sz="1300" dirty="0">
                <a:solidFill>
                  <a:srgbClr val="1F2D3A"/>
                </a:solidFill>
                <a:latin typeface="Calibri" pitchFamily="34" charset="0"/>
                <a:ea typeface="Calibri" pitchFamily="34" charset="-122"/>
                <a:cs typeface="Calibri" pitchFamily="34" charset="-120"/>
              </a:rPr>
              <a:t>Same service functions behind HTTP and sockets</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8229600" cy="1203960"/>
        </p:xfrm>
        <a:graphic>
          <a:graphicData uri="http://schemas.openxmlformats.org/drawingml/2006/table">
            <a:tbl>
              <a:tblPr/>
              <a:tblGrid>
                <a:gridCol w="2377440">
                  <a:extLst>
                    <a:ext uri="{9D8B030D-6E8A-4147-A177-3AD203B41FA5}">
                      <a16:colId xmlns:a16="http://schemas.microsoft.com/office/drawing/2014/main" val="20000"/>
                    </a:ext>
                  </a:extLst>
                </a:gridCol>
                <a:gridCol w="5852160">
                  <a:extLst>
                    <a:ext uri="{9D8B030D-6E8A-4147-A177-3AD203B41FA5}">
                      <a16:colId xmlns:a16="http://schemas.microsoft.com/office/drawing/2014/main" val="20001"/>
                    </a:ext>
                  </a:extLst>
                </a:gridCol>
              </a:tblGrid>
              <a:tr h="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Layer</a:t>
                      </a:r>
                      <a:endParaRPr lang="en-US" sz="11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0B2A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Responsibility</a:t>
                      </a:r>
                      <a:endParaRPr lang="en-US" sz="11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0B2A3F"/>
                    </a:solidFill>
                  </a:tcPr>
                </a:tc>
                <a:extLst>
                  <a:ext uri="{0D108BD9-81ED-4DB2-BD59-A6C34878D82A}">
                    <a16:rowId xmlns:a16="http://schemas.microsoft.com/office/drawing/2014/main" val="10000"/>
                  </a:ext>
                </a:extLst>
              </a:tr>
              <a:tr h="0">
                <a:tc>
                  <a:txBody>
                    <a:bodyPr/>
                    <a:lstStyle/>
                    <a:p>
                      <a:pPr marL="0" indent="0">
                        <a:buNone/>
                      </a:pPr>
                      <a:r>
                        <a:rPr lang="en-US" sz="1100" dirty="0">
                          <a:solidFill>
                            <a:srgbClr val="1F2D3A"/>
                          </a:solidFill>
                          <a:latin typeface="Calibri" pitchFamily="34" charset="0"/>
                          <a:ea typeface="Calibri" pitchFamily="34" charset="-122"/>
                          <a:cs typeface="Calibri" pitchFamily="34" charset="-120"/>
                        </a:rPr>
                        <a:t>Pages / JSON API</a:t>
                      </a:r>
                      <a:endParaRPr lang="en-US" sz="11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EAF3F4"/>
                    </a:solidFill>
                  </a:tcPr>
                </a:tc>
                <a:tc>
                  <a:txBody>
                    <a:bodyPr/>
                    <a:lstStyle/>
                    <a:p>
                      <a:pPr marL="0" indent="0">
                        <a:buNone/>
                      </a:pPr>
                      <a:r>
                        <a:rPr lang="en-US" sz="1100" dirty="0">
                          <a:solidFill>
                            <a:srgbClr val="1F2D3A"/>
                          </a:solidFill>
                          <a:latin typeface="Calibri" pitchFamily="34" charset="0"/>
                          <a:ea typeface="Calibri" pitchFamily="34" charset="-122"/>
                          <a:cs typeface="Calibri" pitchFamily="34" charset="-120"/>
                        </a:rPr>
                        <a:t>Jinja2 pages, thin endpoints</a:t>
                      </a:r>
                      <a:endParaRPr lang="en-US" sz="11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EAF3F4"/>
                    </a:solidFill>
                  </a:tcPr>
                </a:tc>
                <a:extLst>
                  <a:ext uri="{0D108BD9-81ED-4DB2-BD59-A6C34878D82A}">
                    <a16:rowId xmlns:a16="http://schemas.microsoft.com/office/drawing/2014/main" val="10001"/>
                  </a:ext>
                </a:extLst>
              </a:tr>
              <a:tr h="0">
                <a:tc>
                  <a:txBody>
                    <a:bodyPr/>
                    <a:lstStyle/>
                    <a:p>
                      <a:pPr marL="0" indent="0">
                        <a:buNone/>
                      </a:pPr>
                      <a:r>
                        <a:rPr lang="en-US" sz="1100" dirty="0">
                          <a:solidFill>
                            <a:srgbClr val="1F2D3A"/>
                          </a:solidFill>
                          <a:latin typeface="Calibri" pitchFamily="34" charset="0"/>
                          <a:ea typeface="Calibri" pitchFamily="34" charset="-122"/>
                          <a:cs typeface="Calibri" pitchFamily="34" charset="-120"/>
                        </a:rPr>
                        <a:t>Socket.IO</a:t>
                      </a:r>
                      <a:endParaRPr lang="en-US" sz="11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tc>
                  <a:txBody>
                    <a:bodyPr/>
                    <a:lstStyle/>
                    <a:p>
                      <a:pPr marL="0" indent="0">
                        <a:buNone/>
                      </a:pPr>
                      <a:r>
                        <a:rPr lang="en-US" sz="1100" dirty="0">
                          <a:solidFill>
                            <a:srgbClr val="1F2D3A"/>
                          </a:solidFill>
                          <a:latin typeface="Calibri" pitchFamily="34" charset="0"/>
                          <a:ea typeface="Calibri" pitchFamily="34" charset="-122"/>
                          <a:cs typeface="Calibri" pitchFamily="34" charset="-120"/>
                        </a:rPr>
                        <a:t>Auth, rooms, events with acks</a:t>
                      </a:r>
                      <a:endParaRPr lang="en-US" sz="11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100" dirty="0">
                          <a:solidFill>
                            <a:srgbClr val="1F2D3A"/>
                          </a:solidFill>
                          <a:latin typeface="Calibri" pitchFamily="34" charset="0"/>
                          <a:ea typeface="Calibri" pitchFamily="34" charset="-122"/>
                          <a:cs typeface="Calibri" pitchFamily="34" charset="-120"/>
                        </a:rPr>
                        <a:t>Services</a:t>
                      </a:r>
                      <a:endParaRPr lang="en-US" sz="11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EAF3F4"/>
                    </a:solidFill>
                  </a:tcPr>
                </a:tc>
                <a:tc>
                  <a:txBody>
                    <a:bodyPr/>
                    <a:lstStyle/>
                    <a:p>
                      <a:pPr marL="0" indent="0">
                        <a:buNone/>
                      </a:pPr>
                      <a:r>
                        <a:rPr lang="en-US" sz="1100" dirty="0">
                          <a:solidFill>
                            <a:srgbClr val="1F2D3A"/>
                          </a:solidFill>
                          <a:latin typeface="Calibri" pitchFamily="34" charset="0"/>
                          <a:ea typeface="Calibri" pitchFamily="34" charset="-122"/>
                          <a:cs typeface="Calibri" pitchFamily="34" charset="-120"/>
                        </a:rPr>
                        <a:t>Rules, permissions, workflow</a:t>
                      </a:r>
                      <a:endParaRPr lang="en-US" sz="11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EAF3F4"/>
                    </a:solidFill>
                  </a:tcPr>
                </a:tc>
                <a:extLst>
                  <a:ext uri="{0D108BD9-81ED-4DB2-BD59-A6C34878D82A}">
                    <a16:rowId xmlns:a16="http://schemas.microsoft.com/office/drawing/2014/main" val="10003"/>
                  </a:ext>
                </a:extLst>
              </a:tr>
              <a:tr h="0">
                <a:tc>
                  <a:txBody>
                    <a:bodyPr/>
                    <a:lstStyle/>
                    <a:p>
                      <a:pPr marL="0" indent="0">
                        <a:buNone/>
                      </a:pPr>
                      <a:r>
                        <a:rPr lang="en-US" sz="1100" dirty="0">
                          <a:solidFill>
                            <a:srgbClr val="1F2D3A"/>
                          </a:solidFill>
                          <a:latin typeface="Calibri" pitchFamily="34" charset="0"/>
                          <a:ea typeface="Calibri" pitchFamily="34" charset="-122"/>
                          <a:cs typeface="Calibri" pitchFamily="34" charset="-120"/>
                        </a:rPr>
                        <a:t>Models</a:t>
                      </a:r>
                      <a:endParaRPr lang="en-US" sz="11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tc>
                  <a:txBody>
                    <a:bodyPr/>
                    <a:lstStyle/>
                    <a:p>
                      <a:pPr marL="0" indent="0">
                        <a:buNone/>
                      </a:pPr>
                      <a:r>
                        <a:rPr lang="en-US" sz="1100" dirty="0">
                          <a:solidFill>
                            <a:srgbClr val="1F2D3A"/>
                          </a:solidFill>
                          <a:latin typeface="Calibri" pitchFamily="34" charset="0"/>
                          <a:ea typeface="Calibri" pitchFamily="34" charset="-122"/>
                          <a:cs typeface="Calibri" pitchFamily="34" charset="-120"/>
                        </a:rPr>
                        <a:t>SQLAlchemy tables</a:t>
                      </a:r>
                      <a:endParaRPr lang="en-US" sz="11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rgbClr val="0B2A3F"/>
                </a:solidFill>
                <a:latin typeface="Cambria" pitchFamily="34" charset="0"/>
                <a:ea typeface="Cambria" pitchFamily="34" charset="-122"/>
                <a:cs typeface="Cambria" pitchFamily="34" charset="-120"/>
              </a:rPr>
              <a:t>Network addressing and protocol stack</a:t>
            </a:r>
            <a:endParaRPr lang="en-US" sz="3000" dirty="0"/>
          </a:p>
        </p:txBody>
      </p:sp>
      <p:sp>
        <p:nvSpPr>
          <p:cNvPr id="3" name="Text 1"/>
          <p:cNvSpPr txBox="1"/>
          <p:nvPr/>
        </p:nvSpPr>
        <p:spPr>
          <a:xfrm>
            <a:off x="457200" y="4754880"/>
            <a:ext cx="4572000" cy="228600"/>
          </a:xfrm>
          <a:prstGeom prst="rect">
            <a:avLst/>
          </a:prstGeom>
          <a:noFill/>
          <a:ln/>
        </p:spPr>
        <p:txBody>
          <a:bodyPr wrap="square" lIns="0" tIns="0" rIns="0" bIns="0" rtlCol="0" anchor="ctr"/>
          <a:lstStyle/>
          <a:p>
            <a:pPr marL="0" indent="0">
              <a:buNone/>
            </a:pPr>
            <a:r>
              <a:rPr lang="en-US" sz="1000" dirty="0">
                <a:solidFill>
                  <a:srgbClr val="5B6B78"/>
                </a:solidFill>
                <a:latin typeface="Calibri" pitchFamily="34" charset="0"/>
                <a:ea typeface="Calibri" pitchFamily="34" charset="-122"/>
                <a:cs typeface="Calibri" pitchFamily="34" charset="-120"/>
              </a:rPr>
              <a:t>Campus Lab Helpdesk  |  BCSE308L</a:t>
            </a:r>
            <a:endParaRPr lang="en-US" sz="1000" dirty="0"/>
          </a:p>
        </p:txBody>
      </p:sp>
      <p:sp>
        <p:nvSpPr>
          <p:cNvPr id="4" name="Text 2"/>
          <p:cNvSpPr txBox="1"/>
          <p:nvPr/>
        </p:nvSpPr>
        <p:spPr>
          <a:xfrm>
            <a:off x="7772400" y="4754880"/>
            <a:ext cx="914400" cy="228600"/>
          </a:xfrm>
          <a:prstGeom prst="rect">
            <a:avLst/>
          </a:prstGeom>
          <a:noFill/>
          <a:ln/>
        </p:spPr>
        <p:txBody>
          <a:bodyPr wrap="square" lIns="0" tIns="0" rIns="0" bIns="0" rtlCol="0" anchor="ctr"/>
          <a:lstStyle/>
          <a:p>
            <a:pPr marL="0" indent="0" algn="r">
              <a:buNone/>
            </a:pPr>
            <a:r>
              <a:rPr lang="en-US" sz="1000" dirty="0">
                <a:solidFill>
                  <a:srgbClr val="5B6B78"/>
                </a:solidFill>
                <a:latin typeface="Calibri" pitchFamily="34" charset="0"/>
                <a:ea typeface="Calibri" pitchFamily="34" charset="-122"/>
                <a:cs typeface="Calibri" pitchFamily="34" charset="-120"/>
              </a:rPr>
              <a:t>9</a:t>
            </a:r>
            <a:endParaRPr lang="en-US" sz="1000" dirty="0"/>
          </a:p>
        </p:txBody>
      </p:sp>
      <p:pic>
        <p:nvPicPr>
          <p:cNvPr id="5" name="Image 0" descr="C:/Users/MEGHAN~1/AppData/Local/Temp/dk/img/03_image3.png"/>
          <p:cNvPicPr>
            <a:picLocks noChangeAspect="1"/>
          </p:cNvPicPr>
          <p:nvPr/>
        </p:nvPicPr>
        <p:blipFill>
          <a:blip r:embed="rId3"/>
          <a:stretch>
            <a:fillRect/>
          </a:stretch>
        </p:blipFill>
        <p:spPr>
          <a:xfrm>
            <a:off x="457200" y="1040317"/>
            <a:ext cx="4937760" cy="1942725"/>
          </a:xfrm>
          <a:prstGeom prst="rect">
            <a:avLst/>
          </a:prstGeom>
        </p:spPr>
      </p:pic>
      <p:sp>
        <p:nvSpPr>
          <p:cNvPr id="6" name="Text 3"/>
          <p:cNvSpPr txBox="1"/>
          <p:nvPr/>
        </p:nvSpPr>
        <p:spPr>
          <a:xfrm>
            <a:off x="457200" y="3063240"/>
            <a:ext cx="4937760" cy="274320"/>
          </a:xfrm>
          <a:prstGeom prst="rect">
            <a:avLst/>
          </a:prstGeom>
          <a:noFill/>
          <a:ln/>
        </p:spPr>
        <p:txBody>
          <a:bodyPr wrap="square" lIns="0" tIns="0" rIns="0" bIns="0" rtlCol="0" anchor="ctr"/>
          <a:lstStyle/>
          <a:p>
            <a:pPr marL="0" indent="0" algn="ctr">
              <a:buNone/>
            </a:pPr>
            <a:r>
              <a:rPr lang="en-US" sz="1100" i="1" dirty="0">
                <a:solidFill>
                  <a:srgbClr val="5B6B78"/>
                </a:solidFill>
                <a:latin typeface="Calibri" pitchFamily="34" charset="0"/>
                <a:ea typeface="Calibri" pitchFamily="34" charset="-122"/>
                <a:cs typeface="Calibri" pitchFamily="34" charset="-120"/>
              </a:rPr>
              <a:t>Figure 3.2: Protocol stack and server binding</a:t>
            </a:r>
            <a:endParaRPr lang="en-US" sz="1100" dirty="0"/>
          </a:p>
        </p:txBody>
      </p:sp>
      <p:sp>
        <p:nvSpPr>
          <p:cNvPr id="7" name="Shape 4"/>
          <p:cNvSpPr/>
          <p:nvPr/>
        </p:nvSpPr>
        <p:spPr>
          <a:xfrm>
            <a:off x="5577840" y="1005840"/>
            <a:ext cx="3108960" cy="3566160"/>
          </a:xfrm>
          <a:prstGeom prst="roundRect">
            <a:avLst>
              <a:gd name="adj" fmla="val 2353"/>
            </a:avLst>
          </a:prstGeom>
          <a:solidFill>
            <a:srgbClr val="EAF3F4"/>
          </a:solidFill>
          <a:ln w="12700">
            <a:solidFill>
              <a:srgbClr val="EAF3F4"/>
            </a:solidFill>
            <a:prstDash val="solid"/>
          </a:ln>
        </p:spPr>
      </p:sp>
      <p:sp>
        <p:nvSpPr>
          <p:cNvPr id="8" name="Text 5"/>
          <p:cNvSpPr txBox="1"/>
          <p:nvPr/>
        </p:nvSpPr>
        <p:spPr>
          <a:xfrm>
            <a:off x="5760720" y="1115568"/>
            <a:ext cx="2743200" cy="365760"/>
          </a:xfrm>
          <a:prstGeom prst="rect">
            <a:avLst/>
          </a:prstGeom>
          <a:noFill/>
          <a:ln/>
        </p:spPr>
        <p:txBody>
          <a:bodyPr wrap="square" lIns="0" tIns="0" rIns="0" bIns="0" rtlCol="0" anchor="t"/>
          <a:lstStyle/>
          <a:p>
            <a:pPr marL="0" indent="0">
              <a:buNone/>
            </a:pPr>
            <a:r>
              <a:rPr lang="en-US" sz="1600" b="1" dirty="0">
                <a:solidFill>
                  <a:srgbClr val="0E7C86"/>
                </a:solidFill>
                <a:latin typeface="Cambria" pitchFamily="34" charset="0"/>
                <a:ea typeface="Cambria" pitchFamily="34" charset="-122"/>
                <a:cs typeface="Cambria" pitchFamily="34" charset="-120"/>
              </a:rPr>
              <a:t>Binding</a:t>
            </a:r>
            <a:endParaRPr lang="en-US" sz="1600" dirty="0"/>
          </a:p>
        </p:txBody>
      </p:sp>
      <p:sp>
        <p:nvSpPr>
          <p:cNvPr id="9" name="Text 6"/>
          <p:cNvSpPr txBox="1"/>
          <p:nvPr/>
        </p:nvSpPr>
        <p:spPr>
          <a:xfrm>
            <a:off x="5760720" y="1508760"/>
            <a:ext cx="2743200" cy="2971800"/>
          </a:xfrm>
          <a:prstGeom prst="rect">
            <a:avLst/>
          </a:prstGeom>
          <a:noFill/>
          <a:ln/>
        </p:spPr>
        <p:txBody>
          <a:bodyPr wrap="square" lIns="0" tIns="0" rIns="0" bIns="0" rtlCol="0" anchor="t"/>
          <a:lstStyle/>
          <a:p>
            <a:pPr marL="0" indent="0">
              <a:buNone/>
            </a:pPr>
            <a:r>
              <a:rPr lang="en-US" sz="1300" dirty="0">
                <a:solidFill>
                  <a:srgbClr val="1F2D3A"/>
                </a:solidFill>
                <a:latin typeface="Calibri" pitchFamily="34" charset="0"/>
                <a:ea typeface="Calibri" pitchFamily="34" charset="-122"/>
                <a:cs typeface="Calibri" pitchFamily="34" charset="-120"/>
              </a:rPr>
              <a:t>Server listens on 0.0.0.0:5000, meaning every interface: loopback 127.0.0.1 plus the LAN address. Binding to 127.0.0.1 only would block other PCs. Clients open http://&lt;server LAN IP&gt;:5000. Start-up detects LAN IPs with a UDP connect that sends no packets, so it works offline.</a:t>
            </a:r>
            <a:endParaRPr lang="en-US" sz="1300" dirty="0"/>
          </a:p>
        </p:txBody>
      </p:sp>
      <p:sp>
        <p:nvSpPr>
          <p:cNvPr id="10" name="Text 7"/>
          <p:cNvSpPr txBox="1"/>
          <p:nvPr/>
        </p:nvSpPr>
        <p:spPr>
          <a:xfrm>
            <a:off x="457200" y="3474720"/>
            <a:ext cx="4937760" cy="9144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F2D3A"/>
                </a:solidFill>
                <a:latin typeface="Calibri" pitchFamily="34" charset="0"/>
                <a:ea typeface="Calibri" pitchFamily="34" charset="-122"/>
                <a:cs typeface="Calibri" pitchFamily="34" charset="-120"/>
              </a:rPr>
              <a:t>Private IPv4 ranges (RFC 1918) stay inside the lab</a:t>
            </a:r>
            <a:endParaRPr lang="en-US" sz="1300" dirty="0"/>
          </a:p>
          <a:p>
            <a:pPr marL="342900" indent="-342900">
              <a:spcAft>
                <a:spcPts val="600"/>
              </a:spcAft>
              <a:buSzPct val="100000"/>
              <a:buChar char="•"/>
            </a:pPr>
            <a:r>
              <a:rPr lang="en-US" sz="1300" dirty="0">
                <a:solidFill>
                  <a:srgbClr val="1F2D3A"/>
                </a:solidFill>
                <a:latin typeface="Calibri" pitchFamily="34" charset="0"/>
                <a:ea typeface="Calibri" pitchFamily="34" charset="-122"/>
                <a:cs typeface="Calibri" pitchFamily="34" charset="-120"/>
              </a:rPr>
              <a:t>TCP gives ordered, reliable delivery</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rgbClr val="0B2A3F"/>
                </a:solidFill>
                <a:latin typeface="Cambria" pitchFamily="34" charset="0"/>
                <a:ea typeface="Cambria" pitchFamily="34" charset="-122"/>
                <a:cs typeface="Cambria" pitchFamily="34" charset="-120"/>
              </a:rPr>
              <a:t>Module description</a:t>
            </a:r>
            <a:endParaRPr lang="en-US" sz="3000" dirty="0"/>
          </a:p>
        </p:txBody>
      </p:sp>
      <p:sp>
        <p:nvSpPr>
          <p:cNvPr id="3" name="Text 1"/>
          <p:cNvSpPr txBox="1"/>
          <p:nvPr/>
        </p:nvSpPr>
        <p:spPr>
          <a:xfrm>
            <a:off x="457200" y="4754880"/>
            <a:ext cx="4572000" cy="228600"/>
          </a:xfrm>
          <a:prstGeom prst="rect">
            <a:avLst/>
          </a:prstGeom>
          <a:noFill/>
          <a:ln/>
        </p:spPr>
        <p:txBody>
          <a:bodyPr wrap="square" lIns="0" tIns="0" rIns="0" bIns="0" rtlCol="0" anchor="ctr"/>
          <a:lstStyle/>
          <a:p>
            <a:pPr marL="0" indent="0">
              <a:buNone/>
            </a:pPr>
            <a:r>
              <a:rPr lang="en-US" sz="1000" dirty="0">
                <a:solidFill>
                  <a:srgbClr val="5B6B78"/>
                </a:solidFill>
                <a:latin typeface="Calibri" pitchFamily="34" charset="0"/>
                <a:ea typeface="Calibri" pitchFamily="34" charset="-122"/>
                <a:cs typeface="Calibri" pitchFamily="34" charset="-120"/>
              </a:rPr>
              <a:t>Campus Lab Helpdesk  |  BCSE308L</a:t>
            </a:r>
            <a:endParaRPr lang="en-US" sz="1000" dirty="0"/>
          </a:p>
        </p:txBody>
      </p:sp>
      <p:sp>
        <p:nvSpPr>
          <p:cNvPr id="4" name="Text 2"/>
          <p:cNvSpPr txBox="1"/>
          <p:nvPr/>
        </p:nvSpPr>
        <p:spPr>
          <a:xfrm>
            <a:off x="7772400" y="4754880"/>
            <a:ext cx="914400" cy="228600"/>
          </a:xfrm>
          <a:prstGeom prst="rect">
            <a:avLst/>
          </a:prstGeom>
          <a:noFill/>
          <a:ln/>
        </p:spPr>
        <p:txBody>
          <a:bodyPr wrap="square" lIns="0" tIns="0" rIns="0" bIns="0" rtlCol="0" anchor="ctr"/>
          <a:lstStyle/>
          <a:p>
            <a:pPr marL="0" indent="0" algn="r">
              <a:buNone/>
            </a:pPr>
            <a:r>
              <a:rPr lang="en-US" sz="1000" dirty="0">
                <a:solidFill>
                  <a:srgbClr val="5B6B78"/>
                </a:solidFill>
                <a:latin typeface="Calibri" pitchFamily="34" charset="0"/>
                <a:ea typeface="Calibri" pitchFamily="34" charset="-122"/>
                <a:cs typeface="Calibri" pitchFamily="34" charset="-120"/>
              </a:rPr>
              <a:t>10</a:t>
            </a:r>
            <a:endParaRPr lang="en-US" sz="1000" dirty="0"/>
          </a:p>
        </p:txBody>
      </p:sp>
      <p:sp>
        <p:nvSpPr>
          <p:cNvPr id="5" name="Shape 3"/>
          <p:cNvSpPr/>
          <p:nvPr/>
        </p:nvSpPr>
        <p:spPr>
          <a:xfrm>
            <a:off x="457200" y="1005840"/>
            <a:ext cx="2651760" cy="1097280"/>
          </a:xfrm>
          <a:prstGeom prst="roundRect">
            <a:avLst>
              <a:gd name="adj" fmla="val 6667"/>
            </a:avLst>
          </a:prstGeom>
          <a:solidFill>
            <a:srgbClr val="EAF3F4"/>
          </a:solidFill>
          <a:ln w="12700">
            <a:solidFill>
              <a:srgbClr val="EAF3F4"/>
            </a:solidFill>
            <a:prstDash val="solid"/>
          </a:ln>
        </p:spPr>
      </p:sp>
      <p:sp>
        <p:nvSpPr>
          <p:cNvPr id="6" name="Text 4"/>
          <p:cNvSpPr txBox="1"/>
          <p:nvPr/>
        </p:nvSpPr>
        <p:spPr>
          <a:xfrm>
            <a:off x="640080" y="1115568"/>
            <a:ext cx="2286000" cy="365760"/>
          </a:xfrm>
          <a:prstGeom prst="rect">
            <a:avLst/>
          </a:prstGeom>
          <a:noFill/>
          <a:ln/>
        </p:spPr>
        <p:txBody>
          <a:bodyPr wrap="square" lIns="0" tIns="0" rIns="0" bIns="0" rtlCol="0" anchor="t"/>
          <a:lstStyle/>
          <a:p>
            <a:pPr marL="0" indent="0">
              <a:buNone/>
            </a:pPr>
            <a:r>
              <a:rPr lang="en-US" sz="1400" b="1" dirty="0">
                <a:solidFill>
                  <a:srgbClr val="0E7C86"/>
                </a:solidFill>
                <a:latin typeface="Cambria" pitchFamily="34" charset="0"/>
                <a:ea typeface="Cambria" pitchFamily="34" charset="-122"/>
                <a:cs typeface="Cambria" pitchFamily="34" charset="-120"/>
              </a:rPr>
              <a:t>Authentication</a:t>
            </a:r>
            <a:endParaRPr lang="en-US" sz="1400" dirty="0"/>
          </a:p>
        </p:txBody>
      </p:sp>
      <p:sp>
        <p:nvSpPr>
          <p:cNvPr id="7" name="Text 5"/>
          <p:cNvSpPr txBox="1"/>
          <p:nvPr/>
        </p:nvSpPr>
        <p:spPr>
          <a:xfrm>
            <a:off x="640080" y="1508760"/>
            <a:ext cx="2286000" cy="502920"/>
          </a:xfrm>
          <a:prstGeom prst="rect">
            <a:avLst/>
          </a:prstGeom>
          <a:noFill/>
          <a:ln/>
        </p:spPr>
        <p:txBody>
          <a:bodyPr wrap="square" lIns="0" tIns="0" rIns="0" bIns="0" rtlCol="0" anchor="t"/>
          <a:lstStyle/>
          <a:p>
            <a:pPr marL="0" indent="0">
              <a:buNone/>
            </a:pPr>
            <a:r>
              <a:rPr lang="en-US" sz="1200" dirty="0">
                <a:solidFill>
                  <a:srgbClr val="1F2D3A"/>
                </a:solidFill>
                <a:latin typeface="Calibri" pitchFamily="34" charset="0"/>
                <a:ea typeface="Calibri" pitchFamily="34" charset="-122"/>
                <a:cs typeface="Calibri" pitchFamily="34" charset="-120"/>
              </a:rPr>
              <a:t>Hashed passwords, signed sessions, role decorators</a:t>
            </a:r>
            <a:endParaRPr lang="en-US" sz="1200" dirty="0"/>
          </a:p>
        </p:txBody>
      </p:sp>
      <p:sp>
        <p:nvSpPr>
          <p:cNvPr id="8" name="Shape 6"/>
          <p:cNvSpPr/>
          <p:nvPr/>
        </p:nvSpPr>
        <p:spPr>
          <a:xfrm>
            <a:off x="3246120" y="1005840"/>
            <a:ext cx="2651760" cy="1097280"/>
          </a:xfrm>
          <a:prstGeom prst="roundRect">
            <a:avLst>
              <a:gd name="adj" fmla="val 6667"/>
            </a:avLst>
          </a:prstGeom>
          <a:solidFill>
            <a:srgbClr val="EAF3F4"/>
          </a:solidFill>
          <a:ln w="12700">
            <a:solidFill>
              <a:srgbClr val="EAF3F4"/>
            </a:solidFill>
            <a:prstDash val="solid"/>
          </a:ln>
        </p:spPr>
      </p:sp>
      <p:sp>
        <p:nvSpPr>
          <p:cNvPr id="9" name="Text 7"/>
          <p:cNvSpPr txBox="1"/>
          <p:nvPr/>
        </p:nvSpPr>
        <p:spPr>
          <a:xfrm>
            <a:off x="3429000" y="1115568"/>
            <a:ext cx="2286000" cy="365760"/>
          </a:xfrm>
          <a:prstGeom prst="rect">
            <a:avLst/>
          </a:prstGeom>
          <a:noFill/>
          <a:ln/>
        </p:spPr>
        <p:txBody>
          <a:bodyPr wrap="square" lIns="0" tIns="0" rIns="0" bIns="0" rtlCol="0" anchor="t"/>
          <a:lstStyle/>
          <a:p>
            <a:pPr marL="0" indent="0">
              <a:buNone/>
            </a:pPr>
            <a:r>
              <a:rPr lang="en-US" sz="1400" b="1" dirty="0">
                <a:solidFill>
                  <a:srgbClr val="0E7C86"/>
                </a:solidFill>
                <a:latin typeface="Cambria" pitchFamily="34" charset="0"/>
                <a:ea typeface="Cambria" pitchFamily="34" charset="-122"/>
                <a:cs typeface="Cambria" pitchFamily="34" charset="-120"/>
              </a:rPr>
              <a:t>Ticket service</a:t>
            </a:r>
            <a:endParaRPr lang="en-US" sz="1400" dirty="0"/>
          </a:p>
        </p:txBody>
      </p:sp>
      <p:sp>
        <p:nvSpPr>
          <p:cNvPr id="10" name="Text 8"/>
          <p:cNvSpPr txBox="1"/>
          <p:nvPr/>
        </p:nvSpPr>
        <p:spPr>
          <a:xfrm>
            <a:off x="3429000" y="1508760"/>
            <a:ext cx="2286000" cy="502920"/>
          </a:xfrm>
          <a:prstGeom prst="rect">
            <a:avLst/>
          </a:prstGeom>
          <a:noFill/>
          <a:ln/>
        </p:spPr>
        <p:txBody>
          <a:bodyPr wrap="square" lIns="0" tIns="0" rIns="0" bIns="0" rtlCol="0" anchor="t"/>
          <a:lstStyle/>
          <a:p>
            <a:pPr marL="0" indent="0">
              <a:buNone/>
            </a:pPr>
            <a:r>
              <a:rPr lang="en-US" sz="1200" dirty="0">
                <a:solidFill>
                  <a:srgbClr val="1F2D3A"/>
                </a:solidFill>
                <a:latin typeface="Calibri" pitchFamily="34" charset="0"/>
                <a:ea typeface="Calibri" pitchFamily="34" charset="-122"/>
                <a:cs typeface="Calibri" pitchFamily="34" charset="-120"/>
              </a:rPr>
              <a:t>LAB-00NN numbers, ownership, filters, workflow, messages</a:t>
            </a:r>
            <a:endParaRPr lang="en-US" sz="1200" dirty="0"/>
          </a:p>
        </p:txBody>
      </p:sp>
      <p:sp>
        <p:nvSpPr>
          <p:cNvPr id="11" name="Shape 9"/>
          <p:cNvSpPr/>
          <p:nvPr/>
        </p:nvSpPr>
        <p:spPr>
          <a:xfrm>
            <a:off x="6035040" y="1005840"/>
            <a:ext cx="2651760" cy="1097280"/>
          </a:xfrm>
          <a:prstGeom prst="roundRect">
            <a:avLst>
              <a:gd name="adj" fmla="val 6667"/>
            </a:avLst>
          </a:prstGeom>
          <a:solidFill>
            <a:srgbClr val="EAF3F4"/>
          </a:solidFill>
          <a:ln w="12700">
            <a:solidFill>
              <a:srgbClr val="EAF3F4"/>
            </a:solidFill>
            <a:prstDash val="solid"/>
          </a:ln>
        </p:spPr>
      </p:sp>
      <p:sp>
        <p:nvSpPr>
          <p:cNvPr id="12" name="Text 10"/>
          <p:cNvSpPr txBox="1"/>
          <p:nvPr/>
        </p:nvSpPr>
        <p:spPr>
          <a:xfrm>
            <a:off x="6217920" y="1115568"/>
            <a:ext cx="2286000" cy="365760"/>
          </a:xfrm>
          <a:prstGeom prst="rect">
            <a:avLst/>
          </a:prstGeom>
          <a:noFill/>
          <a:ln/>
        </p:spPr>
        <p:txBody>
          <a:bodyPr wrap="square" lIns="0" tIns="0" rIns="0" bIns="0" rtlCol="0" anchor="t"/>
          <a:lstStyle/>
          <a:p>
            <a:pPr marL="0" indent="0">
              <a:buNone/>
            </a:pPr>
            <a:r>
              <a:rPr lang="en-US" sz="1400" b="1" dirty="0">
                <a:solidFill>
                  <a:srgbClr val="0E7C86"/>
                </a:solidFill>
                <a:latin typeface="Cambria" pitchFamily="34" charset="0"/>
                <a:ea typeface="Cambria" pitchFamily="34" charset="-122"/>
                <a:cs typeface="Cambria" pitchFamily="34" charset="-120"/>
              </a:rPr>
              <a:t>Announcements</a:t>
            </a:r>
            <a:endParaRPr lang="en-US" sz="1400" dirty="0"/>
          </a:p>
        </p:txBody>
      </p:sp>
      <p:sp>
        <p:nvSpPr>
          <p:cNvPr id="13" name="Text 11"/>
          <p:cNvSpPr txBox="1"/>
          <p:nvPr/>
        </p:nvSpPr>
        <p:spPr>
          <a:xfrm>
            <a:off x="6217920" y="1508760"/>
            <a:ext cx="2286000" cy="502920"/>
          </a:xfrm>
          <a:prstGeom prst="rect">
            <a:avLst/>
          </a:prstGeom>
          <a:noFill/>
          <a:ln/>
        </p:spPr>
        <p:txBody>
          <a:bodyPr wrap="square" lIns="0" tIns="0" rIns="0" bIns="0" rtlCol="0" anchor="t"/>
          <a:lstStyle/>
          <a:p>
            <a:pPr marL="0" indent="0">
              <a:buNone/>
            </a:pPr>
            <a:r>
              <a:rPr lang="en-US" sz="1200" dirty="0">
                <a:solidFill>
                  <a:srgbClr val="1F2D3A"/>
                </a:solidFill>
                <a:latin typeface="Calibri" pitchFamily="34" charset="0"/>
                <a:ea typeface="Calibri" pitchFamily="34" charset="-122"/>
                <a:cs typeface="Calibri" pitchFamily="34" charset="-120"/>
              </a:rPr>
              <a:t>Publish, edit, delete; everyone reads</a:t>
            </a:r>
            <a:endParaRPr lang="en-US" sz="1200" dirty="0"/>
          </a:p>
        </p:txBody>
      </p:sp>
      <p:sp>
        <p:nvSpPr>
          <p:cNvPr id="14" name="Shape 12"/>
          <p:cNvSpPr/>
          <p:nvPr/>
        </p:nvSpPr>
        <p:spPr>
          <a:xfrm>
            <a:off x="457200" y="2194560"/>
            <a:ext cx="2651760" cy="1097280"/>
          </a:xfrm>
          <a:prstGeom prst="roundRect">
            <a:avLst>
              <a:gd name="adj" fmla="val 6667"/>
            </a:avLst>
          </a:prstGeom>
          <a:solidFill>
            <a:srgbClr val="EAF3F4"/>
          </a:solidFill>
          <a:ln w="12700">
            <a:solidFill>
              <a:srgbClr val="EAF3F4"/>
            </a:solidFill>
            <a:prstDash val="solid"/>
          </a:ln>
        </p:spPr>
      </p:sp>
      <p:sp>
        <p:nvSpPr>
          <p:cNvPr id="15" name="Text 13"/>
          <p:cNvSpPr txBox="1"/>
          <p:nvPr/>
        </p:nvSpPr>
        <p:spPr>
          <a:xfrm>
            <a:off x="640080" y="2304288"/>
            <a:ext cx="2286000" cy="365760"/>
          </a:xfrm>
          <a:prstGeom prst="rect">
            <a:avLst/>
          </a:prstGeom>
          <a:noFill/>
          <a:ln/>
        </p:spPr>
        <p:txBody>
          <a:bodyPr wrap="square" lIns="0" tIns="0" rIns="0" bIns="0" rtlCol="0" anchor="t"/>
          <a:lstStyle/>
          <a:p>
            <a:pPr marL="0" indent="0">
              <a:buNone/>
            </a:pPr>
            <a:r>
              <a:rPr lang="en-US" sz="1400" b="1" dirty="0">
                <a:solidFill>
                  <a:srgbClr val="0E7C86"/>
                </a:solidFill>
                <a:latin typeface="Cambria" pitchFamily="34" charset="0"/>
                <a:ea typeface="Cambria" pitchFamily="34" charset="-122"/>
                <a:cs typeface="Cambria" pitchFamily="34" charset="-120"/>
              </a:rPr>
              <a:t>Statistics</a:t>
            </a:r>
            <a:endParaRPr lang="en-US" sz="1400" dirty="0"/>
          </a:p>
        </p:txBody>
      </p:sp>
      <p:sp>
        <p:nvSpPr>
          <p:cNvPr id="16" name="Text 14"/>
          <p:cNvSpPr txBox="1"/>
          <p:nvPr/>
        </p:nvSpPr>
        <p:spPr>
          <a:xfrm>
            <a:off x="640080" y="2697480"/>
            <a:ext cx="2286000" cy="502920"/>
          </a:xfrm>
          <a:prstGeom prst="rect">
            <a:avLst/>
          </a:prstGeom>
          <a:noFill/>
          <a:ln/>
        </p:spPr>
        <p:txBody>
          <a:bodyPr wrap="square" lIns="0" tIns="0" rIns="0" bIns="0" rtlCol="0" anchor="t"/>
          <a:lstStyle/>
          <a:p>
            <a:pPr marL="0" indent="0">
              <a:buNone/>
            </a:pPr>
            <a:r>
              <a:rPr lang="en-US" sz="1200" dirty="0">
                <a:solidFill>
                  <a:srgbClr val="1F2D3A"/>
                </a:solidFill>
                <a:latin typeface="Calibri" pitchFamily="34" charset="0"/>
                <a:ea typeface="Calibri" pitchFamily="34" charset="-122"/>
                <a:cs typeface="Calibri" pitchFamily="34" charset="-120"/>
              </a:rPr>
              <a:t>Dashboard counts per student or whole lab</a:t>
            </a:r>
            <a:endParaRPr lang="en-US" sz="1200" dirty="0"/>
          </a:p>
        </p:txBody>
      </p:sp>
      <p:sp>
        <p:nvSpPr>
          <p:cNvPr id="17" name="Shape 15"/>
          <p:cNvSpPr/>
          <p:nvPr/>
        </p:nvSpPr>
        <p:spPr>
          <a:xfrm>
            <a:off x="3246120" y="2194560"/>
            <a:ext cx="2651760" cy="1097280"/>
          </a:xfrm>
          <a:prstGeom prst="roundRect">
            <a:avLst>
              <a:gd name="adj" fmla="val 6667"/>
            </a:avLst>
          </a:prstGeom>
          <a:solidFill>
            <a:srgbClr val="EAF3F4"/>
          </a:solidFill>
          <a:ln w="12700">
            <a:solidFill>
              <a:srgbClr val="EAF3F4"/>
            </a:solidFill>
            <a:prstDash val="solid"/>
          </a:ln>
        </p:spPr>
      </p:sp>
      <p:sp>
        <p:nvSpPr>
          <p:cNvPr id="18" name="Text 16"/>
          <p:cNvSpPr txBox="1"/>
          <p:nvPr/>
        </p:nvSpPr>
        <p:spPr>
          <a:xfrm>
            <a:off x="3429000" y="2304288"/>
            <a:ext cx="2286000" cy="365760"/>
          </a:xfrm>
          <a:prstGeom prst="rect">
            <a:avLst/>
          </a:prstGeom>
          <a:noFill/>
          <a:ln/>
        </p:spPr>
        <p:txBody>
          <a:bodyPr wrap="square" lIns="0" tIns="0" rIns="0" bIns="0" rtlCol="0" anchor="t"/>
          <a:lstStyle/>
          <a:p>
            <a:pPr marL="0" indent="0">
              <a:buNone/>
            </a:pPr>
            <a:r>
              <a:rPr lang="en-US" sz="1400" b="1" dirty="0">
                <a:solidFill>
                  <a:srgbClr val="0E7C86"/>
                </a:solidFill>
                <a:latin typeface="Cambria" pitchFamily="34" charset="0"/>
                <a:ea typeface="Cambria" pitchFamily="34" charset="-122"/>
                <a:cs typeface="Cambria" pitchFamily="34" charset="-120"/>
              </a:rPr>
              <a:t>Network service</a:t>
            </a:r>
            <a:endParaRPr lang="en-US" sz="1400" dirty="0"/>
          </a:p>
        </p:txBody>
      </p:sp>
      <p:sp>
        <p:nvSpPr>
          <p:cNvPr id="19" name="Text 17"/>
          <p:cNvSpPr txBox="1"/>
          <p:nvPr/>
        </p:nvSpPr>
        <p:spPr>
          <a:xfrm>
            <a:off x="3429000" y="2697480"/>
            <a:ext cx="2286000" cy="502920"/>
          </a:xfrm>
          <a:prstGeom prst="rect">
            <a:avLst/>
          </a:prstGeom>
          <a:noFill/>
          <a:ln/>
        </p:spPr>
        <p:txBody>
          <a:bodyPr wrap="square" lIns="0" tIns="0" rIns="0" bIns="0" rtlCol="0" anchor="t"/>
          <a:lstStyle/>
          <a:p>
            <a:pPr marL="0" indent="0">
              <a:buNone/>
            </a:pPr>
            <a:r>
              <a:rPr lang="en-US" sz="1200" dirty="0">
                <a:solidFill>
                  <a:srgbClr val="1F2D3A"/>
                </a:solidFill>
                <a:latin typeface="Calibri" pitchFamily="34" charset="0"/>
                <a:ea typeface="Calibri" pitchFamily="34" charset="-122"/>
                <a:cs typeface="Calibri" pitchFamily="34" charset="-120"/>
              </a:rPr>
              <a:t>LAN addresses, bind, heartbeat, stack</a:t>
            </a:r>
            <a:endParaRPr lang="en-US" sz="1200" dirty="0"/>
          </a:p>
        </p:txBody>
      </p:sp>
      <p:sp>
        <p:nvSpPr>
          <p:cNvPr id="20" name="Shape 18"/>
          <p:cNvSpPr/>
          <p:nvPr/>
        </p:nvSpPr>
        <p:spPr>
          <a:xfrm>
            <a:off x="6035040" y="2194560"/>
            <a:ext cx="2651760" cy="1097280"/>
          </a:xfrm>
          <a:prstGeom prst="roundRect">
            <a:avLst>
              <a:gd name="adj" fmla="val 6667"/>
            </a:avLst>
          </a:prstGeom>
          <a:solidFill>
            <a:srgbClr val="EAF3F4"/>
          </a:solidFill>
          <a:ln w="12700">
            <a:solidFill>
              <a:srgbClr val="EAF3F4"/>
            </a:solidFill>
            <a:prstDash val="solid"/>
          </a:ln>
        </p:spPr>
      </p:sp>
      <p:sp>
        <p:nvSpPr>
          <p:cNvPr id="21" name="Text 19"/>
          <p:cNvSpPr txBox="1"/>
          <p:nvPr/>
        </p:nvSpPr>
        <p:spPr>
          <a:xfrm>
            <a:off x="6217920" y="2304288"/>
            <a:ext cx="2286000" cy="365760"/>
          </a:xfrm>
          <a:prstGeom prst="rect">
            <a:avLst/>
          </a:prstGeom>
          <a:noFill/>
          <a:ln/>
        </p:spPr>
        <p:txBody>
          <a:bodyPr wrap="square" lIns="0" tIns="0" rIns="0" bIns="0" rtlCol="0" anchor="t"/>
          <a:lstStyle/>
          <a:p>
            <a:pPr marL="0" indent="0">
              <a:buNone/>
            </a:pPr>
            <a:r>
              <a:rPr lang="en-US" sz="1400" b="1" dirty="0">
                <a:solidFill>
                  <a:srgbClr val="0E7C86"/>
                </a:solidFill>
                <a:latin typeface="Cambria" pitchFamily="34" charset="0"/>
                <a:ea typeface="Cambria" pitchFamily="34" charset="-122"/>
                <a:cs typeface="Cambria" pitchFamily="34" charset="-120"/>
              </a:rPr>
              <a:t>Socket.IO layer</a:t>
            </a:r>
            <a:endParaRPr lang="en-US" sz="1400" dirty="0"/>
          </a:p>
        </p:txBody>
      </p:sp>
      <p:sp>
        <p:nvSpPr>
          <p:cNvPr id="22" name="Text 20"/>
          <p:cNvSpPr txBox="1"/>
          <p:nvPr/>
        </p:nvSpPr>
        <p:spPr>
          <a:xfrm>
            <a:off x="6217920" y="2697480"/>
            <a:ext cx="2286000" cy="502920"/>
          </a:xfrm>
          <a:prstGeom prst="rect">
            <a:avLst/>
          </a:prstGeom>
          <a:noFill/>
          <a:ln/>
        </p:spPr>
        <p:txBody>
          <a:bodyPr wrap="square" lIns="0" tIns="0" rIns="0" bIns="0" rtlCol="0" anchor="t"/>
          <a:lstStyle/>
          <a:p>
            <a:pPr marL="0" indent="0">
              <a:buNone/>
            </a:pPr>
            <a:r>
              <a:rPr lang="en-US" sz="1200" dirty="0">
                <a:solidFill>
                  <a:srgbClr val="1F2D3A"/>
                </a:solidFill>
                <a:latin typeface="Calibri" pitchFamily="34" charset="0"/>
                <a:ea typeface="Calibri" pitchFamily="34" charset="-122"/>
                <a:cs typeface="Calibri" pitchFamily="34" charset="-120"/>
              </a:rPr>
              <a:t>Refuses anonymous, rooms, acked events</a:t>
            </a:r>
            <a:endParaRPr lang="en-US" sz="1200" dirty="0"/>
          </a:p>
        </p:txBody>
      </p:sp>
      <p:sp>
        <p:nvSpPr>
          <p:cNvPr id="23" name="Shape 21"/>
          <p:cNvSpPr/>
          <p:nvPr/>
        </p:nvSpPr>
        <p:spPr>
          <a:xfrm>
            <a:off x="457200" y="3383280"/>
            <a:ext cx="2651760" cy="1097280"/>
          </a:xfrm>
          <a:prstGeom prst="roundRect">
            <a:avLst>
              <a:gd name="adj" fmla="val 6667"/>
            </a:avLst>
          </a:prstGeom>
          <a:solidFill>
            <a:srgbClr val="EAF3F4"/>
          </a:solidFill>
          <a:ln w="12700">
            <a:solidFill>
              <a:srgbClr val="EAF3F4"/>
            </a:solidFill>
            <a:prstDash val="solid"/>
          </a:ln>
        </p:spPr>
      </p:sp>
      <p:sp>
        <p:nvSpPr>
          <p:cNvPr id="24" name="Text 22"/>
          <p:cNvSpPr txBox="1"/>
          <p:nvPr/>
        </p:nvSpPr>
        <p:spPr>
          <a:xfrm>
            <a:off x="640080" y="3493008"/>
            <a:ext cx="2286000" cy="365760"/>
          </a:xfrm>
          <a:prstGeom prst="rect">
            <a:avLst/>
          </a:prstGeom>
          <a:noFill/>
          <a:ln/>
        </p:spPr>
        <p:txBody>
          <a:bodyPr wrap="square" lIns="0" tIns="0" rIns="0" bIns="0" rtlCol="0" anchor="t"/>
          <a:lstStyle/>
          <a:p>
            <a:pPr marL="0" indent="0">
              <a:buNone/>
            </a:pPr>
            <a:r>
              <a:rPr lang="en-US" sz="1400" b="1" dirty="0">
                <a:solidFill>
                  <a:srgbClr val="0E7C86"/>
                </a:solidFill>
                <a:latin typeface="Cambria" pitchFamily="34" charset="0"/>
                <a:ea typeface="Cambria" pitchFamily="34" charset="-122"/>
                <a:cs typeface="Cambria" pitchFamily="34" charset="-120"/>
              </a:rPr>
              <a:t>Real-time broadcasts</a:t>
            </a:r>
            <a:endParaRPr lang="en-US" sz="1400" dirty="0"/>
          </a:p>
        </p:txBody>
      </p:sp>
      <p:sp>
        <p:nvSpPr>
          <p:cNvPr id="25" name="Text 23"/>
          <p:cNvSpPr txBox="1"/>
          <p:nvPr/>
        </p:nvSpPr>
        <p:spPr>
          <a:xfrm>
            <a:off x="640080" y="3886200"/>
            <a:ext cx="2286000" cy="502920"/>
          </a:xfrm>
          <a:prstGeom prst="rect">
            <a:avLst/>
          </a:prstGeom>
          <a:noFill/>
          <a:ln/>
        </p:spPr>
        <p:txBody>
          <a:bodyPr wrap="square" lIns="0" tIns="0" rIns="0" bIns="0" rtlCol="0" anchor="t"/>
          <a:lstStyle/>
          <a:p>
            <a:pPr marL="0" indent="0">
              <a:buNone/>
            </a:pPr>
            <a:r>
              <a:rPr lang="en-US" sz="1200" dirty="0">
                <a:solidFill>
                  <a:srgbClr val="1F2D3A"/>
                </a:solidFill>
                <a:latin typeface="Calibri" pitchFamily="34" charset="0"/>
                <a:ea typeface="Calibri" pitchFamily="34" charset="-122"/>
                <a:cs typeface="Calibri" pitchFamily="34" charset="-120"/>
              </a:rPr>
              <a:t>ticket, notification, stats, announcement events</a:t>
            </a:r>
            <a:endParaRPr lang="en-US" sz="1200" dirty="0"/>
          </a:p>
        </p:txBody>
      </p:sp>
      <p:sp>
        <p:nvSpPr>
          <p:cNvPr id="26" name="Shape 24"/>
          <p:cNvSpPr/>
          <p:nvPr/>
        </p:nvSpPr>
        <p:spPr>
          <a:xfrm>
            <a:off x="3246120" y="3383280"/>
            <a:ext cx="2651760" cy="1097280"/>
          </a:xfrm>
          <a:prstGeom prst="roundRect">
            <a:avLst>
              <a:gd name="adj" fmla="val 6667"/>
            </a:avLst>
          </a:prstGeom>
          <a:solidFill>
            <a:srgbClr val="EAF3F4"/>
          </a:solidFill>
          <a:ln w="12700">
            <a:solidFill>
              <a:srgbClr val="EAF3F4"/>
            </a:solidFill>
            <a:prstDash val="solid"/>
          </a:ln>
        </p:spPr>
      </p:sp>
      <p:sp>
        <p:nvSpPr>
          <p:cNvPr id="27" name="Text 25"/>
          <p:cNvSpPr txBox="1"/>
          <p:nvPr/>
        </p:nvSpPr>
        <p:spPr>
          <a:xfrm>
            <a:off x="3429000" y="3493008"/>
            <a:ext cx="2286000" cy="365760"/>
          </a:xfrm>
          <a:prstGeom prst="rect">
            <a:avLst/>
          </a:prstGeom>
          <a:noFill/>
          <a:ln/>
        </p:spPr>
        <p:txBody>
          <a:bodyPr wrap="square" lIns="0" tIns="0" rIns="0" bIns="0" rtlCol="0" anchor="t"/>
          <a:lstStyle/>
          <a:p>
            <a:pPr marL="0" indent="0">
              <a:buNone/>
            </a:pPr>
            <a:r>
              <a:rPr lang="en-US" sz="1400" b="1" dirty="0">
                <a:solidFill>
                  <a:srgbClr val="0E7C86"/>
                </a:solidFill>
                <a:latin typeface="Cambria" pitchFamily="34" charset="0"/>
                <a:ea typeface="Cambria" pitchFamily="34" charset="-122"/>
                <a:cs typeface="Cambria" pitchFamily="34" charset="-120"/>
              </a:rPr>
              <a:t>Presence</a:t>
            </a:r>
            <a:endParaRPr lang="en-US" sz="1400" dirty="0"/>
          </a:p>
        </p:txBody>
      </p:sp>
      <p:sp>
        <p:nvSpPr>
          <p:cNvPr id="28" name="Text 26"/>
          <p:cNvSpPr txBox="1"/>
          <p:nvPr/>
        </p:nvSpPr>
        <p:spPr>
          <a:xfrm>
            <a:off x="3429000" y="3886200"/>
            <a:ext cx="2286000" cy="502920"/>
          </a:xfrm>
          <a:prstGeom prst="rect">
            <a:avLst/>
          </a:prstGeom>
          <a:noFill/>
          <a:ln/>
        </p:spPr>
        <p:txBody>
          <a:bodyPr wrap="square" lIns="0" tIns="0" rIns="0" bIns="0" rtlCol="0" anchor="t"/>
          <a:lstStyle/>
          <a:p>
            <a:pPr marL="0" indent="0">
              <a:buNone/>
            </a:pPr>
            <a:r>
              <a:rPr lang="en-US" sz="1200" dirty="0">
                <a:solidFill>
                  <a:srgbClr val="1F2D3A"/>
                </a:solidFill>
                <a:latin typeface="Calibri" pitchFamily="34" charset="0"/>
                <a:ea typeface="Calibri" pitchFamily="34" charset="-122"/>
                <a:cs typeface="Calibri" pitchFamily="34" charset="-120"/>
              </a:rPr>
              <a:t>Thread-safe live connections with IP and transport</a:t>
            </a:r>
            <a:endParaRPr lang="en-US" sz="1200" dirty="0"/>
          </a:p>
        </p:txBody>
      </p:sp>
      <p:sp>
        <p:nvSpPr>
          <p:cNvPr id="29" name="Shape 27"/>
          <p:cNvSpPr/>
          <p:nvPr/>
        </p:nvSpPr>
        <p:spPr>
          <a:xfrm>
            <a:off x="6035040" y="3383280"/>
            <a:ext cx="2651760" cy="1097280"/>
          </a:xfrm>
          <a:prstGeom prst="roundRect">
            <a:avLst>
              <a:gd name="adj" fmla="val 6667"/>
            </a:avLst>
          </a:prstGeom>
          <a:solidFill>
            <a:srgbClr val="EAF3F4"/>
          </a:solidFill>
          <a:ln w="12700">
            <a:solidFill>
              <a:srgbClr val="EAF3F4"/>
            </a:solidFill>
            <a:prstDash val="solid"/>
          </a:ln>
        </p:spPr>
      </p:sp>
      <p:sp>
        <p:nvSpPr>
          <p:cNvPr id="30" name="Text 28"/>
          <p:cNvSpPr txBox="1"/>
          <p:nvPr/>
        </p:nvSpPr>
        <p:spPr>
          <a:xfrm>
            <a:off x="6217920" y="3493008"/>
            <a:ext cx="2286000" cy="365760"/>
          </a:xfrm>
          <a:prstGeom prst="rect">
            <a:avLst/>
          </a:prstGeom>
          <a:noFill/>
          <a:ln/>
        </p:spPr>
        <p:txBody>
          <a:bodyPr wrap="square" lIns="0" tIns="0" rIns="0" bIns="0" rtlCol="0" anchor="t"/>
          <a:lstStyle/>
          <a:p>
            <a:pPr marL="0" indent="0">
              <a:buNone/>
            </a:pPr>
            <a:r>
              <a:rPr lang="en-US" sz="1400" b="1" dirty="0">
                <a:solidFill>
                  <a:srgbClr val="0E7C86"/>
                </a:solidFill>
                <a:latin typeface="Cambria" pitchFamily="34" charset="0"/>
                <a:ea typeface="Cambria" pitchFamily="34" charset="-122"/>
                <a:cs typeface="Cambria" pitchFamily="34" charset="-120"/>
              </a:rPr>
              <a:t>Front end</a:t>
            </a:r>
            <a:endParaRPr lang="en-US" sz="1400" dirty="0"/>
          </a:p>
        </p:txBody>
      </p:sp>
      <p:sp>
        <p:nvSpPr>
          <p:cNvPr id="31" name="Text 29"/>
          <p:cNvSpPr txBox="1"/>
          <p:nvPr/>
        </p:nvSpPr>
        <p:spPr>
          <a:xfrm>
            <a:off x="6217920" y="3886200"/>
            <a:ext cx="2286000" cy="502920"/>
          </a:xfrm>
          <a:prstGeom prst="rect">
            <a:avLst/>
          </a:prstGeom>
          <a:noFill/>
          <a:ln/>
        </p:spPr>
        <p:txBody>
          <a:bodyPr wrap="square" lIns="0" tIns="0" rIns="0" bIns="0" rtlCol="0" anchor="t"/>
          <a:lstStyle/>
          <a:p>
            <a:pPr marL="0" indent="0">
              <a:buNone/>
            </a:pPr>
            <a:r>
              <a:rPr lang="en-US" sz="1200" dirty="0">
                <a:solidFill>
                  <a:srgbClr val="1F2D3A"/>
                </a:solidFill>
                <a:latin typeface="Calibri" pitchFamily="34" charset="0"/>
                <a:ea typeface="Calibri" pitchFamily="34" charset="-122"/>
                <a:cs typeface="Calibri" pitchFamily="34" charset="-120"/>
              </a:rPr>
              <a:t>main.js, socket.js, student.js, assistant.js, ticket.js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rgbClr val="0B2A3F"/>
                </a:solidFill>
                <a:latin typeface="Cambria" pitchFamily="34" charset="0"/>
                <a:ea typeface="Cambria" pitchFamily="34" charset="-122"/>
                <a:cs typeface="Cambria" pitchFamily="34" charset="-120"/>
              </a:rPr>
              <a:t>Database design</a:t>
            </a:r>
            <a:endParaRPr lang="en-US" sz="3000" dirty="0"/>
          </a:p>
        </p:txBody>
      </p:sp>
      <p:sp>
        <p:nvSpPr>
          <p:cNvPr id="3" name="Text 1"/>
          <p:cNvSpPr txBox="1"/>
          <p:nvPr/>
        </p:nvSpPr>
        <p:spPr>
          <a:xfrm>
            <a:off x="457200" y="4754880"/>
            <a:ext cx="4572000" cy="228600"/>
          </a:xfrm>
          <a:prstGeom prst="rect">
            <a:avLst/>
          </a:prstGeom>
          <a:noFill/>
          <a:ln/>
        </p:spPr>
        <p:txBody>
          <a:bodyPr wrap="square" lIns="0" tIns="0" rIns="0" bIns="0" rtlCol="0" anchor="ctr"/>
          <a:lstStyle/>
          <a:p>
            <a:pPr marL="0" indent="0">
              <a:buNone/>
            </a:pPr>
            <a:r>
              <a:rPr lang="en-US" sz="1000" dirty="0">
                <a:solidFill>
                  <a:srgbClr val="5B6B78"/>
                </a:solidFill>
                <a:latin typeface="Calibri" pitchFamily="34" charset="0"/>
                <a:ea typeface="Calibri" pitchFamily="34" charset="-122"/>
                <a:cs typeface="Calibri" pitchFamily="34" charset="-120"/>
              </a:rPr>
              <a:t>Campus Lab Helpdesk  |  BCSE308L</a:t>
            </a:r>
            <a:endParaRPr lang="en-US" sz="1000" dirty="0"/>
          </a:p>
        </p:txBody>
      </p:sp>
      <p:sp>
        <p:nvSpPr>
          <p:cNvPr id="4" name="Text 2"/>
          <p:cNvSpPr txBox="1"/>
          <p:nvPr/>
        </p:nvSpPr>
        <p:spPr>
          <a:xfrm>
            <a:off x="7772400" y="4754880"/>
            <a:ext cx="914400" cy="228600"/>
          </a:xfrm>
          <a:prstGeom prst="rect">
            <a:avLst/>
          </a:prstGeom>
          <a:noFill/>
          <a:ln/>
        </p:spPr>
        <p:txBody>
          <a:bodyPr wrap="square" lIns="0" tIns="0" rIns="0" bIns="0" rtlCol="0" anchor="ctr"/>
          <a:lstStyle/>
          <a:p>
            <a:pPr marL="0" indent="0" algn="r">
              <a:buNone/>
            </a:pPr>
            <a:r>
              <a:rPr lang="en-US" sz="1000" dirty="0">
                <a:solidFill>
                  <a:srgbClr val="5B6B78"/>
                </a:solidFill>
                <a:latin typeface="Calibri" pitchFamily="34" charset="0"/>
                <a:ea typeface="Calibri" pitchFamily="34" charset="-122"/>
                <a:cs typeface="Calibri" pitchFamily="34" charset="-120"/>
              </a:rPr>
              <a:t>11</a:t>
            </a:r>
            <a:endParaRPr lang="en-US" sz="1000" dirty="0"/>
          </a:p>
        </p:txBody>
      </p:sp>
      <p:pic>
        <p:nvPicPr>
          <p:cNvPr id="5" name="Image 0" descr="C:/Users/MEGHAN~1/AppData/Local/Temp/dk/img/04_image4.png"/>
          <p:cNvPicPr>
            <a:picLocks noChangeAspect="1"/>
          </p:cNvPicPr>
          <p:nvPr/>
        </p:nvPicPr>
        <p:blipFill>
          <a:blip r:embed="rId3"/>
          <a:stretch>
            <a:fillRect/>
          </a:stretch>
        </p:blipFill>
        <p:spPr>
          <a:xfrm>
            <a:off x="457200" y="1008327"/>
            <a:ext cx="4206240" cy="2463906"/>
          </a:xfrm>
          <a:prstGeom prst="rect">
            <a:avLst/>
          </a:prstGeom>
        </p:spPr>
      </p:pic>
      <p:sp>
        <p:nvSpPr>
          <p:cNvPr id="6" name="Text 3"/>
          <p:cNvSpPr txBox="1"/>
          <p:nvPr/>
        </p:nvSpPr>
        <p:spPr>
          <a:xfrm>
            <a:off x="457200" y="3520440"/>
            <a:ext cx="4206240" cy="274320"/>
          </a:xfrm>
          <a:prstGeom prst="rect">
            <a:avLst/>
          </a:prstGeom>
          <a:noFill/>
          <a:ln/>
        </p:spPr>
        <p:txBody>
          <a:bodyPr wrap="square" lIns="0" tIns="0" rIns="0" bIns="0" rtlCol="0" anchor="ctr"/>
          <a:lstStyle/>
          <a:p>
            <a:pPr marL="0" indent="0" algn="ctr">
              <a:buNone/>
            </a:pPr>
            <a:r>
              <a:rPr lang="en-US" sz="1100" i="1" dirty="0">
                <a:solidFill>
                  <a:srgbClr val="5B6B78"/>
                </a:solidFill>
                <a:latin typeface="Calibri" pitchFamily="34" charset="0"/>
                <a:ea typeface="Calibri" pitchFamily="34" charset="-122"/>
                <a:cs typeface="Calibri" pitchFamily="34" charset="-120"/>
              </a:rPr>
              <a:t>Figure 3.3: Entity-relationship diagram</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846320" y="1005840"/>
          <a:ext cx="3840480" cy="1612392"/>
        </p:xfrm>
        <a:graphic>
          <a:graphicData uri="http://schemas.openxmlformats.org/drawingml/2006/table">
            <a:tbl>
              <a:tblPr/>
              <a:tblGrid>
                <a:gridCol w="137160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tblGrid>
              <a:tr h="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Table</a:t>
                      </a:r>
                      <a:endParaRPr lang="en-US" sz="11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0B2A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Purpose</a:t>
                      </a:r>
                      <a:endParaRPr lang="en-US" sz="11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0B2A3F"/>
                    </a:solidFill>
                  </a:tcPr>
                </a:tc>
                <a:extLst>
                  <a:ext uri="{0D108BD9-81ED-4DB2-BD59-A6C34878D82A}">
                    <a16:rowId xmlns:a16="http://schemas.microsoft.com/office/drawing/2014/main" val="10000"/>
                  </a:ext>
                </a:extLst>
              </a:tr>
              <a:tr h="0">
                <a:tc>
                  <a:txBody>
                    <a:bodyPr/>
                    <a:lstStyle/>
                    <a:p>
                      <a:pPr marL="0" indent="0">
                        <a:buNone/>
                      </a:pPr>
                      <a:r>
                        <a:rPr lang="en-US" sz="1100" dirty="0">
                          <a:solidFill>
                            <a:srgbClr val="1F2D3A"/>
                          </a:solidFill>
                          <a:latin typeface="Calibri" pitchFamily="34" charset="0"/>
                          <a:ea typeface="Calibri" pitchFamily="34" charset="-122"/>
                          <a:cs typeface="Calibri" pitchFamily="34" charset="-120"/>
                        </a:rPr>
                        <a:t>users</a:t>
                      </a:r>
                      <a:endParaRPr lang="en-US" sz="11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EAF3F4"/>
                    </a:solidFill>
                  </a:tcPr>
                </a:tc>
                <a:tc>
                  <a:txBody>
                    <a:bodyPr/>
                    <a:lstStyle/>
                    <a:p>
                      <a:pPr marL="0" indent="0">
                        <a:buNone/>
                      </a:pPr>
                      <a:r>
                        <a:rPr lang="en-US" sz="1100" dirty="0">
                          <a:solidFill>
                            <a:srgbClr val="1F2D3A"/>
                          </a:solidFill>
                          <a:latin typeface="Calibri" pitchFamily="34" charset="0"/>
                          <a:ea typeface="Calibri" pitchFamily="34" charset="-122"/>
                          <a:cs typeface="Calibri" pitchFamily="34" charset="-120"/>
                        </a:rPr>
                        <a:t>Accounts, role student / assistant</a:t>
                      </a:r>
                      <a:endParaRPr lang="en-US" sz="11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EAF3F4"/>
                    </a:solidFill>
                  </a:tcPr>
                </a:tc>
                <a:extLst>
                  <a:ext uri="{0D108BD9-81ED-4DB2-BD59-A6C34878D82A}">
                    <a16:rowId xmlns:a16="http://schemas.microsoft.com/office/drawing/2014/main" val="10001"/>
                  </a:ext>
                </a:extLst>
              </a:tr>
              <a:tr h="0">
                <a:tc>
                  <a:txBody>
                    <a:bodyPr/>
                    <a:lstStyle/>
                    <a:p>
                      <a:pPr marL="0" indent="0">
                        <a:buNone/>
                      </a:pPr>
                      <a:r>
                        <a:rPr lang="en-US" sz="1100" dirty="0">
                          <a:solidFill>
                            <a:srgbClr val="1F2D3A"/>
                          </a:solidFill>
                          <a:latin typeface="Calibri" pitchFamily="34" charset="0"/>
                          <a:ea typeface="Calibri" pitchFamily="34" charset="-122"/>
                          <a:cs typeface="Calibri" pitchFamily="34" charset="-120"/>
                        </a:rPr>
                        <a:t>tickets</a:t>
                      </a:r>
                      <a:endParaRPr lang="en-US" sz="11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tc>
                  <a:txBody>
                    <a:bodyPr/>
                    <a:lstStyle/>
                    <a:p>
                      <a:pPr marL="0" indent="0">
                        <a:buNone/>
                      </a:pPr>
                      <a:r>
                        <a:rPr lang="en-US" sz="1100" dirty="0">
                          <a:solidFill>
                            <a:srgbClr val="1F2D3A"/>
                          </a:solidFill>
                          <a:latin typeface="Calibri" pitchFamily="34" charset="0"/>
                          <a:ea typeface="Calibri" pitchFamily="34" charset="-122"/>
                          <a:cs typeface="Calibri" pitchFamily="34" charset="-120"/>
                        </a:rPr>
                        <a:t>Fault, category, priority, status, workstation</a:t>
                      </a:r>
                      <a:endParaRPr lang="en-US" sz="11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100" dirty="0">
                          <a:solidFill>
                            <a:srgbClr val="1F2D3A"/>
                          </a:solidFill>
                          <a:latin typeface="Calibri" pitchFamily="34" charset="0"/>
                          <a:ea typeface="Calibri" pitchFamily="34" charset="-122"/>
                          <a:cs typeface="Calibri" pitchFamily="34" charset="-120"/>
                        </a:rPr>
                        <a:t>ticket_messages</a:t>
                      </a:r>
                      <a:endParaRPr lang="en-US" sz="11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EAF3F4"/>
                    </a:solidFill>
                  </a:tcPr>
                </a:tc>
                <a:tc>
                  <a:txBody>
                    <a:bodyPr/>
                    <a:lstStyle/>
                    <a:p>
                      <a:pPr marL="0" indent="0">
                        <a:buNone/>
                      </a:pPr>
                      <a:r>
                        <a:rPr lang="en-US" sz="1100" dirty="0">
                          <a:solidFill>
                            <a:srgbClr val="1F2D3A"/>
                          </a:solidFill>
                          <a:latin typeface="Calibri" pitchFamily="34" charset="0"/>
                          <a:ea typeface="Calibri" pitchFamily="34" charset="-122"/>
                          <a:cs typeface="Calibri" pitchFamily="34" charset="-120"/>
                        </a:rPr>
                        <a:t>The conversation</a:t>
                      </a:r>
                      <a:endParaRPr lang="en-US" sz="11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EAF3F4"/>
                    </a:solidFill>
                  </a:tcPr>
                </a:tc>
                <a:extLst>
                  <a:ext uri="{0D108BD9-81ED-4DB2-BD59-A6C34878D82A}">
                    <a16:rowId xmlns:a16="http://schemas.microsoft.com/office/drawing/2014/main" val="10003"/>
                  </a:ext>
                </a:extLst>
              </a:tr>
              <a:tr h="0">
                <a:tc>
                  <a:txBody>
                    <a:bodyPr/>
                    <a:lstStyle/>
                    <a:p>
                      <a:pPr marL="0" indent="0">
                        <a:buNone/>
                      </a:pPr>
                      <a:r>
                        <a:rPr lang="en-US" sz="1100" dirty="0">
                          <a:solidFill>
                            <a:srgbClr val="1F2D3A"/>
                          </a:solidFill>
                          <a:latin typeface="Calibri" pitchFamily="34" charset="0"/>
                          <a:ea typeface="Calibri" pitchFamily="34" charset="-122"/>
                          <a:cs typeface="Calibri" pitchFamily="34" charset="-120"/>
                        </a:rPr>
                        <a:t>ticket_history</a:t>
                      </a:r>
                      <a:endParaRPr lang="en-US" sz="11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tc>
                  <a:txBody>
                    <a:bodyPr/>
                    <a:lstStyle/>
                    <a:p>
                      <a:pPr marL="0" indent="0">
                        <a:buNone/>
                      </a:pPr>
                      <a:r>
                        <a:rPr lang="en-US" sz="1100" dirty="0">
                          <a:solidFill>
                            <a:srgbClr val="1F2D3A"/>
                          </a:solidFill>
                          <a:latin typeface="Calibri" pitchFamily="34" charset="0"/>
                          <a:ea typeface="Calibri" pitchFamily="34" charset="-122"/>
                          <a:cs typeface="Calibri" pitchFamily="34" charset="-120"/>
                        </a:rPr>
                        <a:t>Timeline of every change</a:t>
                      </a:r>
                      <a:endParaRPr lang="en-US" sz="11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indent="0">
                        <a:buNone/>
                      </a:pPr>
                      <a:r>
                        <a:rPr lang="en-US" sz="1100" dirty="0">
                          <a:solidFill>
                            <a:srgbClr val="1F2D3A"/>
                          </a:solidFill>
                          <a:latin typeface="Calibri" pitchFamily="34" charset="0"/>
                          <a:ea typeface="Calibri" pitchFamily="34" charset="-122"/>
                          <a:cs typeface="Calibri" pitchFamily="34" charset="-120"/>
                        </a:rPr>
                        <a:t>announcements</a:t>
                      </a:r>
                      <a:endParaRPr lang="en-US" sz="11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EAF3F4"/>
                    </a:solidFill>
                  </a:tcPr>
                </a:tc>
                <a:tc>
                  <a:txBody>
                    <a:bodyPr/>
                    <a:lstStyle/>
                    <a:p>
                      <a:pPr marL="0" indent="0">
                        <a:buNone/>
                      </a:pPr>
                      <a:r>
                        <a:rPr lang="en-US" sz="1100" dirty="0">
                          <a:solidFill>
                            <a:srgbClr val="1F2D3A"/>
                          </a:solidFill>
                          <a:latin typeface="Calibri" pitchFamily="34" charset="0"/>
                          <a:ea typeface="Calibri" pitchFamily="34" charset="-122"/>
                          <a:cs typeface="Calibri" pitchFamily="34" charset="-120"/>
                        </a:rPr>
                        <a:t>Lab notices</a:t>
                      </a:r>
                      <a:endParaRPr lang="en-US" sz="11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EAF3F4"/>
                    </a:solidFill>
                  </a:tcPr>
                </a:tc>
                <a:extLst>
                  <a:ext uri="{0D108BD9-81ED-4DB2-BD59-A6C34878D82A}">
                    <a16:rowId xmlns:a16="http://schemas.microsoft.com/office/drawing/2014/main" val="10005"/>
                  </a:ext>
                </a:extLst>
              </a:tr>
            </a:tbl>
          </a:graphicData>
        </a:graphic>
      </p:graphicFrame>
      <p:sp>
        <p:nvSpPr>
          <p:cNvPr id="8" name="Text 4"/>
          <p:cNvSpPr txBox="1"/>
          <p:nvPr/>
        </p:nvSpPr>
        <p:spPr>
          <a:xfrm>
            <a:off x="457200" y="3840480"/>
            <a:ext cx="8229600" cy="731520"/>
          </a:xfrm>
          <a:prstGeom prst="rect">
            <a:avLst/>
          </a:prstGeom>
          <a:noFill/>
          <a:ln/>
        </p:spPr>
        <p:txBody>
          <a:bodyPr wrap="square" lIns="0" tIns="0" rIns="0" bIns="0" rtlCol="0" anchor="ctr"/>
          <a:lstStyle/>
          <a:p>
            <a:pPr marL="0" indent="0">
              <a:buNone/>
            </a:pPr>
            <a:r>
              <a:rPr lang="en-US" sz="1300" dirty="0">
                <a:solidFill>
                  <a:srgbClr val="1F2D3A"/>
                </a:solidFill>
                <a:latin typeface="Calibri" pitchFamily="34" charset="0"/>
                <a:ea typeface="Calibri" pitchFamily="34" charset="-122"/>
                <a:cs typeface="Calibri" pitchFamily="34" charset="-120"/>
              </a:rPr>
              <a:t>SQLite in WAL mode, CHECK constraints and indexes. Numbers like LAB-0001 are assigned in the same transaction and never reused. Timestamps stored in UTC.</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rgbClr val="0B2A3F"/>
                </a:solidFill>
                <a:latin typeface="Cambria" pitchFamily="34" charset="0"/>
                <a:ea typeface="Cambria" pitchFamily="34" charset="-122"/>
                <a:cs typeface="Cambria" pitchFamily="34" charset="-120"/>
              </a:rPr>
              <a:t>Ticket status workflow</a:t>
            </a:r>
            <a:endParaRPr lang="en-US" sz="3000" dirty="0"/>
          </a:p>
        </p:txBody>
      </p:sp>
      <p:sp>
        <p:nvSpPr>
          <p:cNvPr id="3" name="Text 1"/>
          <p:cNvSpPr txBox="1"/>
          <p:nvPr/>
        </p:nvSpPr>
        <p:spPr>
          <a:xfrm>
            <a:off x="457200" y="4754880"/>
            <a:ext cx="4572000" cy="228600"/>
          </a:xfrm>
          <a:prstGeom prst="rect">
            <a:avLst/>
          </a:prstGeom>
          <a:noFill/>
          <a:ln/>
        </p:spPr>
        <p:txBody>
          <a:bodyPr wrap="square" lIns="0" tIns="0" rIns="0" bIns="0" rtlCol="0" anchor="ctr"/>
          <a:lstStyle/>
          <a:p>
            <a:pPr marL="0" indent="0">
              <a:buNone/>
            </a:pPr>
            <a:r>
              <a:rPr lang="en-US" sz="1000" dirty="0">
                <a:solidFill>
                  <a:srgbClr val="5B6B78"/>
                </a:solidFill>
                <a:latin typeface="Calibri" pitchFamily="34" charset="0"/>
                <a:ea typeface="Calibri" pitchFamily="34" charset="-122"/>
                <a:cs typeface="Calibri" pitchFamily="34" charset="-120"/>
              </a:rPr>
              <a:t>Campus Lab Helpdesk  |  BCSE308L</a:t>
            </a:r>
            <a:endParaRPr lang="en-US" sz="1000" dirty="0"/>
          </a:p>
        </p:txBody>
      </p:sp>
      <p:sp>
        <p:nvSpPr>
          <p:cNvPr id="4" name="Text 2"/>
          <p:cNvSpPr txBox="1"/>
          <p:nvPr/>
        </p:nvSpPr>
        <p:spPr>
          <a:xfrm>
            <a:off x="7772400" y="4754880"/>
            <a:ext cx="914400" cy="228600"/>
          </a:xfrm>
          <a:prstGeom prst="rect">
            <a:avLst/>
          </a:prstGeom>
          <a:noFill/>
          <a:ln/>
        </p:spPr>
        <p:txBody>
          <a:bodyPr wrap="square" lIns="0" tIns="0" rIns="0" bIns="0" rtlCol="0" anchor="ctr"/>
          <a:lstStyle/>
          <a:p>
            <a:pPr marL="0" indent="0" algn="r">
              <a:buNone/>
            </a:pPr>
            <a:r>
              <a:rPr lang="en-US" sz="1000" dirty="0">
                <a:solidFill>
                  <a:srgbClr val="5B6B78"/>
                </a:solidFill>
                <a:latin typeface="Calibri" pitchFamily="34" charset="0"/>
                <a:ea typeface="Calibri" pitchFamily="34" charset="-122"/>
                <a:cs typeface="Calibri" pitchFamily="34" charset="-120"/>
              </a:rPr>
              <a:t>12</a:t>
            </a:r>
            <a:endParaRPr lang="en-US" sz="1000" dirty="0"/>
          </a:p>
        </p:txBody>
      </p:sp>
      <p:pic>
        <p:nvPicPr>
          <p:cNvPr id="5" name="Image 0" descr="C:/Users/MEGHAN~1/AppData/Local/Temp/dk/img/05_image5.png"/>
          <p:cNvPicPr>
            <a:picLocks noChangeAspect="1"/>
          </p:cNvPicPr>
          <p:nvPr/>
        </p:nvPicPr>
        <p:blipFill>
          <a:blip r:embed="rId3"/>
          <a:stretch>
            <a:fillRect/>
          </a:stretch>
        </p:blipFill>
        <p:spPr>
          <a:xfrm>
            <a:off x="587829" y="1097280"/>
            <a:ext cx="7968343" cy="1828800"/>
          </a:xfrm>
          <a:prstGeom prst="rect">
            <a:avLst/>
          </a:prstGeom>
        </p:spPr>
      </p:pic>
      <p:sp>
        <p:nvSpPr>
          <p:cNvPr id="6" name="Text 3"/>
          <p:cNvSpPr txBox="1"/>
          <p:nvPr/>
        </p:nvSpPr>
        <p:spPr>
          <a:xfrm>
            <a:off x="457200" y="2971800"/>
            <a:ext cx="8229600" cy="274320"/>
          </a:xfrm>
          <a:prstGeom prst="rect">
            <a:avLst/>
          </a:prstGeom>
          <a:noFill/>
          <a:ln/>
        </p:spPr>
        <p:txBody>
          <a:bodyPr wrap="square" lIns="0" tIns="0" rIns="0" bIns="0" rtlCol="0" anchor="ctr"/>
          <a:lstStyle/>
          <a:p>
            <a:pPr marL="0" indent="0" algn="ctr">
              <a:buNone/>
            </a:pPr>
            <a:r>
              <a:rPr lang="en-US" sz="1100" i="1" dirty="0">
                <a:solidFill>
                  <a:srgbClr val="5B6B78"/>
                </a:solidFill>
                <a:latin typeface="Calibri" pitchFamily="34" charset="0"/>
                <a:ea typeface="Calibri" pitchFamily="34" charset="-122"/>
                <a:cs typeface="Calibri" pitchFamily="34" charset="-120"/>
              </a:rPr>
              <a:t>Figure 3.4: Ticket status workflow</a:t>
            </a:r>
            <a:endParaRPr lang="en-US" sz="1100" dirty="0"/>
          </a:p>
        </p:txBody>
      </p:sp>
      <p:sp>
        <p:nvSpPr>
          <p:cNvPr id="7" name="Text 4"/>
          <p:cNvSpPr txBox="1"/>
          <p:nvPr/>
        </p:nvSpPr>
        <p:spPr>
          <a:xfrm>
            <a:off x="457200" y="3429000"/>
            <a:ext cx="8229600" cy="11887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F2D3A"/>
                </a:solidFill>
                <a:latin typeface="Calibri" pitchFamily="34" charset="0"/>
                <a:ea typeface="Calibri" pitchFamily="34" charset="-122"/>
                <a:cs typeface="Calibri" pitchFamily="34" charset="-120"/>
              </a:rPr>
              <a:t>Open to Resolved directly, or to the same status, is rejected with HTTP 409</a:t>
            </a:r>
            <a:endParaRPr lang="en-US" sz="1400" dirty="0"/>
          </a:p>
          <a:p>
            <a:pPr marL="342900" indent="-342900">
              <a:spcAft>
                <a:spcPts val="600"/>
              </a:spcAft>
              <a:buSzPct val="100000"/>
              <a:buChar char="•"/>
            </a:pPr>
            <a:r>
              <a:rPr lang="en-US" sz="1400" dirty="0">
                <a:solidFill>
                  <a:srgbClr val="1F2D3A"/>
                </a:solidFill>
                <a:latin typeface="Calibri" pitchFamily="34" charset="0"/>
                <a:ea typeface="Calibri" pitchFamily="34" charset="-122"/>
                <a:cs typeface="Calibri" pitchFamily="34" charset="-120"/>
              </a:rPr>
              <a:t>Starting work on an unassigned ticket assigns it to that assistant</a:t>
            </a:r>
            <a:endParaRPr lang="en-US" sz="1400" dirty="0"/>
          </a:p>
          <a:p>
            <a:pPr marL="342900" indent="-342900">
              <a:spcAft>
                <a:spcPts val="600"/>
              </a:spcAft>
              <a:buSzPct val="100000"/>
              <a:buChar char="•"/>
            </a:pPr>
            <a:r>
              <a:rPr lang="en-US" sz="1400" dirty="0">
                <a:solidFill>
                  <a:srgbClr val="1F2D3A"/>
                </a:solidFill>
                <a:latin typeface="Calibri" pitchFamily="34" charset="0"/>
                <a:ea typeface="Calibri" pitchFamily="34" charset="-122"/>
                <a:cs typeface="Calibri" pitchFamily="34" charset="-120"/>
              </a:rPr>
              <a:t>Reopen and return-to-queue are allowed; every change is logged in history</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rgbClr val="0B2A3F"/>
                </a:solidFill>
                <a:latin typeface="Cambria" pitchFamily="34" charset="0"/>
                <a:ea typeface="Cambria" pitchFamily="34" charset="-122"/>
                <a:cs typeface="Cambria" pitchFamily="34" charset="-120"/>
              </a:rPr>
              <a:t>Communication: creating a ticket</a:t>
            </a:r>
            <a:endParaRPr lang="en-US" sz="3000" dirty="0"/>
          </a:p>
        </p:txBody>
      </p:sp>
      <p:sp>
        <p:nvSpPr>
          <p:cNvPr id="3" name="Text 1"/>
          <p:cNvSpPr txBox="1"/>
          <p:nvPr/>
        </p:nvSpPr>
        <p:spPr>
          <a:xfrm>
            <a:off x="457200" y="4754880"/>
            <a:ext cx="4572000" cy="228600"/>
          </a:xfrm>
          <a:prstGeom prst="rect">
            <a:avLst/>
          </a:prstGeom>
          <a:noFill/>
          <a:ln/>
        </p:spPr>
        <p:txBody>
          <a:bodyPr wrap="square" lIns="0" tIns="0" rIns="0" bIns="0" rtlCol="0" anchor="ctr"/>
          <a:lstStyle/>
          <a:p>
            <a:pPr marL="0" indent="0">
              <a:buNone/>
            </a:pPr>
            <a:r>
              <a:rPr lang="en-US" sz="1000" dirty="0">
                <a:solidFill>
                  <a:srgbClr val="5B6B78"/>
                </a:solidFill>
                <a:latin typeface="Calibri" pitchFamily="34" charset="0"/>
                <a:ea typeface="Calibri" pitchFamily="34" charset="-122"/>
                <a:cs typeface="Calibri" pitchFamily="34" charset="-120"/>
              </a:rPr>
              <a:t>Campus Lab Helpdesk  |  BCSE308L</a:t>
            </a:r>
            <a:endParaRPr lang="en-US" sz="1000" dirty="0"/>
          </a:p>
        </p:txBody>
      </p:sp>
      <p:sp>
        <p:nvSpPr>
          <p:cNvPr id="4" name="Text 2"/>
          <p:cNvSpPr txBox="1"/>
          <p:nvPr/>
        </p:nvSpPr>
        <p:spPr>
          <a:xfrm>
            <a:off x="7772400" y="4754880"/>
            <a:ext cx="914400" cy="228600"/>
          </a:xfrm>
          <a:prstGeom prst="rect">
            <a:avLst/>
          </a:prstGeom>
          <a:noFill/>
          <a:ln/>
        </p:spPr>
        <p:txBody>
          <a:bodyPr wrap="square" lIns="0" tIns="0" rIns="0" bIns="0" rtlCol="0" anchor="ctr"/>
          <a:lstStyle/>
          <a:p>
            <a:pPr marL="0" indent="0" algn="r">
              <a:buNone/>
            </a:pPr>
            <a:r>
              <a:rPr lang="en-US" sz="1000" dirty="0">
                <a:solidFill>
                  <a:srgbClr val="5B6B78"/>
                </a:solidFill>
                <a:latin typeface="Calibri" pitchFamily="34" charset="0"/>
                <a:ea typeface="Calibri" pitchFamily="34" charset="-122"/>
                <a:cs typeface="Calibri" pitchFamily="34" charset="-120"/>
              </a:rPr>
              <a:t>13</a:t>
            </a:r>
            <a:endParaRPr lang="en-US" sz="1000" dirty="0"/>
          </a:p>
        </p:txBody>
      </p:sp>
      <p:pic>
        <p:nvPicPr>
          <p:cNvPr id="5" name="Image 0" descr="C:/Users/MEGHAN~1/AppData/Local/Temp/dk/img/06_image6.png"/>
          <p:cNvPicPr>
            <a:picLocks noChangeAspect="1"/>
          </p:cNvPicPr>
          <p:nvPr/>
        </p:nvPicPr>
        <p:blipFill>
          <a:blip r:embed="rId3"/>
          <a:stretch>
            <a:fillRect/>
          </a:stretch>
        </p:blipFill>
        <p:spPr>
          <a:xfrm>
            <a:off x="457200" y="1136927"/>
            <a:ext cx="5029200" cy="2983946"/>
          </a:xfrm>
          <a:prstGeom prst="rect">
            <a:avLst/>
          </a:prstGeom>
        </p:spPr>
      </p:pic>
      <p:sp>
        <p:nvSpPr>
          <p:cNvPr id="6" name="Text 3"/>
          <p:cNvSpPr txBox="1"/>
          <p:nvPr/>
        </p:nvSpPr>
        <p:spPr>
          <a:xfrm>
            <a:off x="457200" y="4343400"/>
            <a:ext cx="5029200" cy="274320"/>
          </a:xfrm>
          <a:prstGeom prst="rect">
            <a:avLst/>
          </a:prstGeom>
          <a:noFill/>
          <a:ln/>
        </p:spPr>
        <p:txBody>
          <a:bodyPr wrap="square" lIns="0" tIns="0" rIns="0" bIns="0" rtlCol="0" anchor="ctr"/>
          <a:lstStyle/>
          <a:p>
            <a:pPr marL="0" indent="0" algn="ctr">
              <a:buNone/>
            </a:pPr>
            <a:r>
              <a:rPr lang="en-US" sz="1100" i="1" dirty="0">
                <a:solidFill>
                  <a:srgbClr val="5B6B78"/>
                </a:solidFill>
                <a:latin typeface="Calibri" pitchFamily="34" charset="0"/>
                <a:ea typeface="Calibri" pitchFamily="34" charset="-122"/>
                <a:cs typeface="Calibri" pitchFamily="34" charset="-120"/>
              </a:rPr>
              <a:t>Figure 3.5: Message flow</a:t>
            </a:r>
            <a:endParaRPr lang="en-US" sz="1100" dirty="0"/>
          </a:p>
        </p:txBody>
      </p:sp>
      <p:sp>
        <p:nvSpPr>
          <p:cNvPr id="7" name="Shape 4"/>
          <p:cNvSpPr/>
          <p:nvPr/>
        </p:nvSpPr>
        <p:spPr>
          <a:xfrm>
            <a:off x="5669280" y="960120"/>
            <a:ext cx="3017520" cy="3566160"/>
          </a:xfrm>
          <a:prstGeom prst="roundRect">
            <a:avLst>
              <a:gd name="adj" fmla="val 2424"/>
            </a:avLst>
          </a:prstGeom>
          <a:solidFill>
            <a:srgbClr val="EAF3F4"/>
          </a:solidFill>
          <a:ln w="12700">
            <a:solidFill>
              <a:srgbClr val="EAF3F4"/>
            </a:solidFill>
            <a:prstDash val="solid"/>
          </a:ln>
        </p:spPr>
      </p:sp>
      <p:sp>
        <p:nvSpPr>
          <p:cNvPr id="8" name="Text 5"/>
          <p:cNvSpPr txBox="1"/>
          <p:nvPr/>
        </p:nvSpPr>
        <p:spPr>
          <a:xfrm>
            <a:off x="5852160" y="1069848"/>
            <a:ext cx="2651760" cy="365760"/>
          </a:xfrm>
          <a:prstGeom prst="rect">
            <a:avLst/>
          </a:prstGeom>
          <a:noFill/>
          <a:ln/>
        </p:spPr>
        <p:txBody>
          <a:bodyPr wrap="square" lIns="0" tIns="0" rIns="0" bIns="0" rtlCol="0" anchor="t"/>
          <a:lstStyle/>
          <a:p>
            <a:pPr marL="0" indent="0">
              <a:buNone/>
            </a:pPr>
            <a:r>
              <a:rPr lang="en-US" sz="1600" b="1" dirty="0">
                <a:solidFill>
                  <a:srgbClr val="0E7C86"/>
                </a:solidFill>
                <a:latin typeface="Cambria" pitchFamily="34" charset="0"/>
                <a:ea typeface="Cambria" pitchFamily="34" charset="-122"/>
                <a:cs typeface="Cambria" pitchFamily="34" charset="-120"/>
              </a:rPr>
              <a:t>Chat with delivery receipt</a:t>
            </a:r>
            <a:endParaRPr lang="en-US" sz="1600" dirty="0"/>
          </a:p>
        </p:txBody>
      </p:sp>
      <p:sp>
        <p:nvSpPr>
          <p:cNvPr id="9" name="Text 6"/>
          <p:cNvSpPr txBox="1"/>
          <p:nvPr/>
        </p:nvSpPr>
        <p:spPr>
          <a:xfrm>
            <a:off x="5852160" y="1463040"/>
            <a:ext cx="2651760" cy="2971800"/>
          </a:xfrm>
          <a:prstGeom prst="rect">
            <a:avLst/>
          </a:prstGeom>
          <a:noFill/>
          <a:ln/>
        </p:spPr>
        <p:txBody>
          <a:bodyPr wrap="square" lIns="0" tIns="0" rIns="0" bIns="0" rtlCol="0" anchor="t"/>
          <a:lstStyle/>
          <a:p>
            <a:pPr marL="0" indent="0">
              <a:buNone/>
            </a:pPr>
            <a:r>
              <a:rPr lang="en-US" sz="1300" dirty="0">
                <a:solidFill>
                  <a:srgbClr val="1F2D3A"/>
                </a:solidFill>
                <a:latin typeface="Calibri" pitchFamily="34" charset="0"/>
                <a:ea typeface="Calibri" pitchFamily="34" charset="-122"/>
                <a:cs typeface="Calibri" pitchFamily="34" charset="-120"/>
              </a:rPr>
              <a:t>Bubble shows Sending. Browser emits ticket:send_message; server checks access, validates, saves, commits, broadcasts to the ticket room, then acknowledges. Bubble turns Delivered. If the socket is down, plain HTTP POST is used.</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rgbClr val="0B2A3F"/>
                </a:solidFill>
                <a:latin typeface="Cambria" pitchFamily="34" charset="0"/>
                <a:ea typeface="Cambria" pitchFamily="34" charset="-122"/>
                <a:cs typeface="Cambria" pitchFamily="34" charset="-120"/>
              </a:rPr>
              <a:t>Socket.IO rooms and events</a:t>
            </a:r>
            <a:endParaRPr lang="en-US" sz="3000" dirty="0"/>
          </a:p>
        </p:txBody>
      </p:sp>
      <p:sp>
        <p:nvSpPr>
          <p:cNvPr id="3" name="Text 1"/>
          <p:cNvSpPr txBox="1"/>
          <p:nvPr/>
        </p:nvSpPr>
        <p:spPr>
          <a:xfrm>
            <a:off x="457200" y="4754880"/>
            <a:ext cx="4572000" cy="228600"/>
          </a:xfrm>
          <a:prstGeom prst="rect">
            <a:avLst/>
          </a:prstGeom>
          <a:noFill/>
          <a:ln/>
        </p:spPr>
        <p:txBody>
          <a:bodyPr wrap="square" lIns="0" tIns="0" rIns="0" bIns="0" rtlCol="0" anchor="ctr"/>
          <a:lstStyle/>
          <a:p>
            <a:pPr marL="0" indent="0">
              <a:buNone/>
            </a:pPr>
            <a:r>
              <a:rPr lang="en-US" sz="1000" dirty="0">
                <a:solidFill>
                  <a:srgbClr val="5B6B78"/>
                </a:solidFill>
                <a:latin typeface="Calibri" pitchFamily="34" charset="0"/>
                <a:ea typeface="Calibri" pitchFamily="34" charset="-122"/>
                <a:cs typeface="Calibri" pitchFamily="34" charset="-120"/>
              </a:rPr>
              <a:t>Campus Lab Helpdesk  |  BCSE308L</a:t>
            </a:r>
            <a:endParaRPr lang="en-US" sz="1000" dirty="0"/>
          </a:p>
        </p:txBody>
      </p:sp>
      <p:sp>
        <p:nvSpPr>
          <p:cNvPr id="4" name="Text 2"/>
          <p:cNvSpPr txBox="1"/>
          <p:nvPr/>
        </p:nvSpPr>
        <p:spPr>
          <a:xfrm>
            <a:off x="7772400" y="4754880"/>
            <a:ext cx="914400" cy="228600"/>
          </a:xfrm>
          <a:prstGeom prst="rect">
            <a:avLst/>
          </a:prstGeom>
          <a:noFill/>
          <a:ln/>
        </p:spPr>
        <p:txBody>
          <a:bodyPr wrap="square" lIns="0" tIns="0" rIns="0" bIns="0" rtlCol="0" anchor="ctr"/>
          <a:lstStyle/>
          <a:p>
            <a:pPr marL="0" indent="0" algn="r">
              <a:buNone/>
            </a:pPr>
            <a:r>
              <a:rPr lang="en-US" sz="1000" dirty="0">
                <a:solidFill>
                  <a:srgbClr val="5B6B78"/>
                </a:solidFill>
                <a:latin typeface="Calibri" pitchFamily="34" charset="0"/>
                <a:ea typeface="Calibri" pitchFamily="34" charset="-122"/>
                <a:cs typeface="Calibri" pitchFamily="34" charset="-120"/>
              </a:rPr>
              <a:t>14</a:t>
            </a:r>
            <a:endParaRPr lang="en-US" sz="1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1280160"/>
        </p:xfrm>
        <a:graphic>
          <a:graphicData uri="http://schemas.openxmlformats.org/drawingml/2006/table">
            <a:tbl>
              <a:tblPr/>
              <a:tblGrid>
                <a:gridCol w="182880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tblGrid>
              <a:tr h="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Room</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0B2A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Members</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0B2A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Used for</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0B2A3F"/>
                    </a:solidFill>
                  </a:tcPr>
                </a:tc>
                <a:extLst>
                  <a:ext uri="{0D108BD9-81ED-4DB2-BD59-A6C34878D82A}">
                    <a16:rowId xmlns:a16="http://schemas.microsoft.com/office/drawing/2014/main" val="10000"/>
                  </a:ext>
                </a:extLst>
              </a:tr>
              <a:tr h="0">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lab</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EAF3F4"/>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All logged-in connections</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EAF3F4"/>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Announcements</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EAF3F4"/>
                    </a:solidFill>
                  </a:tcPr>
                </a:tc>
                <a:extLst>
                  <a:ext uri="{0D108BD9-81ED-4DB2-BD59-A6C34878D82A}">
                    <a16:rowId xmlns:a16="http://schemas.microsoft.com/office/drawing/2014/main" val="10001"/>
                  </a:ext>
                </a:extLst>
              </a:tr>
              <a:tr h="0">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role:assistant</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Assistant connections</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New tickets, presence, stats</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user:&lt;id&gt;</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EAF3F4"/>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All tabs of one user</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EAF3F4"/>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Own ticket updates</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EAF3F4"/>
                    </a:solidFill>
                  </a:tcPr>
                </a:tc>
                <a:extLst>
                  <a:ext uri="{0D108BD9-81ED-4DB2-BD59-A6C34878D82A}">
                    <a16:rowId xmlns:a16="http://schemas.microsoft.com/office/drawing/2014/main" val="10003"/>
                  </a:ext>
                </a:extLst>
              </a:tr>
              <a:tr h="0">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ticket:&lt;id&gt;</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Viewers after ownership check</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Chat and status changes</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Text 3"/>
          <p:cNvSpPr txBox="1"/>
          <p:nvPr/>
        </p:nvSpPr>
        <p:spPr>
          <a:xfrm>
            <a:off x="457200" y="2880360"/>
            <a:ext cx="8229600" cy="17373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F2D3A"/>
                </a:solidFill>
                <a:latin typeface="Calibri" pitchFamily="34" charset="0"/>
                <a:ea typeface="Calibri" pitchFamily="34" charset="-122"/>
                <a:cs typeface="Calibri" pitchFamily="34" charset="-120"/>
              </a:rPr>
              <a:t>Server to client: ticket:created, ticket:updated, ticket:message, notification, stats:updated, announcement:*, presence:updated</a:t>
            </a:r>
            <a:endParaRPr lang="en-US" sz="1200" dirty="0"/>
          </a:p>
          <a:p>
            <a:pPr marL="342900" indent="-342900">
              <a:spcAft>
                <a:spcPts val="600"/>
              </a:spcAft>
              <a:buSzPct val="100000"/>
              <a:buChar char="•"/>
            </a:pPr>
            <a:r>
              <a:rPr lang="en-US" sz="1200" dirty="0">
                <a:solidFill>
                  <a:srgbClr val="1F2D3A"/>
                </a:solidFill>
                <a:latin typeface="Calibri" pitchFamily="34" charset="0"/>
                <a:ea typeface="Calibri" pitchFamily="34" charset="-122"/>
                <a:cs typeface="Calibri" pitchFamily="34" charset="-120"/>
              </a:rPr>
              <a:t>Client to server: ticket:join / leave, ticket:send_message (acked after commit), net:ping every 10 s</a:t>
            </a:r>
            <a:endParaRPr lang="en-US" sz="1200" dirty="0"/>
          </a:p>
          <a:p>
            <a:pPr marL="342900" indent="-342900">
              <a:spcAft>
                <a:spcPts val="600"/>
              </a:spcAft>
              <a:buSzPct val="100000"/>
              <a:buChar char="•"/>
            </a:pPr>
            <a:r>
              <a:rPr lang="en-US" sz="1200" dirty="0">
                <a:solidFill>
                  <a:srgbClr val="1F2D3A"/>
                </a:solidFill>
                <a:latin typeface="Calibri" pitchFamily="34" charset="0"/>
                <a:ea typeface="Calibri" pitchFamily="34" charset="-122"/>
                <a:cs typeface="Calibri" pitchFamily="34" charset="-120"/>
              </a:rPr>
              <a:t>Lifecycle: long-polling, upgrade to WebSocket (101 Switching Protocols), ping 10 s, drop after timeout, reconnect with 1-5 s back-off, then resync from DB</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rgbClr val="0B2A3F"/>
                </a:solidFill>
                <a:latin typeface="Cambria" pitchFamily="34" charset="0"/>
                <a:ea typeface="Cambria" pitchFamily="34" charset="-122"/>
                <a:cs typeface="Cambria" pitchFamily="34" charset="-120"/>
              </a:rPr>
              <a:t>Security design</a:t>
            </a:r>
            <a:endParaRPr lang="en-US" sz="3000" dirty="0"/>
          </a:p>
        </p:txBody>
      </p:sp>
      <p:sp>
        <p:nvSpPr>
          <p:cNvPr id="3" name="Text 1"/>
          <p:cNvSpPr txBox="1"/>
          <p:nvPr/>
        </p:nvSpPr>
        <p:spPr>
          <a:xfrm>
            <a:off x="457200" y="4754880"/>
            <a:ext cx="4572000" cy="228600"/>
          </a:xfrm>
          <a:prstGeom prst="rect">
            <a:avLst/>
          </a:prstGeom>
          <a:noFill/>
          <a:ln/>
        </p:spPr>
        <p:txBody>
          <a:bodyPr wrap="square" lIns="0" tIns="0" rIns="0" bIns="0" rtlCol="0" anchor="ctr"/>
          <a:lstStyle/>
          <a:p>
            <a:pPr marL="0" indent="0">
              <a:buNone/>
            </a:pPr>
            <a:r>
              <a:rPr lang="en-US" sz="1000" dirty="0">
                <a:solidFill>
                  <a:srgbClr val="5B6B78"/>
                </a:solidFill>
                <a:latin typeface="Calibri" pitchFamily="34" charset="0"/>
                <a:ea typeface="Calibri" pitchFamily="34" charset="-122"/>
                <a:cs typeface="Calibri" pitchFamily="34" charset="-120"/>
              </a:rPr>
              <a:t>Campus Lab Helpdesk  |  BCSE308L</a:t>
            </a:r>
            <a:endParaRPr lang="en-US" sz="1000" dirty="0"/>
          </a:p>
        </p:txBody>
      </p:sp>
      <p:sp>
        <p:nvSpPr>
          <p:cNvPr id="4" name="Text 2"/>
          <p:cNvSpPr txBox="1"/>
          <p:nvPr/>
        </p:nvSpPr>
        <p:spPr>
          <a:xfrm>
            <a:off x="7772400" y="4754880"/>
            <a:ext cx="914400" cy="228600"/>
          </a:xfrm>
          <a:prstGeom prst="rect">
            <a:avLst/>
          </a:prstGeom>
          <a:noFill/>
          <a:ln/>
        </p:spPr>
        <p:txBody>
          <a:bodyPr wrap="square" lIns="0" tIns="0" rIns="0" bIns="0" rtlCol="0" anchor="ctr"/>
          <a:lstStyle/>
          <a:p>
            <a:pPr marL="0" indent="0" algn="r">
              <a:buNone/>
            </a:pPr>
            <a:r>
              <a:rPr lang="en-US" sz="1000" dirty="0">
                <a:solidFill>
                  <a:srgbClr val="5B6B78"/>
                </a:solidFill>
                <a:latin typeface="Calibri" pitchFamily="34" charset="0"/>
                <a:ea typeface="Calibri" pitchFamily="34" charset="-122"/>
                <a:cs typeface="Calibri" pitchFamily="34" charset="-120"/>
              </a:rPr>
              <a:t>15</a:t>
            </a:r>
            <a:endParaRPr lang="en-US" sz="1000" dirty="0"/>
          </a:p>
        </p:txBody>
      </p:sp>
      <p:sp>
        <p:nvSpPr>
          <p:cNvPr id="5" name="Shape 3"/>
          <p:cNvSpPr/>
          <p:nvPr/>
        </p:nvSpPr>
        <p:spPr>
          <a:xfrm>
            <a:off x="457200" y="1051560"/>
            <a:ext cx="2651760" cy="1600200"/>
          </a:xfrm>
          <a:prstGeom prst="roundRect">
            <a:avLst>
              <a:gd name="adj" fmla="val 4571"/>
            </a:avLst>
          </a:prstGeom>
          <a:solidFill>
            <a:srgbClr val="EAF3F4"/>
          </a:solidFill>
          <a:ln w="12700">
            <a:solidFill>
              <a:srgbClr val="EAF3F4"/>
            </a:solidFill>
            <a:prstDash val="solid"/>
          </a:ln>
        </p:spPr>
      </p:sp>
      <p:sp>
        <p:nvSpPr>
          <p:cNvPr id="6" name="Text 4"/>
          <p:cNvSpPr txBox="1"/>
          <p:nvPr/>
        </p:nvSpPr>
        <p:spPr>
          <a:xfrm>
            <a:off x="640080" y="1161288"/>
            <a:ext cx="2286000" cy="365760"/>
          </a:xfrm>
          <a:prstGeom prst="rect">
            <a:avLst/>
          </a:prstGeom>
          <a:noFill/>
          <a:ln/>
        </p:spPr>
        <p:txBody>
          <a:bodyPr wrap="square" lIns="0" tIns="0" rIns="0" bIns="0" rtlCol="0" anchor="t"/>
          <a:lstStyle/>
          <a:p>
            <a:pPr marL="0" indent="0">
              <a:buNone/>
            </a:pPr>
            <a:r>
              <a:rPr lang="en-US" sz="1600" b="1" dirty="0">
                <a:solidFill>
                  <a:srgbClr val="0E7C86"/>
                </a:solidFill>
                <a:latin typeface="Cambria" pitchFamily="34" charset="0"/>
                <a:ea typeface="Cambria" pitchFamily="34" charset="-122"/>
                <a:cs typeface="Cambria" pitchFamily="34" charset="-120"/>
              </a:rPr>
              <a:t>Passwords</a:t>
            </a:r>
            <a:endParaRPr lang="en-US" sz="1600" dirty="0"/>
          </a:p>
        </p:txBody>
      </p:sp>
      <p:sp>
        <p:nvSpPr>
          <p:cNvPr id="7" name="Text 5"/>
          <p:cNvSpPr txBox="1"/>
          <p:nvPr/>
        </p:nvSpPr>
        <p:spPr>
          <a:xfrm>
            <a:off x="640080" y="1554480"/>
            <a:ext cx="2286000" cy="1005840"/>
          </a:xfrm>
          <a:prstGeom prst="rect">
            <a:avLst/>
          </a:prstGeom>
          <a:noFill/>
          <a:ln/>
        </p:spPr>
        <p:txBody>
          <a:bodyPr wrap="square" lIns="0" tIns="0" rIns="0" bIns="0" rtlCol="0" anchor="t"/>
          <a:lstStyle/>
          <a:p>
            <a:pPr marL="0" indent="0">
              <a:buNone/>
            </a:pPr>
            <a:r>
              <a:rPr lang="en-US" sz="1300" dirty="0">
                <a:solidFill>
                  <a:srgbClr val="1F2D3A"/>
                </a:solidFill>
                <a:latin typeface="Calibri" pitchFamily="34" charset="0"/>
                <a:ea typeface="Calibri" pitchFamily="34" charset="-122"/>
                <a:cs typeface="Calibri" pitchFamily="34" charset="-120"/>
              </a:rPr>
              <a:t>Salted scrypt hashes, never plain text</a:t>
            </a:r>
            <a:endParaRPr lang="en-US" sz="1300" dirty="0"/>
          </a:p>
        </p:txBody>
      </p:sp>
      <p:sp>
        <p:nvSpPr>
          <p:cNvPr id="8" name="Shape 6"/>
          <p:cNvSpPr/>
          <p:nvPr/>
        </p:nvSpPr>
        <p:spPr>
          <a:xfrm>
            <a:off x="3246120" y="1051560"/>
            <a:ext cx="2651760" cy="1600200"/>
          </a:xfrm>
          <a:prstGeom prst="roundRect">
            <a:avLst>
              <a:gd name="adj" fmla="val 4571"/>
            </a:avLst>
          </a:prstGeom>
          <a:solidFill>
            <a:srgbClr val="EAF3F4"/>
          </a:solidFill>
          <a:ln w="12700">
            <a:solidFill>
              <a:srgbClr val="EAF3F4"/>
            </a:solidFill>
            <a:prstDash val="solid"/>
          </a:ln>
        </p:spPr>
      </p:sp>
      <p:sp>
        <p:nvSpPr>
          <p:cNvPr id="9" name="Text 7"/>
          <p:cNvSpPr txBox="1"/>
          <p:nvPr/>
        </p:nvSpPr>
        <p:spPr>
          <a:xfrm>
            <a:off x="3429000" y="1161288"/>
            <a:ext cx="2286000" cy="365760"/>
          </a:xfrm>
          <a:prstGeom prst="rect">
            <a:avLst/>
          </a:prstGeom>
          <a:noFill/>
          <a:ln/>
        </p:spPr>
        <p:txBody>
          <a:bodyPr wrap="square" lIns="0" tIns="0" rIns="0" bIns="0" rtlCol="0" anchor="t"/>
          <a:lstStyle/>
          <a:p>
            <a:pPr marL="0" indent="0">
              <a:buNone/>
            </a:pPr>
            <a:r>
              <a:rPr lang="en-US" sz="1600" b="1" dirty="0">
                <a:solidFill>
                  <a:srgbClr val="0E7C86"/>
                </a:solidFill>
                <a:latin typeface="Cambria" pitchFamily="34" charset="0"/>
                <a:ea typeface="Cambria" pitchFamily="34" charset="-122"/>
                <a:cs typeface="Cambria" pitchFamily="34" charset="-120"/>
              </a:rPr>
              <a:t>Sessions</a:t>
            </a:r>
            <a:endParaRPr lang="en-US" sz="1600" dirty="0"/>
          </a:p>
        </p:txBody>
      </p:sp>
      <p:sp>
        <p:nvSpPr>
          <p:cNvPr id="10" name="Text 8"/>
          <p:cNvSpPr txBox="1"/>
          <p:nvPr/>
        </p:nvSpPr>
        <p:spPr>
          <a:xfrm>
            <a:off x="3429000" y="1554480"/>
            <a:ext cx="2286000" cy="1005840"/>
          </a:xfrm>
          <a:prstGeom prst="rect">
            <a:avLst/>
          </a:prstGeom>
          <a:noFill/>
          <a:ln/>
        </p:spPr>
        <p:txBody>
          <a:bodyPr wrap="square" lIns="0" tIns="0" rIns="0" bIns="0" rtlCol="0" anchor="t"/>
          <a:lstStyle/>
          <a:p>
            <a:pPr marL="0" indent="0">
              <a:buNone/>
            </a:pPr>
            <a:r>
              <a:rPr lang="en-US" sz="1300" dirty="0">
                <a:solidFill>
                  <a:srgbClr val="1F2D3A"/>
                </a:solidFill>
                <a:latin typeface="Calibri" pitchFamily="34" charset="0"/>
                <a:ea typeface="Calibri" pitchFamily="34" charset="-122"/>
                <a:cs typeface="Calibri" pitchFamily="34" charset="-120"/>
              </a:rPr>
              <a:t>Signed cookie, HttpOnly, SameSite=Lax; logout closes sockets</a:t>
            </a:r>
            <a:endParaRPr lang="en-US" sz="1300" dirty="0"/>
          </a:p>
        </p:txBody>
      </p:sp>
      <p:sp>
        <p:nvSpPr>
          <p:cNvPr id="11" name="Shape 9"/>
          <p:cNvSpPr/>
          <p:nvPr/>
        </p:nvSpPr>
        <p:spPr>
          <a:xfrm>
            <a:off x="6035040" y="1051560"/>
            <a:ext cx="2651760" cy="1600200"/>
          </a:xfrm>
          <a:prstGeom prst="roundRect">
            <a:avLst>
              <a:gd name="adj" fmla="val 4571"/>
            </a:avLst>
          </a:prstGeom>
          <a:solidFill>
            <a:srgbClr val="EAF3F4"/>
          </a:solidFill>
          <a:ln w="12700">
            <a:solidFill>
              <a:srgbClr val="EAF3F4"/>
            </a:solidFill>
            <a:prstDash val="solid"/>
          </a:ln>
        </p:spPr>
      </p:sp>
      <p:sp>
        <p:nvSpPr>
          <p:cNvPr id="12" name="Text 10"/>
          <p:cNvSpPr txBox="1"/>
          <p:nvPr/>
        </p:nvSpPr>
        <p:spPr>
          <a:xfrm>
            <a:off x="6217920" y="1161288"/>
            <a:ext cx="2286000" cy="365760"/>
          </a:xfrm>
          <a:prstGeom prst="rect">
            <a:avLst/>
          </a:prstGeom>
          <a:noFill/>
          <a:ln/>
        </p:spPr>
        <p:txBody>
          <a:bodyPr wrap="square" lIns="0" tIns="0" rIns="0" bIns="0" rtlCol="0" anchor="t"/>
          <a:lstStyle/>
          <a:p>
            <a:pPr marL="0" indent="0">
              <a:buNone/>
            </a:pPr>
            <a:r>
              <a:rPr lang="en-US" sz="1600" b="1" dirty="0">
                <a:solidFill>
                  <a:srgbClr val="0E7C86"/>
                </a:solidFill>
                <a:latin typeface="Cambria" pitchFamily="34" charset="0"/>
                <a:ea typeface="Cambria" pitchFamily="34" charset="-122"/>
                <a:cs typeface="Cambria" pitchFamily="34" charset="-120"/>
              </a:rPr>
              <a:t>Authorisation</a:t>
            </a:r>
            <a:endParaRPr lang="en-US" sz="1600" dirty="0"/>
          </a:p>
        </p:txBody>
      </p:sp>
      <p:sp>
        <p:nvSpPr>
          <p:cNvPr id="13" name="Text 11"/>
          <p:cNvSpPr txBox="1"/>
          <p:nvPr/>
        </p:nvSpPr>
        <p:spPr>
          <a:xfrm>
            <a:off x="6217920" y="1554480"/>
            <a:ext cx="2286000" cy="1005840"/>
          </a:xfrm>
          <a:prstGeom prst="rect">
            <a:avLst/>
          </a:prstGeom>
          <a:noFill/>
          <a:ln/>
        </p:spPr>
        <p:txBody>
          <a:bodyPr wrap="square" lIns="0" tIns="0" rIns="0" bIns="0" rtlCol="0" anchor="t"/>
          <a:lstStyle/>
          <a:p>
            <a:pPr marL="0" indent="0">
              <a:buNone/>
            </a:pPr>
            <a:r>
              <a:rPr lang="en-US" sz="1300" dirty="0">
                <a:solidFill>
                  <a:srgbClr val="1F2D3A"/>
                </a:solidFill>
                <a:latin typeface="Calibri" pitchFamily="34" charset="0"/>
                <a:ea typeface="Calibri" pitchFamily="34" charset="-122"/>
                <a:cs typeface="Calibri" pitchFamily="34" charset="-120"/>
              </a:rPr>
              <a:t>Checked on server; other student's ticket returns 404</a:t>
            </a:r>
            <a:endParaRPr lang="en-US" sz="1300" dirty="0"/>
          </a:p>
        </p:txBody>
      </p:sp>
      <p:sp>
        <p:nvSpPr>
          <p:cNvPr id="14" name="Shape 12"/>
          <p:cNvSpPr/>
          <p:nvPr/>
        </p:nvSpPr>
        <p:spPr>
          <a:xfrm>
            <a:off x="457200" y="2788920"/>
            <a:ext cx="2651760" cy="1600200"/>
          </a:xfrm>
          <a:prstGeom prst="roundRect">
            <a:avLst>
              <a:gd name="adj" fmla="val 4571"/>
            </a:avLst>
          </a:prstGeom>
          <a:solidFill>
            <a:srgbClr val="EAF3F4"/>
          </a:solidFill>
          <a:ln w="12700">
            <a:solidFill>
              <a:srgbClr val="EAF3F4"/>
            </a:solidFill>
            <a:prstDash val="solid"/>
          </a:ln>
        </p:spPr>
      </p:sp>
      <p:sp>
        <p:nvSpPr>
          <p:cNvPr id="15" name="Text 13"/>
          <p:cNvSpPr txBox="1"/>
          <p:nvPr/>
        </p:nvSpPr>
        <p:spPr>
          <a:xfrm>
            <a:off x="640080" y="2898648"/>
            <a:ext cx="2286000" cy="365760"/>
          </a:xfrm>
          <a:prstGeom prst="rect">
            <a:avLst/>
          </a:prstGeom>
          <a:noFill/>
          <a:ln/>
        </p:spPr>
        <p:txBody>
          <a:bodyPr wrap="square" lIns="0" tIns="0" rIns="0" bIns="0" rtlCol="0" anchor="t"/>
          <a:lstStyle/>
          <a:p>
            <a:pPr marL="0" indent="0">
              <a:buNone/>
            </a:pPr>
            <a:r>
              <a:rPr lang="en-US" sz="1600" b="1" dirty="0">
                <a:solidFill>
                  <a:srgbClr val="0E7C86"/>
                </a:solidFill>
                <a:latin typeface="Cambria" pitchFamily="34" charset="0"/>
                <a:ea typeface="Cambria" pitchFamily="34" charset="-122"/>
                <a:cs typeface="Cambria" pitchFamily="34" charset="-120"/>
              </a:rPr>
              <a:t>Socket.IO</a:t>
            </a:r>
            <a:endParaRPr lang="en-US" sz="1600" dirty="0"/>
          </a:p>
        </p:txBody>
      </p:sp>
      <p:sp>
        <p:nvSpPr>
          <p:cNvPr id="16" name="Text 14"/>
          <p:cNvSpPr txBox="1"/>
          <p:nvPr/>
        </p:nvSpPr>
        <p:spPr>
          <a:xfrm>
            <a:off x="640080" y="3291840"/>
            <a:ext cx="2286000" cy="1005840"/>
          </a:xfrm>
          <a:prstGeom prst="rect">
            <a:avLst/>
          </a:prstGeom>
          <a:noFill/>
          <a:ln/>
        </p:spPr>
        <p:txBody>
          <a:bodyPr wrap="square" lIns="0" tIns="0" rIns="0" bIns="0" rtlCol="0" anchor="t"/>
          <a:lstStyle/>
          <a:p>
            <a:pPr marL="0" indent="0">
              <a:buNone/>
            </a:pPr>
            <a:r>
              <a:rPr lang="en-US" sz="1300" dirty="0">
                <a:solidFill>
                  <a:srgbClr val="1F2D3A"/>
                </a:solidFill>
                <a:latin typeface="Calibri" pitchFamily="34" charset="0"/>
                <a:ea typeface="Calibri" pitchFamily="34" charset="-122"/>
                <a:cs typeface="Calibri" pitchFamily="34" charset="-120"/>
              </a:rPr>
              <a:t>No anonymous connections; same-origin only; ticket rooms need ownership check</a:t>
            </a:r>
            <a:endParaRPr lang="en-US" sz="1300" dirty="0"/>
          </a:p>
        </p:txBody>
      </p:sp>
      <p:sp>
        <p:nvSpPr>
          <p:cNvPr id="17" name="Shape 15"/>
          <p:cNvSpPr/>
          <p:nvPr/>
        </p:nvSpPr>
        <p:spPr>
          <a:xfrm>
            <a:off x="3246120" y="2788920"/>
            <a:ext cx="2651760" cy="1600200"/>
          </a:xfrm>
          <a:prstGeom prst="roundRect">
            <a:avLst>
              <a:gd name="adj" fmla="val 4571"/>
            </a:avLst>
          </a:prstGeom>
          <a:solidFill>
            <a:srgbClr val="EAF3F4"/>
          </a:solidFill>
          <a:ln w="12700">
            <a:solidFill>
              <a:srgbClr val="EAF3F4"/>
            </a:solidFill>
            <a:prstDash val="solid"/>
          </a:ln>
        </p:spPr>
      </p:sp>
      <p:sp>
        <p:nvSpPr>
          <p:cNvPr id="18" name="Text 16"/>
          <p:cNvSpPr txBox="1"/>
          <p:nvPr/>
        </p:nvSpPr>
        <p:spPr>
          <a:xfrm>
            <a:off x="3429000" y="2898648"/>
            <a:ext cx="2286000" cy="365760"/>
          </a:xfrm>
          <a:prstGeom prst="rect">
            <a:avLst/>
          </a:prstGeom>
          <a:noFill/>
          <a:ln/>
        </p:spPr>
        <p:txBody>
          <a:bodyPr wrap="square" lIns="0" tIns="0" rIns="0" bIns="0" rtlCol="0" anchor="t"/>
          <a:lstStyle/>
          <a:p>
            <a:pPr marL="0" indent="0">
              <a:buNone/>
            </a:pPr>
            <a:r>
              <a:rPr lang="en-US" sz="1600" b="1" dirty="0">
                <a:solidFill>
                  <a:srgbClr val="0E7C86"/>
                </a:solidFill>
                <a:latin typeface="Cambria" pitchFamily="34" charset="0"/>
                <a:ea typeface="Cambria" pitchFamily="34" charset="-122"/>
                <a:cs typeface="Cambria" pitchFamily="34" charset="-120"/>
              </a:rPr>
              <a:t>CSRF</a:t>
            </a:r>
            <a:endParaRPr lang="en-US" sz="1600" dirty="0"/>
          </a:p>
        </p:txBody>
      </p:sp>
      <p:sp>
        <p:nvSpPr>
          <p:cNvPr id="19" name="Text 17"/>
          <p:cNvSpPr txBox="1"/>
          <p:nvPr/>
        </p:nvSpPr>
        <p:spPr>
          <a:xfrm>
            <a:off x="3429000" y="3291840"/>
            <a:ext cx="2286000" cy="1005840"/>
          </a:xfrm>
          <a:prstGeom prst="rect">
            <a:avLst/>
          </a:prstGeom>
          <a:noFill/>
          <a:ln/>
        </p:spPr>
        <p:txBody>
          <a:bodyPr wrap="square" lIns="0" tIns="0" rIns="0" bIns="0" rtlCol="0" anchor="t"/>
          <a:lstStyle/>
          <a:p>
            <a:pPr marL="0" indent="0">
              <a:buNone/>
            </a:pPr>
            <a:r>
              <a:rPr lang="en-US" sz="1300" dirty="0">
                <a:solidFill>
                  <a:srgbClr val="1F2D3A"/>
                </a:solidFill>
                <a:latin typeface="Calibri" pitchFamily="34" charset="0"/>
                <a:ea typeface="Calibri" pitchFamily="34" charset="-122"/>
                <a:cs typeface="Calibri" pitchFamily="34" charset="-120"/>
              </a:rPr>
              <a:t>Per-session token on every POST, PUT, PATCH, DELETE</a:t>
            </a:r>
            <a:endParaRPr lang="en-US" sz="1300" dirty="0"/>
          </a:p>
        </p:txBody>
      </p:sp>
      <p:sp>
        <p:nvSpPr>
          <p:cNvPr id="20" name="Shape 18"/>
          <p:cNvSpPr/>
          <p:nvPr/>
        </p:nvSpPr>
        <p:spPr>
          <a:xfrm>
            <a:off x="6035040" y="2788920"/>
            <a:ext cx="2651760" cy="1600200"/>
          </a:xfrm>
          <a:prstGeom prst="roundRect">
            <a:avLst>
              <a:gd name="adj" fmla="val 4571"/>
            </a:avLst>
          </a:prstGeom>
          <a:solidFill>
            <a:srgbClr val="EAF3F4"/>
          </a:solidFill>
          <a:ln w="12700">
            <a:solidFill>
              <a:srgbClr val="EAF3F4"/>
            </a:solidFill>
            <a:prstDash val="solid"/>
          </a:ln>
        </p:spPr>
      </p:sp>
      <p:sp>
        <p:nvSpPr>
          <p:cNvPr id="21" name="Text 19"/>
          <p:cNvSpPr txBox="1"/>
          <p:nvPr/>
        </p:nvSpPr>
        <p:spPr>
          <a:xfrm>
            <a:off x="6217920" y="2898648"/>
            <a:ext cx="2286000" cy="365760"/>
          </a:xfrm>
          <a:prstGeom prst="rect">
            <a:avLst/>
          </a:prstGeom>
          <a:noFill/>
          <a:ln/>
        </p:spPr>
        <p:txBody>
          <a:bodyPr wrap="square" lIns="0" tIns="0" rIns="0" bIns="0" rtlCol="0" anchor="t"/>
          <a:lstStyle/>
          <a:p>
            <a:pPr marL="0" indent="0">
              <a:buNone/>
            </a:pPr>
            <a:r>
              <a:rPr lang="en-US" sz="1600" b="1" dirty="0">
                <a:solidFill>
                  <a:srgbClr val="0E7C86"/>
                </a:solidFill>
                <a:latin typeface="Cambria" pitchFamily="34" charset="0"/>
                <a:ea typeface="Cambria" pitchFamily="34" charset="-122"/>
                <a:cs typeface="Cambria" pitchFamily="34" charset="-120"/>
              </a:rPr>
              <a:t>Input handling</a:t>
            </a:r>
            <a:endParaRPr lang="en-US" sz="1600" dirty="0"/>
          </a:p>
        </p:txBody>
      </p:sp>
      <p:sp>
        <p:nvSpPr>
          <p:cNvPr id="22" name="Text 20"/>
          <p:cNvSpPr txBox="1"/>
          <p:nvPr/>
        </p:nvSpPr>
        <p:spPr>
          <a:xfrm>
            <a:off x="6217920" y="3291840"/>
            <a:ext cx="2286000" cy="1005840"/>
          </a:xfrm>
          <a:prstGeom prst="rect">
            <a:avLst/>
          </a:prstGeom>
          <a:noFill/>
          <a:ln/>
        </p:spPr>
        <p:txBody>
          <a:bodyPr wrap="square" lIns="0" tIns="0" rIns="0" bIns="0" rtlCol="0" anchor="t"/>
          <a:lstStyle/>
          <a:p>
            <a:pPr marL="0" indent="0">
              <a:buNone/>
            </a:pPr>
            <a:r>
              <a:rPr lang="en-US" sz="1300" dirty="0">
                <a:solidFill>
                  <a:srgbClr val="1F2D3A"/>
                </a:solidFill>
                <a:latin typeface="Calibri" pitchFamily="34" charset="0"/>
                <a:ea typeface="Calibri" pitchFamily="34" charset="-122"/>
                <a:cs typeface="Calibri" pitchFamily="34" charset="-120"/>
              </a:rPr>
              <a:t>Length limits, allowed values, 64 KB cap, bound SQL params, escaped HTML</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rgbClr val="0B2A3F"/>
                </a:solidFill>
                <a:latin typeface="Cambria" pitchFamily="34" charset="0"/>
                <a:ea typeface="Cambria" pitchFamily="34" charset="-122"/>
                <a:cs typeface="Cambria" pitchFamily="34" charset="-120"/>
              </a:rPr>
              <a:t>Implementation details</a:t>
            </a:r>
            <a:endParaRPr lang="en-US" sz="3000" dirty="0"/>
          </a:p>
        </p:txBody>
      </p:sp>
      <p:sp>
        <p:nvSpPr>
          <p:cNvPr id="3" name="Text 1"/>
          <p:cNvSpPr txBox="1"/>
          <p:nvPr/>
        </p:nvSpPr>
        <p:spPr>
          <a:xfrm>
            <a:off x="457200" y="4754880"/>
            <a:ext cx="4572000" cy="228600"/>
          </a:xfrm>
          <a:prstGeom prst="rect">
            <a:avLst/>
          </a:prstGeom>
          <a:noFill/>
          <a:ln/>
        </p:spPr>
        <p:txBody>
          <a:bodyPr wrap="square" lIns="0" tIns="0" rIns="0" bIns="0" rtlCol="0" anchor="ctr"/>
          <a:lstStyle/>
          <a:p>
            <a:pPr marL="0" indent="0">
              <a:buNone/>
            </a:pPr>
            <a:r>
              <a:rPr lang="en-US" sz="1000" dirty="0">
                <a:solidFill>
                  <a:srgbClr val="5B6B78"/>
                </a:solidFill>
                <a:latin typeface="Calibri" pitchFamily="34" charset="0"/>
                <a:ea typeface="Calibri" pitchFamily="34" charset="-122"/>
                <a:cs typeface="Calibri" pitchFamily="34" charset="-120"/>
              </a:rPr>
              <a:t>Campus Lab Helpdesk  |  BCSE308L</a:t>
            </a:r>
            <a:endParaRPr lang="en-US" sz="1000" dirty="0"/>
          </a:p>
        </p:txBody>
      </p:sp>
      <p:sp>
        <p:nvSpPr>
          <p:cNvPr id="4" name="Text 2"/>
          <p:cNvSpPr txBox="1"/>
          <p:nvPr/>
        </p:nvSpPr>
        <p:spPr>
          <a:xfrm>
            <a:off x="7772400" y="4754880"/>
            <a:ext cx="914400" cy="228600"/>
          </a:xfrm>
          <a:prstGeom prst="rect">
            <a:avLst/>
          </a:prstGeom>
          <a:noFill/>
          <a:ln/>
        </p:spPr>
        <p:txBody>
          <a:bodyPr wrap="square" lIns="0" tIns="0" rIns="0" bIns="0" rtlCol="0" anchor="ctr"/>
          <a:lstStyle/>
          <a:p>
            <a:pPr marL="0" indent="0" algn="r">
              <a:buNone/>
            </a:pPr>
            <a:r>
              <a:rPr lang="en-US" sz="1000" dirty="0">
                <a:solidFill>
                  <a:srgbClr val="5B6B78"/>
                </a:solidFill>
                <a:latin typeface="Calibri" pitchFamily="34" charset="0"/>
                <a:ea typeface="Calibri" pitchFamily="34" charset="-122"/>
                <a:cs typeface="Calibri" pitchFamily="34" charset="-120"/>
              </a:rPr>
              <a:t>16</a:t>
            </a:r>
            <a:endParaRPr lang="en-US" sz="1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4937760" cy="1792224"/>
        </p:xfrm>
        <a:graphic>
          <a:graphicData uri="http://schemas.openxmlformats.org/drawingml/2006/table">
            <a:tbl>
              <a:tblPr/>
              <a:tblGrid>
                <a:gridCol w="128016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tblGrid>
              <a:tr h="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Layer</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0B2A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Technology</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0B2A3F"/>
                    </a:solidFill>
                  </a:tcPr>
                </a:tc>
                <a:extLst>
                  <a:ext uri="{0D108BD9-81ED-4DB2-BD59-A6C34878D82A}">
                    <a16:rowId xmlns:a16="http://schemas.microsoft.com/office/drawing/2014/main" val="10000"/>
                  </a:ext>
                </a:extLst>
              </a:tr>
              <a:tr h="0">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Front end</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EAF3F4"/>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HTML5, CSS3, vanilla JS, Jinja2 (no build step)</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EAF3F4"/>
                    </a:solidFill>
                  </a:tcPr>
                </a:tc>
                <a:extLst>
                  <a:ext uri="{0D108BD9-81ED-4DB2-BD59-A6C34878D82A}">
                    <a16:rowId xmlns:a16="http://schemas.microsoft.com/office/drawing/2014/main" val="10001"/>
                  </a:ext>
                </a:extLst>
              </a:tr>
              <a:tr h="0">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Real-time</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Flask-SocketIO 5, Socket.IO 4 client served locally</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Back end</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EAF3F4"/>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Python 3.10+, Flask 3 blueprints</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EAF3F4"/>
                    </a:solidFill>
                  </a:tcPr>
                </a:tc>
                <a:extLst>
                  <a:ext uri="{0D108BD9-81ED-4DB2-BD59-A6C34878D82A}">
                    <a16:rowId xmlns:a16="http://schemas.microsoft.com/office/drawing/2014/main" val="10003"/>
                  </a:ext>
                </a:extLst>
              </a:tr>
              <a:tr h="0">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Database</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SQLite via Flask-SQLAlchemy</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Auth</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EAF3F4"/>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Signed-cookie sessions, Werkzeug hashing</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EAF3F4"/>
                    </a:solidFill>
                  </a:tcPr>
                </a:tc>
                <a:extLst>
                  <a:ext uri="{0D108BD9-81ED-4DB2-BD59-A6C34878D82A}">
                    <a16:rowId xmlns:a16="http://schemas.microsoft.com/office/drawing/2014/main" val="10005"/>
                  </a:ext>
                </a:extLst>
              </a:tr>
              <a:tr h="0">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Server</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Werkzeug threaded server (threading mode)</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Shape 3"/>
          <p:cNvSpPr/>
          <p:nvPr/>
        </p:nvSpPr>
        <p:spPr>
          <a:xfrm>
            <a:off x="5577840" y="1005840"/>
            <a:ext cx="3108960" cy="3566160"/>
          </a:xfrm>
          <a:prstGeom prst="roundRect">
            <a:avLst>
              <a:gd name="adj" fmla="val 2353"/>
            </a:avLst>
          </a:prstGeom>
          <a:solidFill>
            <a:srgbClr val="EAF3F4"/>
          </a:solidFill>
          <a:ln w="12700">
            <a:solidFill>
              <a:srgbClr val="EAF3F4"/>
            </a:solidFill>
            <a:prstDash val="solid"/>
          </a:ln>
        </p:spPr>
      </p:sp>
      <p:sp>
        <p:nvSpPr>
          <p:cNvPr id="7" name="Text 4"/>
          <p:cNvSpPr txBox="1"/>
          <p:nvPr/>
        </p:nvSpPr>
        <p:spPr>
          <a:xfrm>
            <a:off x="5760720" y="1115568"/>
            <a:ext cx="2743200" cy="365760"/>
          </a:xfrm>
          <a:prstGeom prst="rect">
            <a:avLst/>
          </a:prstGeom>
          <a:noFill/>
          <a:ln/>
        </p:spPr>
        <p:txBody>
          <a:bodyPr wrap="square" lIns="0" tIns="0" rIns="0" bIns="0" rtlCol="0" anchor="t"/>
          <a:lstStyle/>
          <a:p>
            <a:pPr marL="0" indent="0">
              <a:buNone/>
            </a:pPr>
            <a:r>
              <a:rPr lang="en-US" sz="1600" b="1" dirty="0">
                <a:solidFill>
                  <a:srgbClr val="0E7C86"/>
                </a:solidFill>
                <a:latin typeface="Cambria" pitchFamily="34" charset="0"/>
                <a:ea typeface="Cambria" pitchFamily="34" charset="-122"/>
                <a:cs typeface="Cambria" pitchFamily="34" charset="-120"/>
              </a:rPr>
              <a:t>Run it</a:t>
            </a:r>
            <a:endParaRPr lang="en-US" sz="1600" dirty="0"/>
          </a:p>
        </p:txBody>
      </p:sp>
      <p:sp>
        <p:nvSpPr>
          <p:cNvPr id="8" name="Text 5"/>
          <p:cNvSpPr txBox="1"/>
          <p:nvPr/>
        </p:nvSpPr>
        <p:spPr>
          <a:xfrm>
            <a:off x="5760720" y="1508760"/>
            <a:ext cx="2743200" cy="2971800"/>
          </a:xfrm>
          <a:prstGeom prst="rect">
            <a:avLst/>
          </a:prstGeom>
          <a:noFill/>
          <a:ln/>
        </p:spPr>
        <p:txBody>
          <a:bodyPr wrap="square" lIns="0" tIns="0" rIns="0" bIns="0" rtlCol="0" anchor="t"/>
          <a:lstStyle/>
          <a:p>
            <a:pPr marL="0" indent="0">
              <a:buNone/>
            </a:pPr>
            <a:r>
              <a:rPr lang="en-US" sz="1200" dirty="0">
                <a:solidFill>
                  <a:srgbClr val="1F2D3A"/>
                </a:solidFill>
                <a:latin typeface="Calibri" pitchFamily="34" charset="0"/>
                <a:ea typeface="Calibri" pitchFamily="34" charset="-122"/>
                <a:cs typeface="Calibri" pitchFamily="34" charset="-120"/>
              </a:rPr>
              <a:t>pip install -r requirements.txt (once, then offline)</a:t>
            </a:r>
            <a:endParaRPr lang="en-US" sz="1200" dirty="0"/>
          </a:p>
          <a:p>
            <a:pPr marL="0" indent="0">
              <a:buNone/>
            </a:pPr>
            <a:endParaRPr lang="en-US" sz="1200" dirty="0"/>
          </a:p>
          <a:p>
            <a:pPr marL="0" indent="0">
              <a:buNone/>
            </a:pPr>
            <a:r>
              <a:rPr lang="en-US" sz="1200" dirty="0">
                <a:solidFill>
                  <a:srgbClr val="1F2D3A"/>
                </a:solidFill>
                <a:latin typeface="Calibri" pitchFamily="34" charset="0"/>
                <a:ea typeface="Calibri" pitchFamily="34" charset="-122"/>
                <a:cs typeface="Calibri" pitchFamily="34" charset="-120"/>
              </a:rPr>
              <a:t>python seed_demo.py  creates demo data, repeatable</a:t>
            </a:r>
            <a:endParaRPr lang="en-US" sz="1200" dirty="0"/>
          </a:p>
          <a:p>
            <a:pPr marL="0" indent="0">
              <a:buNone/>
            </a:pPr>
            <a:endParaRPr lang="en-US" sz="1200" dirty="0"/>
          </a:p>
          <a:p>
            <a:pPr marL="0" indent="0">
              <a:buNone/>
            </a:pPr>
            <a:r>
              <a:rPr lang="en-US" sz="1200" dirty="0">
                <a:solidFill>
                  <a:srgbClr val="1F2D3A"/>
                </a:solidFill>
                <a:latin typeface="Calibri" pitchFamily="34" charset="0"/>
                <a:ea typeface="Calibri" pitchFamily="34" charset="-122"/>
                <a:cs typeface="Calibri" pitchFamily="34" charset="-120"/>
              </a:rPr>
              <a:t>python run.py  starts the server and prints bind and LAN URLs</a:t>
            </a:r>
            <a:endParaRPr lang="en-US" sz="1200" dirty="0"/>
          </a:p>
          <a:p>
            <a:pPr marL="0" indent="0">
              <a:buNone/>
            </a:pPr>
            <a:endParaRPr lang="en-US" sz="1200" dirty="0"/>
          </a:p>
          <a:p>
            <a:pPr marL="0" indent="0">
              <a:buNone/>
            </a:pPr>
            <a:r>
              <a:rPr lang="en-US" sz="1200" dirty="0">
                <a:solidFill>
                  <a:srgbClr val="1F2D3A"/>
                </a:solidFill>
                <a:latin typeface="Calibri" pitchFamily="34" charset="0"/>
                <a:ea typeface="Calibri" pitchFamily="34" charset="-122"/>
                <a:cs typeface="Calibri" pitchFamily="34" charset="-120"/>
              </a:rPr>
              <a:t>PORT env var changes the port</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rgbClr val="0B2A3F"/>
                </a:solidFill>
                <a:latin typeface="Cambria" pitchFamily="34" charset="0"/>
                <a:ea typeface="Cambria" pitchFamily="34" charset="-122"/>
                <a:cs typeface="Cambria" pitchFamily="34" charset="-120"/>
              </a:rPr>
              <a:t>Screenshots 1 of 5</a:t>
            </a:r>
            <a:endParaRPr lang="en-US" sz="3000" dirty="0"/>
          </a:p>
        </p:txBody>
      </p:sp>
      <p:sp>
        <p:nvSpPr>
          <p:cNvPr id="3" name="Text 1"/>
          <p:cNvSpPr txBox="1"/>
          <p:nvPr/>
        </p:nvSpPr>
        <p:spPr>
          <a:xfrm>
            <a:off x="457200" y="4754880"/>
            <a:ext cx="4572000" cy="228600"/>
          </a:xfrm>
          <a:prstGeom prst="rect">
            <a:avLst/>
          </a:prstGeom>
          <a:noFill/>
          <a:ln/>
        </p:spPr>
        <p:txBody>
          <a:bodyPr wrap="square" lIns="0" tIns="0" rIns="0" bIns="0" rtlCol="0" anchor="ctr"/>
          <a:lstStyle/>
          <a:p>
            <a:pPr marL="0" indent="0">
              <a:buNone/>
            </a:pPr>
            <a:r>
              <a:rPr lang="en-US" sz="1000" dirty="0">
                <a:solidFill>
                  <a:srgbClr val="5B6B78"/>
                </a:solidFill>
                <a:latin typeface="Calibri" pitchFamily="34" charset="0"/>
                <a:ea typeface="Calibri" pitchFamily="34" charset="-122"/>
                <a:cs typeface="Calibri" pitchFamily="34" charset="-120"/>
              </a:rPr>
              <a:t>Campus Lab Helpdesk  |  BCSE308L</a:t>
            </a:r>
            <a:endParaRPr lang="en-US" sz="1000" dirty="0"/>
          </a:p>
        </p:txBody>
      </p:sp>
      <p:sp>
        <p:nvSpPr>
          <p:cNvPr id="4" name="Text 2"/>
          <p:cNvSpPr txBox="1"/>
          <p:nvPr/>
        </p:nvSpPr>
        <p:spPr>
          <a:xfrm>
            <a:off x="7772400" y="4754880"/>
            <a:ext cx="914400" cy="228600"/>
          </a:xfrm>
          <a:prstGeom prst="rect">
            <a:avLst/>
          </a:prstGeom>
          <a:noFill/>
          <a:ln/>
        </p:spPr>
        <p:txBody>
          <a:bodyPr wrap="square" lIns="0" tIns="0" rIns="0" bIns="0" rtlCol="0" anchor="ctr"/>
          <a:lstStyle/>
          <a:p>
            <a:pPr marL="0" indent="0" algn="r">
              <a:buNone/>
            </a:pPr>
            <a:r>
              <a:rPr lang="en-US" sz="1000" dirty="0">
                <a:solidFill>
                  <a:srgbClr val="5B6B78"/>
                </a:solidFill>
                <a:latin typeface="Calibri" pitchFamily="34" charset="0"/>
                <a:ea typeface="Calibri" pitchFamily="34" charset="-122"/>
                <a:cs typeface="Calibri" pitchFamily="34" charset="-120"/>
              </a:rPr>
              <a:t>17</a:t>
            </a:r>
            <a:endParaRPr lang="en-US" sz="1000" dirty="0"/>
          </a:p>
        </p:txBody>
      </p:sp>
      <p:pic>
        <p:nvPicPr>
          <p:cNvPr id="5" name="Image 0" descr="C:/Users/MEGHAN~1/AppData/Local/Temp/dk/img/07_image7.png"/>
          <p:cNvPicPr>
            <a:picLocks noChangeAspect="1"/>
          </p:cNvPicPr>
          <p:nvPr/>
        </p:nvPicPr>
        <p:blipFill>
          <a:blip r:embed="rId3"/>
          <a:stretch>
            <a:fillRect/>
          </a:stretch>
        </p:blipFill>
        <p:spPr>
          <a:xfrm>
            <a:off x="459366" y="1005840"/>
            <a:ext cx="3973309" cy="2359152"/>
          </a:xfrm>
          <a:prstGeom prst="rect">
            <a:avLst/>
          </a:prstGeom>
        </p:spPr>
      </p:pic>
      <p:sp>
        <p:nvSpPr>
          <p:cNvPr id="6" name="Text 3"/>
          <p:cNvSpPr txBox="1"/>
          <p:nvPr/>
        </p:nvSpPr>
        <p:spPr>
          <a:xfrm>
            <a:off x="457200" y="3410712"/>
            <a:ext cx="3977640" cy="274320"/>
          </a:xfrm>
          <a:prstGeom prst="rect">
            <a:avLst/>
          </a:prstGeom>
          <a:noFill/>
          <a:ln/>
        </p:spPr>
        <p:txBody>
          <a:bodyPr wrap="square" lIns="0" tIns="0" rIns="0" bIns="0" rtlCol="0" anchor="ctr"/>
          <a:lstStyle/>
          <a:p>
            <a:pPr marL="0" indent="0" algn="ctr">
              <a:buNone/>
            </a:pPr>
            <a:r>
              <a:rPr lang="en-US" sz="1100" i="1" dirty="0">
                <a:solidFill>
                  <a:srgbClr val="5B6B78"/>
                </a:solidFill>
                <a:latin typeface="Calibri" pitchFamily="34" charset="0"/>
                <a:ea typeface="Calibri" pitchFamily="34" charset="-122"/>
                <a:cs typeface="Calibri" pitchFamily="34" charset="-120"/>
              </a:rPr>
              <a:t>Fig 4.1: Login page</a:t>
            </a:r>
            <a:endParaRPr lang="en-US" sz="1100" dirty="0"/>
          </a:p>
        </p:txBody>
      </p:sp>
      <p:pic>
        <p:nvPicPr>
          <p:cNvPr id="7" name="Image 1" descr="C:/Users/MEGHAN~1/AppData/Local/Temp/dk/img/08_image8.png"/>
          <p:cNvPicPr>
            <a:picLocks noChangeAspect="1"/>
          </p:cNvPicPr>
          <p:nvPr/>
        </p:nvPicPr>
        <p:blipFill>
          <a:blip r:embed="rId4"/>
          <a:stretch>
            <a:fillRect/>
          </a:stretch>
        </p:blipFill>
        <p:spPr>
          <a:xfrm>
            <a:off x="4711326" y="1005840"/>
            <a:ext cx="3973309" cy="2359152"/>
          </a:xfrm>
          <a:prstGeom prst="rect">
            <a:avLst/>
          </a:prstGeom>
        </p:spPr>
      </p:pic>
      <p:sp>
        <p:nvSpPr>
          <p:cNvPr id="8" name="Text 4"/>
          <p:cNvSpPr txBox="1"/>
          <p:nvPr/>
        </p:nvSpPr>
        <p:spPr>
          <a:xfrm>
            <a:off x="4709160" y="3410712"/>
            <a:ext cx="3977640" cy="274320"/>
          </a:xfrm>
          <a:prstGeom prst="rect">
            <a:avLst/>
          </a:prstGeom>
          <a:noFill/>
          <a:ln/>
        </p:spPr>
        <p:txBody>
          <a:bodyPr wrap="square" lIns="0" tIns="0" rIns="0" bIns="0" rtlCol="0" anchor="ctr"/>
          <a:lstStyle/>
          <a:p>
            <a:pPr marL="0" indent="0" algn="ctr">
              <a:buNone/>
            </a:pPr>
            <a:r>
              <a:rPr lang="en-US" sz="1100" i="1" dirty="0">
                <a:solidFill>
                  <a:srgbClr val="5B6B78"/>
                </a:solidFill>
                <a:latin typeface="Calibri" pitchFamily="34" charset="0"/>
                <a:ea typeface="Calibri" pitchFamily="34" charset="-122"/>
                <a:cs typeface="Calibri" pitchFamily="34" charset="-120"/>
              </a:rPr>
              <a:t>Fig 4.2: Student dashboard, live pill</a:t>
            </a:r>
            <a:endParaRPr lang="en-US" sz="1100" dirty="0"/>
          </a:p>
        </p:txBody>
      </p:sp>
      <p:sp>
        <p:nvSpPr>
          <p:cNvPr id="9" name="Text 5"/>
          <p:cNvSpPr txBox="1"/>
          <p:nvPr/>
        </p:nvSpPr>
        <p:spPr>
          <a:xfrm>
            <a:off x="457200" y="4023360"/>
            <a:ext cx="8229600" cy="457200"/>
          </a:xfrm>
          <a:prstGeom prst="rect">
            <a:avLst/>
          </a:prstGeom>
          <a:noFill/>
          <a:ln/>
        </p:spPr>
        <p:txBody>
          <a:bodyPr wrap="square" lIns="0" tIns="0" rIns="0" bIns="0" rtlCol="0" anchor="ctr"/>
          <a:lstStyle/>
          <a:p>
            <a:pPr marL="0" indent="0">
              <a:buNone/>
            </a:pPr>
            <a:r>
              <a:rPr lang="en-US" sz="1300" dirty="0">
                <a:solidFill>
                  <a:srgbClr val="1F2D3A"/>
                </a:solidFill>
                <a:latin typeface="Calibri" pitchFamily="34" charset="0"/>
                <a:ea typeface="Calibri" pitchFamily="34" charset="-122"/>
                <a:cs typeface="Calibri" pitchFamily="34" charset="-120"/>
              </a:rPr>
              <a:t>A student (asha) and an assistant (ravi) were logged in at the same time in separate browsers.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rgbClr val="0B2A3F"/>
                </a:solidFill>
                <a:latin typeface="Cambria" pitchFamily="34" charset="0"/>
                <a:ea typeface="Cambria" pitchFamily="34" charset="-122"/>
                <a:cs typeface="Cambria" pitchFamily="34" charset="-120"/>
              </a:rPr>
              <a:t>Screenshots 2 of 5</a:t>
            </a:r>
            <a:endParaRPr lang="en-US" sz="3000" dirty="0"/>
          </a:p>
        </p:txBody>
      </p:sp>
      <p:sp>
        <p:nvSpPr>
          <p:cNvPr id="3" name="Text 1"/>
          <p:cNvSpPr txBox="1"/>
          <p:nvPr/>
        </p:nvSpPr>
        <p:spPr>
          <a:xfrm>
            <a:off x="457200" y="4754880"/>
            <a:ext cx="4572000" cy="228600"/>
          </a:xfrm>
          <a:prstGeom prst="rect">
            <a:avLst/>
          </a:prstGeom>
          <a:noFill/>
          <a:ln/>
        </p:spPr>
        <p:txBody>
          <a:bodyPr wrap="square" lIns="0" tIns="0" rIns="0" bIns="0" rtlCol="0" anchor="ctr"/>
          <a:lstStyle/>
          <a:p>
            <a:pPr marL="0" indent="0">
              <a:buNone/>
            </a:pPr>
            <a:r>
              <a:rPr lang="en-US" sz="1000" dirty="0">
                <a:solidFill>
                  <a:srgbClr val="5B6B78"/>
                </a:solidFill>
                <a:latin typeface="Calibri" pitchFamily="34" charset="0"/>
                <a:ea typeface="Calibri" pitchFamily="34" charset="-122"/>
                <a:cs typeface="Calibri" pitchFamily="34" charset="-120"/>
              </a:rPr>
              <a:t>Campus Lab Helpdesk  |  BCSE308L</a:t>
            </a:r>
            <a:endParaRPr lang="en-US" sz="1000" dirty="0"/>
          </a:p>
        </p:txBody>
      </p:sp>
      <p:sp>
        <p:nvSpPr>
          <p:cNvPr id="4" name="Text 2"/>
          <p:cNvSpPr txBox="1"/>
          <p:nvPr/>
        </p:nvSpPr>
        <p:spPr>
          <a:xfrm>
            <a:off x="7772400" y="4754880"/>
            <a:ext cx="914400" cy="228600"/>
          </a:xfrm>
          <a:prstGeom prst="rect">
            <a:avLst/>
          </a:prstGeom>
          <a:noFill/>
          <a:ln/>
        </p:spPr>
        <p:txBody>
          <a:bodyPr wrap="square" lIns="0" tIns="0" rIns="0" bIns="0" rtlCol="0" anchor="ctr"/>
          <a:lstStyle/>
          <a:p>
            <a:pPr marL="0" indent="0" algn="r">
              <a:buNone/>
            </a:pPr>
            <a:r>
              <a:rPr lang="en-US" sz="1000" dirty="0">
                <a:solidFill>
                  <a:srgbClr val="5B6B78"/>
                </a:solidFill>
                <a:latin typeface="Calibri" pitchFamily="34" charset="0"/>
                <a:ea typeface="Calibri" pitchFamily="34" charset="-122"/>
                <a:cs typeface="Calibri" pitchFamily="34" charset="-120"/>
              </a:rPr>
              <a:t>18</a:t>
            </a:r>
            <a:endParaRPr lang="en-US" sz="1000" dirty="0"/>
          </a:p>
        </p:txBody>
      </p:sp>
      <p:pic>
        <p:nvPicPr>
          <p:cNvPr id="5" name="Image 0" descr="C:/Users/MEGHAN~1/AppData/Local/Temp/dk/img/09_image9.png"/>
          <p:cNvPicPr>
            <a:picLocks noChangeAspect="1"/>
          </p:cNvPicPr>
          <p:nvPr/>
        </p:nvPicPr>
        <p:blipFill>
          <a:blip r:embed="rId3"/>
          <a:stretch>
            <a:fillRect/>
          </a:stretch>
        </p:blipFill>
        <p:spPr>
          <a:xfrm>
            <a:off x="459366" y="1005840"/>
            <a:ext cx="3973309" cy="2359152"/>
          </a:xfrm>
          <a:prstGeom prst="rect">
            <a:avLst/>
          </a:prstGeom>
        </p:spPr>
      </p:pic>
      <p:sp>
        <p:nvSpPr>
          <p:cNvPr id="6" name="Text 3"/>
          <p:cNvSpPr txBox="1"/>
          <p:nvPr/>
        </p:nvSpPr>
        <p:spPr>
          <a:xfrm>
            <a:off x="457200" y="3410712"/>
            <a:ext cx="3977640" cy="274320"/>
          </a:xfrm>
          <a:prstGeom prst="rect">
            <a:avLst/>
          </a:prstGeom>
          <a:noFill/>
          <a:ln/>
        </p:spPr>
        <p:txBody>
          <a:bodyPr wrap="square" lIns="0" tIns="0" rIns="0" bIns="0" rtlCol="0" anchor="ctr"/>
          <a:lstStyle/>
          <a:p>
            <a:pPr marL="0" indent="0" algn="ctr">
              <a:buNone/>
            </a:pPr>
            <a:r>
              <a:rPr lang="en-US" sz="1100" i="1" dirty="0">
                <a:solidFill>
                  <a:srgbClr val="5B6B78"/>
                </a:solidFill>
                <a:latin typeface="Calibri" pitchFamily="34" charset="0"/>
                <a:ea typeface="Calibri" pitchFamily="34" charset="-122"/>
                <a:cs typeface="Calibri" pitchFamily="34" charset="-120"/>
              </a:rPr>
              <a:t>Fig 4.3: Report a problem</a:t>
            </a:r>
            <a:endParaRPr lang="en-US" sz="1100" dirty="0"/>
          </a:p>
        </p:txBody>
      </p:sp>
      <p:pic>
        <p:nvPicPr>
          <p:cNvPr id="7" name="Image 1" descr="C:/Users/MEGHAN~1/AppData/Local/Temp/dk/img/10_image10.png"/>
          <p:cNvPicPr>
            <a:picLocks noChangeAspect="1"/>
          </p:cNvPicPr>
          <p:nvPr/>
        </p:nvPicPr>
        <p:blipFill>
          <a:blip r:embed="rId4"/>
          <a:stretch>
            <a:fillRect/>
          </a:stretch>
        </p:blipFill>
        <p:spPr>
          <a:xfrm>
            <a:off x="4711326" y="1005840"/>
            <a:ext cx="3973309" cy="2359152"/>
          </a:xfrm>
          <a:prstGeom prst="rect">
            <a:avLst/>
          </a:prstGeom>
        </p:spPr>
      </p:pic>
      <p:sp>
        <p:nvSpPr>
          <p:cNvPr id="8" name="Text 4"/>
          <p:cNvSpPr txBox="1"/>
          <p:nvPr/>
        </p:nvSpPr>
        <p:spPr>
          <a:xfrm>
            <a:off x="4709160" y="3410712"/>
            <a:ext cx="3977640" cy="274320"/>
          </a:xfrm>
          <a:prstGeom prst="rect">
            <a:avLst/>
          </a:prstGeom>
          <a:noFill/>
          <a:ln/>
        </p:spPr>
        <p:txBody>
          <a:bodyPr wrap="square" lIns="0" tIns="0" rIns="0" bIns="0" rtlCol="0" anchor="ctr"/>
          <a:lstStyle/>
          <a:p>
            <a:pPr marL="0" indent="0" algn="ctr">
              <a:buNone/>
            </a:pPr>
            <a:r>
              <a:rPr lang="en-US" sz="1100" i="1" dirty="0">
                <a:solidFill>
                  <a:srgbClr val="5B6B78"/>
                </a:solidFill>
                <a:latin typeface="Calibri" pitchFamily="34" charset="0"/>
                <a:ea typeface="Calibri" pitchFamily="34" charset="-122"/>
                <a:cs typeface="Calibri" pitchFamily="34" charset="-120"/>
              </a:rPr>
              <a:t>Fig 4.4: Ticket number LAB-0010 returned</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rgbClr val="0B2A3F"/>
                </a:solidFill>
                <a:latin typeface="Cambria" pitchFamily="34" charset="0"/>
                <a:ea typeface="Cambria" pitchFamily="34" charset="-122"/>
                <a:cs typeface="Cambria" pitchFamily="34" charset="-120"/>
              </a:rPr>
              <a:t>Screenshots 3 of 5</a:t>
            </a:r>
            <a:endParaRPr lang="en-US" sz="3000" dirty="0"/>
          </a:p>
        </p:txBody>
      </p:sp>
      <p:sp>
        <p:nvSpPr>
          <p:cNvPr id="3" name="Text 1"/>
          <p:cNvSpPr txBox="1"/>
          <p:nvPr/>
        </p:nvSpPr>
        <p:spPr>
          <a:xfrm>
            <a:off x="457200" y="4754880"/>
            <a:ext cx="4572000" cy="228600"/>
          </a:xfrm>
          <a:prstGeom prst="rect">
            <a:avLst/>
          </a:prstGeom>
          <a:noFill/>
          <a:ln/>
        </p:spPr>
        <p:txBody>
          <a:bodyPr wrap="square" lIns="0" tIns="0" rIns="0" bIns="0" rtlCol="0" anchor="ctr"/>
          <a:lstStyle/>
          <a:p>
            <a:pPr marL="0" indent="0">
              <a:buNone/>
            </a:pPr>
            <a:r>
              <a:rPr lang="en-US" sz="1000" dirty="0">
                <a:solidFill>
                  <a:srgbClr val="5B6B78"/>
                </a:solidFill>
                <a:latin typeface="Calibri" pitchFamily="34" charset="0"/>
                <a:ea typeface="Calibri" pitchFamily="34" charset="-122"/>
                <a:cs typeface="Calibri" pitchFamily="34" charset="-120"/>
              </a:rPr>
              <a:t>Campus Lab Helpdesk  |  BCSE308L</a:t>
            </a:r>
            <a:endParaRPr lang="en-US" sz="1000" dirty="0"/>
          </a:p>
        </p:txBody>
      </p:sp>
      <p:sp>
        <p:nvSpPr>
          <p:cNvPr id="4" name="Text 2"/>
          <p:cNvSpPr txBox="1"/>
          <p:nvPr/>
        </p:nvSpPr>
        <p:spPr>
          <a:xfrm>
            <a:off x="7772400" y="4754880"/>
            <a:ext cx="914400" cy="228600"/>
          </a:xfrm>
          <a:prstGeom prst="rect">
            <a:avLst/>
          </a:prstGeom>
          <a:noFill/>
          <a:ln/>
        </p:spPr>
        <p:txBody>
          <a:bodyPr wrap="square" lIns="0" tIns="0" rIns="0" bIns="0" rtlCol="0" anchor="ctr"/>
          <a:lstStyle/>
          <a:p>
            <a:pPr marL="0" indent="0" algn="r">
              <a:buNone/>
            </a:pPr>
            <a:r>
              <a:rPr lang="en-US" sz="1000" dirty="0">
                <a:solidFill>
                  <a:srgbClr val="5B6B78"/>
                </a:solidFill>
                <a:latin typeface="Calibri" pitchFamily="34" charset="0"/>
                <a:ea typeface="Calibri" pitchFamily="34" charset="-122"/>
                <a:cs typeface="Calibri" pitchFamily="34" charset="-120"/>
              </a:rPr>
              <a:t>19</a:t>
            </a:r>
            <a:endParaRPr lang="en-US" sz="1000" dirty="0"/>
          </a:p>
        </p:txBody>
      </p:sp>
      <p:pic>
        <p:nvPicPr>
          <p:cNvPr id="5" name="Image 0" descr="C:/Users/MEGHAN~1/AppData/Local/Temp/dk/img/11_image11.png"/>
          <p:cNvPicPr>
            <a:picLocks noChangeAspect="1"/>
          </p:cNvPicPr>
          <p:nvPr/>
        </p:nvPicPr>
        <p:blipFill>
          <a:blip r:embed="rId3"/>
          <a:stretch>
            <a:fillRect/>
          </a:stretch>
        </p:blipFill>
        <p:spPr>
          <a:xfrm>
            <a:off x="459366" y="1005840"/>
            <a:ext cx="3973309" cy="2359152"/>
          </a:xfrm>
          <a:prstGeom prst="rect">
            <a:avLst/>
          </a:prstGeom>
        </p:spPr>
      </p:pic>
      <p:sp>
        <p:nvSpPr>
          <p:cNvPr id="6" name="Text 3"/>
          <p:cNvSpPr txBox="1"/>
          <p:nvPr/>
        </p:nvSpPr>
        <p:spPr>
          <a:xfrm>
            <a:off x="457200" y="3410712"/>
            <a:ext cx="3977640" cy="274320"/>
          </a:xfrm>
          <a:prstGeom prst="rect">
            <a:avLst/>
          </a:prstGeom>
          <a:noFill/>
          <a:ln/>
        </p:spPr>
        <p:txBody>
          <a:bodyPr wrap="square" lIns="0" tIns="0" rIns="0" bIns="0" rtlCol="0" anchor="ctr"/>
          <a:lstStyle/>
          <a:p>
            <a:pPr marL="0" indent="0" algn="ctr">
              <a:buNone/>
            </a:pPr>
            <a:r>
              <a:rPr lang="en-US" sz="1100" i="1" dirty="0">
                <a:solidFill>
                  <a:srgbClr val="5B6B78"/>
                </a:solidFill>
                <a:latin typeface="Calibri" pitchFamily="34" charset="0"/>
                <a:ea typeface="Calibri" pitchFamily="34" charset="-122"/>
                <a:cs typeface="Calibri" pitchFamily="34" charset="-120"/>
              </a:rPr>
              <a:t>Fig 4.5: Assistant list updates live</a:t>
            </a:r>
            <a:endParaRPr lang="en-US" sz="1100" dirty="0"/>
          </a:p>
        </p:txBody>
      </p:sp>
      <p:pic>
        <p:nvPicPr>
          <p:cNvPr id="7" name="Image 1" descr="C:/Users/MEGHAN~1/AppData/Local/Temp/dk/img/12_image12.png"/>
          <p:cNvPicPr>
            <a:picLocks noChangeAspect="1"/>
          </p:cNvPicPr>
          <p:nvPr/>
        </p:nvPicPr>
        <p:blipFill>
          <a:blip r:embed="rId4"/>
          <a:stretch>
            <a:fillRect/>
          </a:stretch>
        </p:blipFill>
        <p:spPr>
          <a:xfrm>
            <a:off x="4711326" y="1005840"/>
            <a:ext cx="3973309" cy="2359152"/>
          </a:xfrm>
          <a:prstGeom prst="rect">
            <a:avLst/>
          </a:prstGeom>
        </p:spPr>
      </p:pic>
      <p:sp>
        <p:nvSpPr>
          <p:cNvPr id="8" name="Text 4"/>
          <p:cNvSpPr txBox="1"/>
          <p:nvPr/>
        </p:nvSpPr>
        <p:spPr>
          <a:xfrm>
            <a:off x="4709160" y="3410712"/>
            <a:ext cx="3977640" cy="274320"/>
          </a:xfrm>
          <a:prstGeom prst="rect">
            <a:avLst/>
          </a:prstGeom>
          <a:noFill/>
          <a:ln/>
        </p:spPr>
        <p:txBody>
          <a:bodyPr wrap="square" lIns="0" tIns="0" rIns="0" bIns="0" rtlCol="0" anchor="ctr"/>
          <a:lstStyle/>
          <a:p>
            <a:pPr marL="0" indent="0" algn="ctr">
              <a:buNone/>
            </a:pPr>
            <a:r>
              <a:rPr lang="en-US" sz="1100" i="1" dirty="0">
                <a:solidFill>
                  <a:srgbClr val="5B6B78"/>
                </a:solidFill>
                <a:latin typeface="Calibri" pitchFamily="34" charset="0"/>
                <a:ea typeface="Calibri" pitchFamily="34" charset="-122"/>
                <a:cs typeface="Calibri" pitchFamily="34" charset="-120"/>
              </a:rPr>
              <a:t>Fig 4.6: Assign, start work, reply Delivered</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rgbClr val="0B2A3F"/>
                </a:solidFill>
                <a:latin typeface="Cambria" pitchFamily="34" charset="0"/>
                <a:ea typeface="Cambria" pitchFamily="34" charset="-122"/>
                <a:cs typeface="Cambria" pitchFamily="34" charset="-120"/>
              </a:rPr>
              <a:t>Screenshots 4 of 5</a:t>
            </a:r>
            <a:endParaRPr lang="en-US" sz="3000" dirty="0"/>
          </a:p>
        </p:txBody>
      </p:sp>
      <p:sp>
        <p:nvSpPr>
          <p:cNvPr id="3" name="Text 1"/>
          <p:cNvSpPr txBox="1"/>
          <p:nvPr/>
        </p:nvSpPr>
        <p:spPr>
          <a:xfrm>
            <a:off x="457200" y="4754880"/>
            <a:ext cx="4572000" cy="228600"/>
          </a:xfrm>
          <a:prstGeom prst="rect">
            <a:avLst/>
          </a:prstGeom>
          <a:noFill/>
          <a:ln/>
        </p:spPr>
        <p:txBody>
          <a:bodyPr wrap="square" lIns="0" tIns="0" rIns="0" bIns="0" rtlCol="0" anchor="ctr"/>
          <a:lstStyle/>
          <a:p>
            <a:pPr marL="0" indent="0">
              <a:buNone/>
            </a:pPr>
            <a:r>
              <a:rPr lang="en-US" sz="1000" dirty="0">
                <a:solidFill>
                  <a:srgbClr val="5B6B78"/>
                </a:solidFill>
                <a:latin typeface="Calibri" pitchFamily="34" charset="0"/>
                <a:ea typeface="Calibri" pitchFamily="34" charset="-122"/>
                <a:cs typeface="Calibri" pitchFamily="34" charset="-120"/>
              </a:rPr>
              <a:t>Campus Lab Helpdesk  |  BCSE308L</a:t>
            </a:r>
            <a:endParaRPr lang="en-US" sz="1000" dirty="0"/>
          </a:p>
        </p:txBody>
      </p:sp>
      <p:sp>
        <p:nvSpPr>
          <p:cNvPr id="4" name="Text 2"/>
          <p:cNvSpPr txBox="1"/>
          <p:nvPr/>
        </p:nvSpPr>
        <p:spPr>
          <a:xfrm>
            <a:off x="7772400" y="4754880"/>
            <a:ext cx="914400" cy="228600"/>
          </a:xfrm>
          <a:prstGeom prst="rect">
            <a:avLst/>
          </a:prstGeom>
          <a:noFill/>
          <a:ln/>
        </p:spPr>
        <p:txBody>
          <a:bodyPr wrap="square" lIns="0" tIns="0" rIns="0" bIns="0" rtlCol="0" anchor="ctr"/>
          <a:lstStyle/>
          <a:p>
            <a:pPr marL="0" indent="0" algn="r">
              <a:buNone/>
            </a:pPr>
            <a:r>
              <a:rPr lang="en-US" sz="1000" dirty="0">
                <a:solidFill>
                  <a:srgbClr val="5B6B78"/>
                </a:solidFill>
                <a:latin typeface="Calibri" pitchFamily="34" charset="0"/>
                <a:ea typeface="Calibri" pitchFamily="34" charset="-122"/>
                <a:cs typeface="Calibri" pitchFamily="34" charset="-120"/>
              </a:rPr>
              <a:t>20</a:t>
            </a:r>
            <a:endParaRPr lang="en-US" sz="1000" dirty="0"/>
          </a:p>
        </p:txBody>
      </p:sp>
      <p:pic>
        <p:nvPicPr>
          <p:cNvPr id="5" name="Image 0" descr="C:/Users/MEGHAN~1/AppData/Local/Temp/dk/img/13_image13.png"/>
          <p:cNvPicPr>
            <a:picLocks noChangeAspect="1"/>
          </p:cNvPicPr>
          <p:nvPr/>
        </p:nvPicPr>
        <p:blipFill>
          <a:blip r:embed="rId3"/>
          <a:stretch>
            <a:fillRect/>
          </a:stretch>
        </p:blipFill>
        <p:spPr>
          <a:xfrm>
            <a:off x="459366" y="1005840"/>
            <a:ext cx="3973309" cy="2359152"/>
          </a:xfrm>
          <a:prstGeom prst="rect">
            <a:avLst/>
          </a:prstGeom>
        </p:spPr>
      </p:pic>
      <p:sp>
        <p:nvSpPr>
          <p:cNvPr id="6" name="Text 3"/>
          <p:cNvSpPr txBox="1"/>
          <p:nvPr/>
        </p:nvSpPr>
        <p:spPr>
          <a:xfrm>
            <a:off x="457200" y="3410712"/>
            <a:ext cx="3977640" cy="274320"/>
          </a:xfrm>
          <a:prstGeom prst="rect">
            <a:avLst/>
          </a:prstGeom>
          <a:noFill/>
          <a:ln/>
        </p:spPr>
        <p:txBody>
          <a:bodyPr wrap="square" lIns="0" tIns="0" rIns="0" bIns="0" rtlCol="0" anchor="ctr"/>
          <a:lstStyle/>
          <a:p>
            <a:pPr marL="0" indent="0" algn="ctr">
              <a:buNone/>
            </a:pPr>
            <a:r>
              <a:rPr lang="en-US" sz="1100" i="1" dirty="0">
                <a:solidFill>
                  <a:srgbClr val="5B6B78"/>
                </a:solidFill>
                <a:latin typeface="Calibri" pitchFamily="34" charset="0"/>
                <a:ea typeface="Calibri" pitchFamily="34" charset="-122"/>
                <a:cs typeface="Calibri" pitchFamily="34" charset="-120"/>
              </a:rPr>
              <a:t>Fig 4.7: Student sees In Progress live</a:t>
            </a:r>
            <a:endParaRPr lang="en-US" sz="1100" dirty="0"/>
          </a:p>
        </p:txBody>
      </p:sp>
      <p:pic>
        <p:nvPicPr>
          <p:cNvPr id="7" name="Image 1" descr="C:/Users/MEGHAN~1/AppData/Local/Temp/dk/img/14_image14.png"/>
          <p:cNvPicPr>
            <a:picLocks noChangeAspect="1"/>
          </p:cNvPicPr>
          <p:nvPr/>
        </p:nvPicPr>
        <p:blipFill>
          <a:blip r:embed="rId4"/>
          <a:stretch>
            <a:fillRect/>
          </a:stretch>
        </p:blipFill>
        <p:spPr>
          <a:xfrm>
            <a:off x="4711326" y="1005840"/>
            <a:ext cx="3973309" cy="2359152"/>
          </a:xfrm>
          <a:prstGeom prst="rect">
            <a:avLst/>
          </a:prstGeom>
        </p:spPr>
      </p:pic>
      <p:sp>
        <p:nvSpPr>
          <p:cNvPr id="8" name="Text 4"/>
          <p:cNvSpPr txBox="1"/>
          <p:nvPr/>
        </p:nvSpPr>
        <p:spPr>
          <a:xfrm>
            <a:off x="4709160" y="3410712"/>
            <a:ext cx="3977640" cy="274320"/>
          </a:xfrm>
          <a:prstGeom prst="rect">
            <a:avLst/>
          </a:prstGeom>
          <a:noFill/>
          <a:ln/>
        </p:spPr>
        <p:txBody>
          <a:bodyPr wrap="square" lIns="0" tIns="0" rIns="0" bIns="0" rtlCol="0" anchor="ctr"/>
          <a:lstStyle/>
          <a:p>
            <a:pPr marL="0" indent="0" algn="ctr">
              <a:buNone/>
            </a:pPr>
            <a:r>
              <a:rPr lang="en-US" sz="1100" i="1" dirty="0">
                <a:solidFill>
                  <a:srgbClr val="5B6B78"/>
                </a:solidFill>
                <a:latin typeface="Calibri" pitchFamily="34" charset="0"/>
                <a:ea typeface="Calibri" pitchFamily="34" charset="-122"/>
                <a:cs typeface="Calibri" pitchFamily="34" charset="-120"/>
              </a:rPr>
              <a:t>Fig 4.8: Assistant overview and feed</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rgbClr val="0B2A3F"/>
                </a:solidFill>
                <a:latin typeface="Cambria" pitchFamily="34" charset="0"/>
                <a:ea typeface="Cambria" pitchFamily="34" charset="-122"/>
                <a:cs typeface="Cambria" pitchFamily="34" charset="-120"/>
              </a:rPr>
              <a:t>Screenshots 5 of 5</a:t>
            </a:r>
            <a:endParaRPr lang="en-US" sz="3000" dirty="0"/>
          </a:p>
        </p:txBody>
      </p:sp>
      <p:sp>
        <p:nvSpPr>
          <p:cNvPr id="3" name="Text 1"/>
          <p:cNvSpPr txBox="1"/>
          <p:nvPr/>
        </p:nvSpPr>
        <p:spPr>
          <a:xfrm>
            <a:off x="457200" y="4754880"/>
            <a:ext cx="4572000" cy="228600"/>
          </a:xfrm>
          <a:prstGeom prst="rect">
            <a:avLst/>
          </a:prstGeom>
          <a:noFill/>
          <a:ln/>
        </p:spPr>
        <p:txBody>
          <a:bodyPr wrap="square" lIns="0" tIns="0" rIns="0" bIns="0" rtlCol="0" anchor="ctr"/>
          <a:lstStyle/>
          <a:p>
            <a:pPr marL="0" indent="0">
              <a:buNone/>
            </a:pPr>
            <a:r>
              <a:rPr lang="en-US" sz="1000" dirty="0">
                <a:solidFill>
                  <a:srgbClr val="5B6B78"/>
                </a:solidFill>
                <a:latin typeface="Calibri" pitchFamily="34" charset="0"/>
                <a:ea typeface="Calibri" pitchFamily="34" charset="-122"/>
                <a:cs typeface="Calibri" pitchFamily="34" charset="-120"/>
              </a:rPr>
              <a:t>Campus Lab Helpdesk  |  BCSE308L</a:t>
            </a:r>
            <a:endParaRPr lang="en-US" sz="1000" dirty="0"/>
          </a:p>
        </p:txBody>
      </p:sp>
      <p:sp>
        <p:nvSpPr>
          <p:cNvPr id="4" name="Text 2"/>
          <p:cNvSpPr txBox="1"/>
          <p:nvPr/>
        </p:nvSpPr>
        <p:spPr>
          <a:xfrm>
            <a:off x="7772400" y="4754880"/>
            <a:ext cx="914400" cy="228600"/>
          </a:xfrm>
          <a:prstGeom prst="rect">
            <a:avLst/>
          </a:prstGeom>
          <a:noFill/>
          <a:ln/>
        </p:spPr>
        <p:txBody>
          <a:bodyPr wrap="square" lIns="0" tIns="0" rIns="0" bIns="0" rtlCol="0" anchor="ctr"/>
          <a:lstStyle/>
          <a:p>
            <a:pPr marL="0" indent="0" algn="r">
              <a:buNone/>
            </a:pPr>
            <a:r>
              <a:rPr lang="en-US" sz="1000" dirty="0">
                <a:solidFill>
                  <a:srgbClr val="5B6B78"/>
                </a:solidFill>
                <a:latin typeface="Calibri" pitchFamily="34" charset="0"/>
                <a:ea typeface="Calibri" pitchFamily="34" charset="-122"/>
                <a:cs typeface="Calibri" pitchFamily="34" charset="-120"/>
              </a:rPr>
              <a:t>21</a:t>
            </a:r>
            <a:endParaRPr lang="en-US" sz="1000" dirty="0"/>
          </a:p>
        </p:txBody>
      </p:sp>
      <p:pic>
        <p:nvPicPr>
          <p:cNvPr id="5" name="Image 0" descr="C:/Users/MEGHAN~1/AppData/Local/Temp/dk/img/15_image15.png"/>
          <p:cNvPicPr>
            <a:picLocks noChangeAspect="1"/>
          </p:cNvPicPr>
          <p:nvPr/>
        </p:nvPicPr>
        <p:blipFill>
          <a:blip r:embed="rId3"/>
          <a:stretch>
            <a:fillRect/>
          </a:stretch>
        </p:blipFill>
        <p:spPr>
          <a:xfrm>
            <a:off x="459366" y="1005840"/>
            <a:ext cx="3973309" cy="2359152"/>
          </a:xfrm>
          <a:prstGeom prst="rect">
            <a:avLst/>
          </a:prstGeom>
        </p:spPr>
      </p:pic>
      <p:sp>
        <p:nvSpPr>
          <p:cNvPr id="6" name="Text 3"/>
          <p:cNvSpPr txBox="1"/>
          <p:nvPr/>
        </p:nvSpPr>
        <p:spPr>
          <a:xfrm>
            <a:off x="457200" y="3410712"/>
            <a:ext cx="3977640" cy="274320"/>
          </a:xfrm>
          <a:prstGeom prst="rect">
            <a:avLst/>
          </a:prstGeom>
          <a:noFill/>
          <a:ln/>
        </p:spPr>
        <p:txBody>
          <a:bodyPr wrap="square" lIns="0" tIns="0" rIns="0" bIns="0" rtlCol="0" anchor="ctr"/>
          <a:lstStyle/>
          <a:p>
            <a:pPr marL="0" indent="0" algn="ctr">
              <a:buNone/>
            </a:pPr>
            <a:r>
              <a:rPr lang="en-US" sz="1100" i="1" dirty="0">
                <a:solidFill>
                  <a:srgbClr val="5B6B78"/>
                </a:solidFill>
                <a:latin typeface="Calibri" pitchFamily="34" charset="0"/>
                <a:ea typeface="Calibri" pitchFamily="34" charset="-122"/>
                <a:cs typeface="Calibri" pitchFamily="34" charset="-120"/>
              </a:rPr>
              <a:t>Fig 4.9: Network monitor with client IPs</a:t>
            </a:r>
            <a:endParaRPr lang="en-US" sz="1100" dirty="0"/>
          </a:p>
        </p:txBody>
      </p:sp>
      <p:pic>
        <p:nvPicPr>
          <p:cNvPr id="7" name="Image 1" descr="C:/Users/MEGHAN~1/AppData/Local/Temp/dk/img/16_image16.png"/>
          <p:cNvPicPr>
            <a:picLocks noChangeAspect="1"/>
          </p:cNvPicPr>
          <p:nvPr/>
        </p:nvPicPr>
        <p:blipFill>
          <a:blip r:embed="rId4"/>
          <a:stretch>
            <a:fillRect/>
          </a:stretch>
        </p:blipFill>
        <p:spPr>
          <a:xfrm>
            <a:off x="4711326" y="1005840"/>
            <a:ext cx="3973309" cy="2359152"/>
          </a:xfrm>
          <a:prstGeom prst="rect">
            <a:avLst/>
          </a:prstGeom>
        </p:spPr>
      </p:pic>
      <p:sp>
        <p:nvSpPr>
          <p:cNvPr id="8" name="Text 4"/>
          <p:cNvSpPr txBox="1"/>
          <p:nvPr/>
        </p:nvSpPr>
        <p:spPr>
          <a:xfrm>
            <a:off x="4709160" y="3410712"/>
            <a:ext cx="3977640" cy="274320"/>
          </a:xfrm>
          <a:prstGeom prst="rect">
            <a:avLst/>
          </a:prstGeom>
          <a:noFill/>
          <a:ln/>
        </p:spPr>
        <p:txBody>
          <a:bodyPr wrap="square" lIns="0" tIns="0" rIns="0" bIns="0" rtlCol="0" anchor="ctr"/>
          <a:lstStyle/>
          <a:p>
            <a:pPr marL="0" indent="0" algn="ctr">
              <a:buNone/>
            </a:pPr>
            <a:r>
              <a:rPr lang="en-US" sz="1100" i="1" dirty="0">
                <a:solidFill>
                  <a:srgbClr val="5B6B78"/>
                </a:solidFill>
                <a:latin typeface="Calibri" pitchFamily="34" charset="0"/>
                <a:ea typeface="Calibri" pitchFamily="34" charset="-122"/>
                <a:cs typeface="Calibri" pitchFamily="34" charset="-120"/>
              </a:rPr>
              <a:t>Fig 4.10: Announcements management</a:t>
            </a:r>
            <a:endParaRPr lang="en-US" sz="1100" dirty="0"/>
          </a:p>
        </p:txBody>
      </p:sp>
      <p:sp>
        <p:nvSpPr>
          <p:cNvPr id="9" name="Text 5"/>
          <p:cNvSpPr txBox="1"/>
          <p:nvPr/>
        </p:nvSpPr>
        <p:spPr>
          <a:xfrm>
            <a:off x="457200" y="4023360"/>
            <a:ext cx="8229600" cy="457200"/>
          </a:xfrm>
          <a:prstGeom prst="rect">
            <a:avLst/>
          </a:prstGeom>
          <a:noFill/>
          <a:ln/>
        </p:spPr>
        <p:txBody>
          <a:bodyPr wrap="square" lIns="0" tIns="0" rIns="0" bIns="0" rtlCol="0" anchor="ctr"/>
          <a:lstStyle/>
          <a:p>
            <a:pPr marL="0" indent="0">
              <a:buNone/>
            </a:pPr>
            <a:r>
              <a:rPr lang="en-US" sz="1300" dirty="0">
                <a:solidFill>
                  <a:srgbClr val="1F2D3A"/>
                </a:solidFill>
                <a:latin typeface="Calibri" pitchFamily="34" charset="0"/>
                <a:ea typeface="Calibri" pitchFamily="34" charset="-122"/>
                <a:cs typeface="Calibri" pitchFamily="34" charset="-120"/>
              </a:rPr>
              <a:t>Note: Fig 4.9 was captured with the server on port 5050 (PORT override); the default is 5000.</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rgbClr val="0B2A3F"/>
                </a:solidFill>
                <a:latin typeface="Cambria" pitchFamily="34" charset="0"/>
                <a:ea typeface="Cambria" pitchFamily="34" charset="-122"/>
                <a:cs typeface="Cambria" pitchFamily="34" charset="-120"/>
              </a:rPr>
              <a:t>Current progress and testing</a:t>
            </a:r>
            <a:endParaRPr lang="en-US" sz="3000" dirty="0"/>
          </a:p>
        </p:txBody>
      </p:sp>
      <p:sp>
        <p:nvSpPr>
          <p:cNvPr id="3" name="Text 1"/>
          <p:cNvSpPr txBox="1"/>
          <p:nvPr/>
        </p:nvSpPr>
        <p:spPr>
          <a:xfrm>
            <a:off x="457200" y="4754880"/>
            <a:ext cx="4572000" cy="228600"/>
          </a:xfrm>
          <a:prstGeom prst="rect">
            <a:avLst/>
          </a:prstGeom>
          <a:noFill/>
          <a:ln/>
        </p:spPr>
        <p:txBody>
          <a:bodyPr wrap="square" lIns="0" tIns="0" rIns="0" bIns="0" rtlCol="0" anchor="ctr"/>
          <a:lstStyle/>
          <a:p>
            <a:pPr marL="0" indent="0">
              <a:buNone/>
            </a:pPr>
            <a:r>
              <a:rPr lang="en-US" sz="1000" dirty="0">
                <a:solidFill>
                  <a:srgbClr val="5B6B78"/>
                </a:solidFill>
                <a:latin typeface="Calibri" pitchFamily="34" charset="0"/>
                <a:ea typeface="Calibri" pitchFamily="34" charset="-122"/>
                <a:cs typeface="Calibri" pitchFamily="34" charset="-120"/>
              </a:rPr>
              <a:t>Campus Lab Helpdesk  |  BCSE308L</a:t>
            </a:r>
            <a:endParaRPr lang="en-US" sz="1000" dirty="0"/>
          </a:p>
        </p:txBody>
      </p:sp>
      <p:sp>
        <p:nvSpPr>
          <p:cNvPr id="4" name="Text 2"/>
          <p:cNvSpPr txBox="1"/>
          <p:nvPr/>
        </p:nvSpPr>
        <p:spPr>
          <a:xfrm>
            <a:off x="7772400" y="4754880"/>
            <a:ext cx="914400" cy="228600"/>
          </a:xfrm>
          <a:prstGeom prst="rect">
            <a:avLst/>
          </a:prstGeom>
          <a:noFill/>
          <a:ln/>
        </p:spPr>
        <p:txBody>
          <a:bodyPr wrap="square" lIns="0" tIns="0" rIns="0" bIns="0" rtlCol="0" anchor="ctr"/>
          <a:lstStyle/>
          <a:p>
            <a:pPr marL="0" indent="0" algn="r">
              <a:buNone/>
            </a:pPr>
            <a:r>
              <a:rPr lang="en-US" sz="1000" dirty="0">
                <a:solidFill>
                  <a:srgbClr val="5B6B78"/>
                </a:solidFill>
                <a:latin typeface="Calibri" pitchFamily="34" charset="0"/>
                <a:ea typeface="Calibri" pitchFamily="34" charset="-122"/>
                <a:cs typeface="Calibri" pitchFamily="34" charset="-120"/>
              </a:rPr>
              <a:t>22</a:t>
            </a:r>
            <a:endParaRPr lang="en-US" sz="10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5120640" cy="1792224"/>
        </p:xfrm>
        <a:graphic>
          <a:graphicData uri="http://schemas.openxmlformats.org/drawingml/2006/table">
            <a:tbl>
              <a:tblPr/>
              <a:tblGrid>
                <a:gridCol w="301752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tblGrid>
              <a:tr h="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Module</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0B2A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Status</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0B2A3F"/>
                    </a:solidFill>
                  </a:tcPr>
                </a:tc>
                <a:extLst>
                  <a:ext uri="{0D108BD9-81ED-4DB2-BD59-A6C34878D82A}">
                    <a16:rowId xmlns:a16="http://schemas.microsoft.com/office/drawing/2014/main" val="10000"/>
                  </a:ext>
                </a:extLst>
              </a:tr>
              <a:tr h="0">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Auth, sessions, roles, CSRF</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EAF3F4"/>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Completed, tested</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EAF3F4"/>
                    </a:solidFill>
                  </a:tcPr>
                </a:tc>
                <a:extLst>
                  <a:ext uri="{0D108BD9-81ED-4DB2-BD59-A6C34878D82A}">
                    <a16:rowId xmlns:a16="http://schemas.microsoft.com/office/drawing/2014/main" val="10001"/>
                  </a:ext>
                </a:extLst>
              </a:tr>
              <a:tr h="0">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Tickets, search, workflow, chat</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Completed, tested</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Announcements</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EAF3F4"/>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Completed, tested</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EAF3F4"/>
                    </a:solidFill>
                  </a:tcPr>
                </a:tc>
                <a:extLst>
                  <a:ext uri="{0D108BD9-81ED-4DB2-BD59-A6C34878D82A}">
                    <a16:rowId xmlns:a16="http://schemas.microsoft.com/office/drawing/2014/main" val="10003"/>
                  </a:ext>
                </a:extLst>
              </a:tr>
              <a:tr h="0">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Socket.IO: rooms, acks, presence, resync</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Completed, tested</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Student portal and assistant console</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EAF3F4"/>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Completed, checked in browser</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EAF3F4"/>
                    </a:solidFill>
                  </a:tcPr>
                </a:tc>
                <a:extLst>
                  <a:ext uri="{0D108BD9-81ED-4DB2-BD59-A6C34878D82A}">
                    <a16:rowId xmlns:a16="http://schemas.microsoft.com/office/drawing/2014/main" val="10005"/>
                  </a:ext>
                </a:extLst>
              </a:tr>
              <a:tr h="0">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Network monitor, seed, CLI tools</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Completed</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Shape 3"/>
          <p:cNvSpPr/>
          <p:nvPr/>
        </p:nvSpPr>
        <p:spPr>
          <a:xfrm>
            <a:off x="5852160" y="1005840"/>
            <a:ext cx="2834640" cy="1371600"/>
          </a:xfrm>
          <a:prstGeom prst="roundRect">
            <a:avLst>
              <a:gd name="adj" fmla="val 5333"/>
            </a:avLst>
          </a:prstGeom>
          <a:solidFill>
            <a:srgbClr val="0B2A3F"/>
          </a:solidFill>
          <a:ln w="12700">
            <a:solidFill>
              <a:srgbClr val="0B2A3F"/>
            </a:solidFill>
            <a:prstDash val="solid"/>
          </a:ln>
        </p:spPr>
      </p:sp>
      <p:sp>
        <p:nvSpPr>
          <p:cNvPr id="7" name="Text 4"/>
          <p:cNvSpPr txBox="1"/>
          <p:nvPr/>
        </p:nvSpPr>
        <p:spPr>
          <a:xfrm>
            <a:off x="5852160" y="1051560"/>
            <a:ext cx="2834640" cy="822960"/>
          </a:xfrm>
          <a:prstGeom prst="rect">
            <a:avLst/>
          </a:prstGeom>
          <a:noFill/>
          <a:ln/>
        </p:spPr>
        <p:txBody>
          <a:bodyPr wrap="square" lIns="0" tIns="0" rIns="0" bIns="0" rtlCol="0" anchor="ctr"/>
          <a:lstStyle/>
          <a:p>
            <a:pPr marL="0" indent="0" algn="ctr">
              <a:buNone/>
            </a:pPr>
            <a:r>
              <a:rPr lang="en-US" sz="4800" b="1" dirty="0">
                <a:solidFill>
                  <a:srgbClr val="F2A93B"/>
                </a:solidFill>
                <a:latin typeface="Cambria" pitchFamily="34" charset="0"/>
                <a:ea typeface="Cambria" pitchFamily="34" charset="-122"/>
                <a:cs typeface="Cambria" pitchFamily="34" charset="-120"/>
              </a:rPr>
              <a:t>81</a:t>
            </a:r>
            <a:endParaRPr lang="en-US" sz="4800" dirty="0"/>
          </a:p>
        </p:txBody>
      </p:sp>
      <p:sp>
        <p:nvSpPr>
          <p:cNvPr id="8" name="Text 5"/>
          <p:cNvSpPr txBox="1"/>
          <p:nvPr/>
        </p:nvSpPr>
        <p:spPr>
          <a:xfrm>
            <a:off x="5852160" y="1874520"/>
            <a:ext cx="2834640" cy="36576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pytest tests passing</a:t>
            </a:r>
            <a:endParaRPr lang="en-US" sz="1400" dirty="0"/>
          </a:p>
        </p:txBody>
      </p:sp>
      <p:sp>
        <p:nvSpPr>
          <p:cNvPr id="9" name="Text 6"/>
          <p:cNvSpPr txBox="1"/>
          <p:nvPr/>
        </p:nvSpPr>
        <p:spPr>
          <a:xfrm>
            <a:off x="5852160" y="2514600"/>
            <a:ext cx="2834640" cy="210312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F2D3A"/>
                </a:solidFill>
                <a:latin typeface="Calibri" pitchFamily="34" charset="0"/>
                <a:ea typeface="Calibri" pitchFamily="34" charset="-122"/>
                <a:cs typeface="Calibri" pitchFamily="34" charset="-120"/>
              </a:rPr>
              <a:t>Auth, tickets, authorisation, announcements, sockets, seed</a:t>
            </a:r>
            <a:endParaRPr lang="en-US" sz="1200" dirty="0"/>
          </a:p>
          <a:p>
            <a:pPr marL="342900" indent="-342900">
              <a:spcAft>
                <a:spcPts val="600"/>
              </a:spcAft>
              <a:buSzPct val="100000"/>
              <a:buChar char="•"/>
            </a:pPr>
            <a:r>
              <a:rPr lang="en-US" sz="1200" dirty="0">
                <a:solidFill>
                  <a:srgbClr val="1F2D3A"/>
                </a:solidFill>
                <a:latin typeface="Calibri" pitchFamily="34" charset="0"/>
                <a:ea typeface="Calibri" pitchFamily="34" charset="-122"/>
                <a:cs typeface="Calibri" pitchFamily="34" charset="-120"/>
              </a:rPr>
              <a:t>Scripted WebSocket and headless-browser runs</a:t>
            </a:r>
            <a:endParaRPr lang="en-US" sz="1200" dirty="0"/>
          </a:p>
          <a:p>
            <a:pPr marL="342900" indent="-342900">
              <a:spcAft>
                <a:spcPts val="600"/>
              </a:spcAft>
              <a:buSzPct val="100000"/>
              <a:buChar char="•"/>
            </a:pPr>
            <a:r>
              <a:rPr lang="en-US" sz="1200" dirty="0">
                <a:solidFill>
                  <a:srgbClr val="1F2D3A"/>
                </a:solidFill>
                <a:latin typeface="Calibri" pitchFamily="34" charset="0"/>
                <a:ea typeface="Calibri" pitchFamily="34" charset="-122"/>
                <a:cs typeface="Calibri" pitchFamily="34" charset="-120"/>
              </a:rPr>
              <a:t>Pending: test on a second physical PC with the internet disconnected</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rgbClr val="0B2A3F"/>
                </a:solidFill>
                <a:latin typeface="Cambria" pitchFamily="34" charset="0"/>
                <a:ea typeface="Cambria" pitchFamily="34" charset="-122"/>
                <a:cs typeface="Cambria" pitchFamily="34" charset="-120"/>
              </a:rPr>
              <a:t>Challenges and solutions</a:t>
            </a:r>
            <a:endParaRPr lang="en-US" sz="3000" dirty="0"/>
          </a:p>
        </p:txBody>
      </p:sp>
      <p:sp>
        <p:nvSpPr>
          <p:cNvPr id="3" name="Text 1"/>
          <p:cNvSpPr txBox="1"/>
          <p:nvPr/>
        </p:nvSpPr>
        <p:spPr>
          <a:xfrm>
            <a:off x="457200" y="4754880"/>
            <a:ext cx="4572000" cy="228600"/>
          </a:xfrm>
          <a:prstGeom prst="rect">
            <a:avLst/>
          </a:prstGeom>
          <a:noFill/>
          <a:ln/>
        </p:spPr>
        <p:txBody>
          <a:bodyPr wrap="square" lIns="0" tIns="0" rIns="0" bIns="0" rtlCol="0" anchor="ctr"/>
          <a:lstStyle/>
          <a:p>
            <a:pPr marL="0" indent="0">
              <a:buNone/>
            </a:pPr>
            <a:r>
              <a:rPr lang="en-US" sz="1000" dirty="0">
                <a:solidFill>
                  <a:srgbClr val="5B6B78"/>
                </a:solidFill>
                <a:latin typeface="Calibri" pitchFamily="34" charset="0"/>
                <a:ea typeface="Calibri" pitchFamily="34" charset="-122"/>
                <a:cs typeface="Calibri" pitchFamily="34" charset="-120"/>
              </a:rPr>
              <a:t>Campus Lab Helpdesk  |  BCSE308L</a:t>
            </a:r>
            <a:endParaRPr lang="en-US" sz="1000" dirty="0"/>
          </a:p>
        </p:txBody>
      </p:sp>
      <p:sp>
        <p:nvSpPr>
          <p:cNvPr id="4" name="Text 2"/>
          <p:cNvSpPr txBox="1"/>
          <p:nvPr/>
        </p:nvSpPr>
        <p:spPr>
          <a:xfrm>
            <a:off x="7772400" y="4754880"/>
            <a:ext cx="914400" cy="228600"/>
          </a:xfrm>
          <a:prstGeom prst="rect">
            <a:avLst/>
          </a:prstGeom>
          <a:noFill/>
          <a:ln/>
        </p:spPr>
        <p:txBody>
          <a:bodyPr wrap="square" lIns="0" tIns="0" rIns="0" bIns="0" rtlCol="0" anchor="ctr"/>
          <a:lstStyle/>
          <a:p>
            <a:pPr marL="0" indent="0" algn="r">
              <a:buNone/>
            </a:pPr>
            <a:r>
              <a:rPr lang="en-US" sz="1000" dirty="0">
                <a:solidFill>
                  <a:srgbClr val="5B6B78"/>
                </a:solidFill>
                <a:latin typeface="Calibri" pitchFamily="34" charset="0"/>
                <a:ea typeface="Calibri" pitchFamily="34" charset="-122"/>
                <a:cs typeface="Calibri" pitchFamily="34" charset="-120"/>
              </a:rPr>
              <a:t>23</a:t>
            </a:r>
            <a:endParaRPr lang="en-US" sz="10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1792224"/>
        </p:xfrm>
        <a:graphic>
          <a:graphicData uri="http://schemas.openxmlformats.org/drawingml/2006/table">
            <a:tbl>
              <a:tblPr/>
              <a:tblGrid>
                <a:gridCol w="3474720">
                  <a:extLst>
                    <a:ext uri="{9D8B030D-6E8A-4147-A177-3AD203B41FA5}">
                      <a16:colId xmlns:a16="http://schemas.microsoft.com/office/drawing/2014/main" val="20000"/>
                    </a:ext>
                  </a:extLst>
                </a:gridCol>
                <a:gridCol w="4754880">
                  <a:extLst>
                    <a:ext uri="{9D8B030D-6E8A-4147-A177-3AD203B41FA5}">
                      <a16:colId xmlns:a16="http://schemas.microsoft.com/office/drawing/2014/main" val="20001"/>
                    </a:ext>
                  </a:extLst>
                </a:gridCol>
              </a:tblGrid>
              <a:tr h="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Challenge</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0B2A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Solution</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0B2A3F"/>
                    </a:solidFill>
                  </a:tcPr>
                </a:tc>
                <a:extLst>
                  <a:ext uri="{0D108BD9-81ED-4DB2-BD59-A6C34878D82A}">
                    <a16:rowId xmlns:a16="http://schemas.microsoft.com/office/drawing/2014/main" val="10000"/>
                  </a:ext>
                </a:extLst>
              </a:tr>
              <a:tr h="0">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Events lost while a client is offline</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EAF3F4"/>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DB is source of truth; reload over HTTP after reconnect</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EAF3F4"/>
                    </a:solidFill>
                  </a:tcPr>
                </a:tc>
                <a:extLst>
                  <a:ext uri="{0D108BD9-81ED-4DB2-BD59-A6C34878D82A}">
                    <a16:rowId xmlns:a16="http://schemas.microsoft.com/office/drawing/2014/main" val="10001"/>
                  </a:ext>
                </a:extLst>
              </a:tr>
              <a:tr h="0">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Duplicate notifications</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Unique event_id; browser ignores seen ids</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Chat rooms could leak messages</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EAF3F4"/>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Join only after the same ownership check as HTTP</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EAF3F4"/>
                    </a:solidFill>
                  </a:tcPr>
                </a:tc>
                <a:extLst>
                  <a:ext uri="{0D108BD9-81ED-4DB2-BD59-A6C34878D82A}">
                    <a16:rowId xmlns:a16="http://schemas.microsoft.com/office/drawing/2014/main" val="10003"/>
                  </a:ext>
                </a:extLst>
              </a:tr>
              <a:tr h="0">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Handlers missing on later app objects</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Import sockets before socketio.init_app()</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One stray bracket broke assistant.js</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EAF3F4"/>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Every JS file now syntax-checked with Node</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EAF3F4"/>
                    </a:solidFill>
                  </a:tcPr>
                </a:tc>
                <a:extLst>
                  <a:ext uri="{0D108BD9-81ED-4DB2-BD59-A6C34878D82A}">
                    <a16:rowId xmlns:a16="http://schemas.microsoft.com/office/drawing/2014/main" val="10005"/>
                  </a:ext>
                </a:extLst>
              </a:tr>
              <a:tr h="0">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Second server could start on a used port (Windows)</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run.py checks the port first</a:t>
                      </a:r>
                      <a:endParaRPr lang="en-US" sz="1200" dirty="0">
                        <a:latin typeface="Calibri" charset="0"/>
                        <a:ea typeface="Calibri" charset="0"/>
                        <a:cs typeface="Calibri" charset="0"/>
                      </a:endParaRPr>
                    </a:p>
                  </a:txBody>
                  <a:tcPr marL="73152" marR="73152" marT="36576" marB="36576"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rgbClr val="0B2A3F"/>
                </a:solidFill>
                <a:latin typeface="Cambria" pitchFamily="34" charset="0"/>
                <a:ea typeface="Cambria" pitchFamily="34" charset="-122"/>
                <a:cs typeface="Cambria" pitchFamily="34" charset="-120"/>
              </a:rPr>
              <a:t>Conclusion and future enhancements</a:t>
            </a:r>
            <a:endParaRPr lang="en-US" sz="3000" dirty="0"/>
          </a:p>
        </p:txBody>
      </p:sp>
      <p:sp>
        <p:nvSpPr>
          <p:cNvPr id="3" name="Text 1"/>
          <p:cNvSpPr txBox="1"/>
          <p:nvPr/>
        </p:nvSpPr>
        <p:spPr>
          <a:xfrm>
            <a:off x="457200" y="4754880"/>
            <a:ext cx="4572000" cy="228600"/>
          </a:xfrm>
          <a:prstGeom prst="rect">
            <a:avLst/>
          </a:prstGeom>
          <a:noFill/>
          <a:ln/>
        </p:spPr>
        <p:txBody>
          <a:bodyPr wrap="square" lIns="0" tIns="0" rIns="0" bIns="0" rtlCol="0" anchor="ctr"/>
          <a:lstStyle/>
          <a:p>
            <a:pPr marL="0" indent="0">
              <a:buNone/>
            </a:pPr>
            <a:r>
              <a:rPr lang="en-US" sz="1000" dirty="0">
                <a:solidFill>
                  <a:srgbClr val="5B6B78"/>
                </a:solidFill>
                <a:latin typeface="Calibri" pitchFamily="34" charset="0"/>
                <a:ea typeface="Calibri" pitchFamily="34" charset="-122"/>
                <a:cs typeface="Calibri" pitchFamily="34" charset="-120"/>
              </a:rPr>
              <a:t>Campus Lab Helpdesk  |  BCSE308L</a:t>
            </a:r>
            <a:endParaRPr lang="en-US" sz="1000" dirty="0"/>
          </a:p>
        </p:txBody>
      </p:sp>
      <p:sp>
        <p:nvSpPr>
          <p:cNvPr id="4" name="Text 2"/>
          <p:cNvSpPr txBox="1"/>
          <p:nvPr/>
        </p:nvSpPr>
        <p:spPr>
          <a:xfrm>
            <a:off x="7772400" y="4754880"/>
            <a:ext cx="914400" cy="228600"/>
          </a:xfrm>
          <a:prstGeom prst="rect">
            <a:avLst/>
          </a:prstGeom>
          <a:noFill/>
          <a:ln/>
        </p:spPr>
        <p:txBody>
          <a:bodyPr wrap="square" lIns="0" tIns="0" rIns="0" bIns="0" rtlCol="0" anchor="ctr"/>
          <a:lstStyle/>
          <a:p>
            <a:pPr marL="0" indent="0" algn="r">
              <a:buNone/>
            </a:pPr>
            <a:r>
              <a:rPr lang="en-US" sz="1000" dirty="0">
                <a:solidFill>
                  <a:srgbClr val="5B6B78"/>
                </a:solidFill>
                <a:latin typeface="Calibri" pitchFamily="34" charset="0"/>
                <a:ea typeface="Calibri" pitchFamily="34" charset="-122"/>
                <a:cs typeface="Calibri" pitchFamily="34" charset="-120"/>
              </a:rPr>
              <a:t>24</a:t>
            </a:r>
            <a:endParaRPr lang="en-US" sz="1000" dirty="0"/>
          </a:p>
        </p:txBody>
      </p:sp>
      <p:sp>
        <p:nvSpPr>
          <p:cNvPr id="5" name="Shape 3"/>
          <p:cNvSpPr/>
          <p:nvPr/>
        </p:nvSpPr>
        <p:spPr>
          <a:xfrm>
            <a:off x="457200" y="1005840"/>
            <a:ext cx="4023360" cy="3566160"/>
          </a:xfrm>
          <a:prstGeom prst="roundRect">
            <a:avLst>
              <a:gd name="adj" fmla="val 2051"/>
            </a:avLst>
          </a:prstGeom>
          <a:solidFill>
            <a:srgbClr val="EAF3F4"/>
          </a:solidFill>
          <a:ln w="12700">
            <a:solidFill>
              <a:srgbClr val="EAF3F4"/>
            </a:solidFill>
            <a:prstDash val="solid"/>
          </a:ln>
        </p:spPr>
      </p:sp>
      <p:sp>
        <p:nvSpPr>
          <p:cNvPr id="6" name="Text 4"/>
          <p:cNvSpPr txBox="1"/>
          <p:nvPr/>
        </p:nvSpPr>
        <p:spPr>
          <a:xfrm>
            <a:off x="640080" y="1115568"/>
            <a:ext cx="3657600" cy="365760"/>
          </a:xfrm>
          <a:prstGeom prst="rect">
            <a:avLst/>
          </a:prstGeom>
          <a:noFill/>
          <a:ln/>
        </p:spPr>
        <p:txBody>
          <a:bodyPr wrap="square" lIns="0" tIns="0" rIns="0" bIns="0" rtlCol="0" anchor="t"/>
          <a:lstStyle/>
          <a:p>
            <a:pPr marL="0" indent="0">
              <a:buNone/>
            </a:pPr>
            <a:r>
              <a:rPr lang="en-US" sz="1600" b="1" dirty="0">
                <a:solidFill>
                  <a:srgbClr val="0E7C86"/>
                </a:solidFill>
                <a:latin typeface="Cambria" pitchFamily="34" charset="0"/>
                <a:ea typeface="Cambria" pitchFamily="34" charset="-122"/>
                <a:cs typeface="Cambria" pitchFamily="34" charset="-120"/>
              </a:rPr>
              <a:t>Conclusion</a:t>
            </a:r>
            <a:endParaRPr lang="en-US" sz="1600" dirty="0"/>
          </a:p>
        </p:txBody>
      </p:sp>
      <p:sp>
        <p:nvSpPr>
          <p:cNvPr id="7" name="Text 5"/>
          <p:cNvSpPr txBox="1"/>
          <p:nvPr/>
        </p:nvSpPr>
        <p:spPr>
          <a:xfrm>
            <a:off x="640080" y="1508760"/>
            <a:ext cx="3657600" cy="2971800"/>
          </a:xfrm>
          <a:prstGeom prst="rect">
            <a:avLst/>
          </a:prstGeom>
          <a:noFill/>
          <a:ln/>
        </p:spPr>
        <p:txBody>
          <a:bodyPr wrap="square" lIns="0" tIns="0" rIns="0" bIns="0" rtlCol="0" anchor="t"/>
          <a:lstStyle/>
          <a:p>
            <a:pPr marL="0" indent="0">
              <a:buNone/>
            </a:pPr>
            <a:r>
              <a:rPr lang="en-US" sz="1300" dirty="0">
                <a:solidFill>
                  <a:srgbClr val="1F2D3A"/>
                </a:solidFill>
                <a:latin typeface="Calibri" pitchFamily="34" charset="0"/>
                <a:ea typeface="Calibri" pitchFamily="34" charset="-122"/>
                <a:cs typeface="Calibri" pitchFamily="34" charset="-120"/>
              </a:rPr>
              <a:t>A dependable helpdesk on the LAN alone: new tickets and replies reach the other side the moment they are saved, lost clients are detected, pages resync, and rules are enforced on both HTTP and Socket.IO. It covers client-server, private IPs, ports, TCP, HTTP, WebSocket handshake and concurrency.</a:t>
            </a:r>
            <a:endParaRPr lang="en-US" sz="1300" dirty="0"/>
          </a:p>
        </p:txBody>
      </p:sp>
      <p:sp>
        <p:nvSpPr>
          <p:cNvPr id="8" name="Shape 6"/>
          <p:cNvSpPr/>
          <p:nvPr/>
        </p:nvSpPr>
        <p:spPr>
          <a:xfrm>
            <a:off x="4663440" y="1005840"/>
            <a:ext cx="4023360" cy="1600200"/>
          </a:xfrm>
          <a:prstGeom prst="roundRect">
            <a:avLst>
              <a:gd name="adj" fmla="val 4571"/>
            </a:avLst>
          </a:prstGeom>
          <a:solidFill>
            <a:srgbClr val="0B2A3F"/>
          </a:solidFill>
          <a:ln w="12700">
            <a:solidFill>
              <a:srgbClr val="0B2A3F"/>
            </a:solidFill>
            <a:prstDash val="solid"/>
          </a:ln>
        </p:spPr>
      </p:sp>
      <p:sp>
        <p:nvSpPr>
          <p:cNvPr id="9" name="Text 7"/>
          <p:cNvSpPr txBox="1"/>
          <p:nvPr/>
        </p:nvSpPr>
        <p:spPr>
          <a:xfrm>
            <a:off x="4846320" y="1115568"/>
            <a:ext cx="3657600" cy="365760"/>
          </a:xfrm>
          <a:prstGeom prst="rect">
            <a:avLst/>
          </a:prstGeom>
          <a:noFill/>
          <a:ln/>
        </p:spPr>
        <p:txBody>
          <a:bodyPr wrap="square" lIns="0" tIns="0" rIns="0" bIns="0" rtlCol="0" anchor="t"/>
          <a:lstStyle/>
          <a:p>
            <a:pPr marL="0" indent="0">
              <a:buNone/>
            </a:pPr>
            <a:r>
              <a:rPr lang="en-US" sz="1600" b="1" dirty="0">
                <a:solidFill>
                  <a:srgbClr val="F2A93B"/>
                </a:solidFill>
                <a:latin typeface="Cambria" pitchFamily="34" charset="0"/>
                <a:ea typeface="Cambria" pitchFamily="34" charset="-122"/>
                <a:cs typeface="Cambria" pitchFamily="34" charset="-120"/>
              </a:rPr>
              <a:t>Known limitations</a:t>
            </a:r>
            <a:endParaRPr lang="en-US" sz="1600" dirty="0"/>
          </a:p>
        </p:txBody>
      </p:sp>
      <p:sp>
        <p:nvSpPr>
          <p:cNvPr id="10" name="Text 8"/>
          <p:cNvSpPr txBox="1"/>
          <p:nvPr/>
        </p:nvSpPr>
        <p:spPr>
          <a:xfrm>
            <a:off x="4846320" y="1508760"/>
            <a:ext cx="3657600" cy="100584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Dev server (tens of clients); plain HTTP; in-memory presence; no rate limiting or migrations; Retry may duplicate a message.</a:t>
            </a:r>
            <a:endParaRPr lang="en-US" sz="1200" dirty="0"/>
          </a:p>
        </p:txBody>
      </p:sp>
      <p:sp>
        <p:nvSpPr>
          <p:cNvPr id="11" name="Shape 9"/>
          <p:cNvSpPr/>
          <p:nvPr/>
        </p:nvSpPr>
        <p:spPr>
          <a:xfrm>
            <a:off x="4663440" y="2743200"/>
            <a:ext cx="4023360" cy="1828800"/>
          </a:xfrm>
          <a:prstGeom prst="roundRect">
            <a:avLst>
              <a:gd name="adj" fmla="val 4000"/>
            </a:avLst>
          </a:prstGeom>
          <a:solidFill>
            <a:srgbClr val="EAF3F4"/>
          </a:solidFill>
          <a:ln w="12700">
            <a:solidFill>
              <a:srgbClr val="EAF3F4"/>
            </a:solidFill>
            <a:prstDash val="solid"/>
          </a:ln>
        </p:spPr>
      </p:sp>
      <p:sp>
        <p:nvSpPr>
          <p:cNvPr id="12" name="Text 10"/>
          <p:cNvSpPr txBox="1"/>
          <p:nvPr/>
        </p:nvSpPr>
        <p:spPr>
          <a:xfrm>
            <a:off x="4846320" y="2852928"/>
            <a:ext cx="3657600" cy="365760"/>
          </a:xfrm>
          <a:prstGeom prst="rect">
            <a:avLst/>
          </a:prstGeom>
          <a:noFill/>
          <a:ln/>
        </p:spPr>
        <p:txBody>
          <a:bodyPr wrap="square" lIns="0" tIns="0" rIns="0" bIns="0" rtlCol="0" anchor="t"/>
          <a:lstStyle/>
          <a:p>
            <a:pPr marL="0" indent="0">
              <a:buNone/>
            </a:pPr>
            <a:r>
              <a:rPr lang="en-US" sz="1600" b="1" dirty="0">
                <a:solidFill>
                  <a:srgbClr val="0E7C86"/>
                </a:solidFill>
                <a:latin typeface="Cambria" pitchFamily="34" charset="0"/>
                <a:ea typeface="Cambria" pitchFamily="34" charset="-122"/>
                <a:cs typeface="Cambria" pitchFamily="34" charset="-120"/>
              </a:rPr>
              <a:t>Future work</a:t>
            </a:r>
            <a:endParaRPr lang="en-US" sz="1600" dirty="0"/>
          </a:p>
        </p:txBody>
      </p:sp>
      <p:sp>
        <p:nvSpPr>
          <p:cNvPr id="13" name="Text 11"/>
          <p:cNvSpPr txBox="1"/>
          <p:nvPr/>
        </p:nvSpPr>
        <p:spPr>
          <a:xfrm>
            <a:off x="4846320" y="3246120"/>
            <a:ext cx="3657600" cy="1234440"/>
          </a:xfrm>
          <a:prstGeom prst="rect">
            <a:avLst/>
          </a:prstGeom>
          <a:noFill/>
          <a:ln/>
        </p:spPr>
        <p:txBody>
          <a:bodyPr wrap="square" lIns="0" tIns="0" rIns="0" bIns="0" rtlCol="0" anchor="t"/>
          <a:lstStyle/>
          <a:p>
            <a:pPr marL="0" indent="0">
              <a:buNone/>
            </a:pPr>
            <a:r>
              <a:rPr lang="en-US" sz="1200" dirty="0">
                <a:solidFill>
                  <a:srgbClr val="1F2D3A"/>
                </a:solidFill>
                <a:latin typeface="Calibri" pitchFamily="34" charset="0"/>
                <a:ea typeface="Calibri" pitchFamily="34" charset="-122"/>
                <a:cs typeface="Calibri" pitchFamily="34" charset="-120"/>
              </a:rPr>
              <a:t>HTTPS; gunicorn + Redis; PostgreSQL + Flask-Migrate; rate limiting, password reset, admin page; reports and attachments.</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rgbClr val="0B2A3F"/>
                </a:solidFill>
                <a:latin typeface="Cambria" pitchFamily="34" charset="0"/>
                <a:ea typeface="Cambria" pitchFamily="34" charset="-122"/>
                <a:cs typeface="Cambria" pitchFamily="34" charset="-120"/>
              </a:rPr>
              <a:t>References</a:t>
            </a:r>
            <a:endParaRPr lang="en-US" sz="3000" dirty="0"/>
          </a:p>
        </p:txBody>
      </p:sp>
      <p:sp>
        <p:nvSpPr>
          <p:cNvPr id="3" name="Text 1"/>
          <p:cNvSpPr txBox="1"/>
          <p:nvPr/>
        </p:nvSpPr>
        <p:spPr>
          <a:xfrm>
            <a:off x="457200" y="4754880"/>
            <a:ext cx="4572000" cy="228600"/>
          </a:xfrm>
          <a:prstGeom prst="rect">
            <a:avLst/>
          </a:prstGeom>
          <a:noFill/>
          <a:ln/>
        </p:spPr>
        <p:txBody>
          <a:bodyPr wrap="square" lIns="0" tIns="0" rIns="0" bIns="0" rtlCol="0" anchor="ctr"/>
          <a:lstStyle/>
          <a:p>
            <a:pPr marL="0" indent="0">
              <a:buNone/>
            </a:pPr>
            <a:r>
              <a:rPr lang="en-US" sz="1000" dirty="0">
                <a:solidFill>
                  <a:srgbClr val="5B6B78"/>
                </a:solidFill>
                <a:latin typeface="Calibri" pitchFamily="34" charset="0"/>
                <a:ea typeface="Calibri" pitchFamily="34" charset="-122"/>
                <a:cs typeface="Calibri" pitchFamily="34" charset="-120"/>
              </a:rPr>
              <a:t>Campus Lab Helpdesk  |  BCSE308L</a:t>
            </a:r>
            <a:endParaRPr lang="en-US" sz="1000" dirty="0"/>
          </a:p>
        </p:txBody>
      </p:sp>
      <p:sp>
        <p:nvSpPr>
          <p:cNvPr id="4" name="Text 2"/>
          <p:cNvSpPr txBox="1"/>
          <p:nvPr/>
        </p:nvSpPr>
        <p:spPr>
          <a:xfrm>
            <a:off x="7772400" y="4754880"/>
            <a:ext cx="914400" cy="228600"/>
          </a:xfrm>
          <a:prstGeom prst="rect">
            <a:avLst/>
          </a:prstGeom>
          <a:noFill/>
          <a:ln/>
        </p:spPr>
        <p:txBody>
          <a:bodyPr wrap="square" lIns="0" tIns="0" rIns="0" bIns="0" rtlCol="0" anchor="ctr"/>
          <a:lstStyle/>
          <a:p>
            <a:pPr marL="0" indent="0" algn="r">
              <a:buNone/>
            </a:pPr>
            <a:r>
              <a:rPr lang="en-US" sz="1000" dirty="0">
                <a:solidFill>
                  <a:srgbClr val="5B6B78"/>
                </a:solidFill>
                <a:latin typeface="Calibri" pitchFamily="34" charset="0"/>
                <a:ea typeface="Calibri" pitchFamily="34" charset="-122"/>
                <a:cs typeface="Calibri" pitchFamily="34" charset="-120"/>
              </a:rPr>
              <a:t>25</a:t>
            </a:r>
            <a:endParaRPr lang="en-US" sz="1000" dirty="0"/>
          </a:p>
        </p:txBody>
      </p:sp>
      <p:sp>
        <p:nvSpPr>
          <p:cNvPr id="5" name="Text 3"/>
          <p:cNvSpPr txBox="1"/>
          <p:nvPr/>
        </p:nvSpPr>
        <p:spPr>
          <a:xfrm>
            <a:off x="457200" y="1005840"/>
            <a:ext cx="8229600" cy="3566160"/>
          </a:xfrm>
          <a:prstGeom prst="rect">
            <a:avLst/>
          </a:prstGeom>
          <a:noFill/>
          <a:ln/>
        </p:spPr>
        <p:txBody>
          <a:bodyPr wrap="square" lIns="0" tIns="0" rIns="0" bIns="0" rtlCol="0" anchor="t"/>
          <a:lstStyle/>
          <a:p>
            <a:pPr marL="0" indent="0">
              <a:spcAft>
                <a:spcPts val="500"/>
              </a:spcAft>
              <a:buNone/>
            </a:pPr>
            <a:r>
              <a:rPr lang="en-US" sz="1250" dirty="0">
                <a:solidFill>
                  <a:srgbClr val="1F2D3A"/>
                </a:solidFill>
                <a:latin typeface="Calibri" pitchFamily="34" charset="0"/>
                <a:ea typeface="Calibri" pitchFamily="34" charset="-122"/>
                <a:cs typeface="Calibri" pitchFamily="34" charset="-120"/>
              </a:rPr>
              <a:t>[1] I. Fette, A. Melnikov, "The WebSocket Protocol," RFC 6455, IETF, 2011.</a:t>
            </a:r>
            <a:endParaRPr lang="en-US" sz="1250" dirty="0"/>
          </a:p>
          <a:p>
            <a:pPr marL="0" indent="0">
              <a:spcAft>
                <a:spcPts val="500"/>
              </a:spcAft>
              <a:buNone/>
            </a:pPr>
            <a:r>
              <a:rPr lang="en-US" sz="1250" dirty="0">
                <a:solidFill>
                  <a:srgbClr val="1F2D3A"/>
                </a:solidFill>
                <a:latin typeface="Calibri" pitchFamily="34" charset="0"/>
                <a:ea typeface="Calibri" pitchFamily="34" charset="-122"/>
                <a:cs typeface="Calibri" pitchFamily="34" charset="-120"/>
              </a:rPr>
              <a:t>[2] R. Fielding, J. Reschke, "HTTP/1.1: Semantics and Content," RFC 7231, IETF, 2014.</a:t>
            </a:r>
            <a:endParaRPr lang="en-US" sz="1250" dirty="0"/>
          </a:p>
          <a:p>
            <a:pPr marL="0" indent="0">
              <a:spcAft>
                <a:spcPts val="500"/>
              </a:spcAft>
              <a:buNone/>
            </a:pPr>
            <a:r>
              <a:rPr lang="en-US" sz="1250" dirty="0">
                <a:solidFill>
                  <a:srgbClr val="1F2D3A"/>
                </a:solidFill>
                <a:latin typeface="Calibri" pitchFamily="34" charset="0"/>
                <a:ea typeface="Calibri" pitchFamily="34" charset="-122"/>
                <a:cs typeface="Calibri" pitchFamily="34" charset="-120"/>
              </a:rPr>
              <a:t>[3] J. Postel, "Transmission Control Protocol," RFC 793, IETF, 1981.</a:t>
            </a:r>
            <a:endParaRPr lang="en-US" sz="1250" dirty="0"/>
          </a:p>
          <a:p>
            <a:pPr marL="0" indent="0">
              <a:spcAft>
                <a:spcPts val="500"/>
              </a:spcAft>
              <a:buNone/>
            </a:pPr>
            <a:r>
              <a:rPr lang="en-US" sz="1250" dirty="0">
                <a:solidFill>
                  <a:srgbClr val="1F2D3A"/>
                </a:solidFill>
                <a:latin typeface="Calibri" pitchFamily="34" charset="0"/>
                <a:ea typeface="Calibri" pitchFamily="34" charset="-122"/>
                <a:cs typeface="Calibri" pitchFamily="34" charset="-120"/>
              </a:rPr>
              <a:t>[4] Y. Rekhter et al., "Address Allocation for Private Internets," RFC 1918, IETF, 1996.</a:t>
            </a:r>
            <a:endParaRPr lang="en-US" sz="1250" dirty="0"/>
          </a:p>
          <a:p>
            <a:pPr marL="0" indent="0">
              <a:spcAft>
                <a:spcPts val="500"/>
              </a:spcAft>
              <a:buNone/>
            </a:pPr>
            <a:r>
              <a:rPr lang="en-US" sz="1250" dirty="0">
                <a:solidFill>
                  <a:srgbClr val="1F2D3A"/>
                </a:solidFill>
                <a:latin typeface="Calibri" pitchFamily="34" charset="0"/>
                <a:ea typeface="Calibri" pitchFamily="34" charset="-122"/>
                <a:cs typeface="Calibri" pitchFamily="34" charset="-120"/>
              </a:rPr>
              <a:t>[5] Socket.IO documentation (v4), socket.io/docs/v4</a:t>
            </a:r>
            <a:endParaRPr lang="en-US" sz="1250" dirty="0"/>
          </a:p>
          <a:p>
            <a:pPr marL="0" indent="0">
              <a:spcAft>
                <a:spcPts val="500"/>
              </a:spcAft>
              <a:buNone/>
            </a:pPr>
            <a:r>
              <a:rPr lang="en-US" sz="1250" dirty="0">
                <a:solidFill>
                  <a:srgbClr val="1F2D3A"/>
                </a:solidFill>
                <a:latin typeface="Calibri" pitchFamily="34" charset="0"/>
                <a:ea typeface="Calibri" pitchFamily="34" charset="-122"/>
                <a:cs typeface="Calibri" pitchFamily="34" charset="-120"/>
              </a:rPr>
              <a:t>[6] Pallets, Flask documentation.   [7] M. Grinberg, Flask-SocketIO documentation.</a:t>
            </a:r>
            <a:endParaRPr lang="en-US" sz="1250" dirty="0"/>
          </a:p>
          <a:p>
            <a:pPr marL="0" indent="0">
              <a:spcAft>
                <a:spcPts val="500"/>
              </a:spcAft>
              <a:buNone/>
            </a:pPr>
            <a:r>
              <a:rPr lang="en-US" sz="1250" dirty="0">
                <a:solidFill>
                  <a:srgbClr val="1F2D3A"/>
                </a:solidFill>
                <a:latin typeface="Calibri" pitchFamily="34" charset="0"/>
                <a:ea typeface="Calibri" pitchFamily="34" charset="-122"/>
                <a:cs typeface="Calibri" pitchFamily="34" charset="-120"/>
              </a:rPr>
              <a:t>[8] SQLite, "Write-Ahead Logging," sqlite.org/wal.html</a:t>
            </a:r>
            <a:endParaRPr lang="en-US" sz="1250" dirty="0"/>
          </a:p>
          <a:p>
            <a:pPr marL="0" indent="0">
              <a:spcAft>
                <a:spcPts val="500"/>
              </a:spcAft>
              <a:buNone/>
            </a:pPr>
            <a:r>
              <a:rPr lang="en-US" sz="1250" dirty="0">
                <a:solidFill>
                  <a:srgbClr val="1F2D3A"/>
                </a:solidFill>
                <a:latin typeface="Calibri" pitchFamily="34" charset="0"/>
                <a:ea typeface="Calibri" pitchFamily="34" charset="-122"/>
                <a:cs typeface="Calibri" pitchFamily="34" charset="-120"/>
              </a:rPr>
              <a:t>[9] Kurose and Ross, Computer Networking: A Top-Down Approach, 8th ed., Pearson, 2021.</a:t>
            </a:r>
            <a:endParaRPr lang="en-US" sz="1250" dirty="0"/>
          </a:p>
          <a:p>
            <a:pPr marL="0" indent="0">
              <a:spcAft>
                <a:spcPts val="500"/>
              </a:spcAft>
              <a:buNone/>
            </a:pPr>
            <a:r>
              <a:rPr lang="en-US" sz="1250" dirty="0">
                <a:solidFill>
                  <a:srgbClr val="1F2D3A"/>
                </a:solidFill>
                <a:latin typeface="Calibri" pitchFamily="34" charset="0"/>
                <a:ea typeface="Calibri" pitchFamily="34" charset="-122"/>
                <a:cs typeface="Calibri" pitchFamily="34" charset="-120"/>
              </a:rPr>
              <a:t>[10] OWASP, CSRF Prevention Cheat Sheet.   [11] Tanenbaum and Wetherall, Computer Networks, 5th ed., 2011.</a:t>
            </a:r>
            <a:endParaRPr lang="en-US" sz="1250" dirty="0"/>
          </a:p>
          <a:p>
            <a:pPr marL="0" indent="0">
              <a:spcAft>
                <a:spcPts val="500"/>
              </a:spcAft>
              <a:buNone/>
            </a:pPr>
            <a:r>
              <a:rPr lang="en-US" sz="1250" dirty="0">
                <a:solidFill>
                  <a:srgbClr val="1F2D3A"/>
                </a:solidFill>
                <a:latin typeface="Calibri" pitchFamily="34" charset="0"/>
                <a:ea typeface="Calibri" pitchFamily="34" charset="-122"/>
                <a:cs typeface="Calibri" pitchFamily="34" charset="-120"/>
              </a:rPr>
              <a:t>[12-14] Zendesk / Freshdesk, osTicket, GLPI product documentation.</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B2A3F"/>
        </a:solidFill>
        <a:effectLst/>
      </p:bgPr>
    </p:bg>
    <p:spTree>
      <p:nvGrpSpPr>
        <p:cNvPr id="1" name=""/>
        <p:cNvGrpSpPr/>
        <p:nvPr/>
      </p:nvGrpSpPr>
      <p:grpSpPr>
        <a:xfrm>
          <a:off x="0" y="0"/>
          <a:ext cx="0" cy="0"/>
          <a:chOff x="0" y="0"/>
          <a:chExt cx="0" cy="0"/>
        </a:xfrm>
      </p:grpSpPr>
      <p:sp>
        <p:nvSpPr>
          <p:cNvPr id="2" name="Text 0"/>
          <p:cNvSpPr txBox="1"/>
          <p:nvPr/>
        </p:nvSpPr>
        <p:spPr>
          <a:xfrm>
            <a:off x="457200" y="1554480"/>
            <a:ext cx="8229600" cy="914400"/>
          </a:xfrm>
          <a:prstGeom prst="rect">
            <a:avLst/>
          </a:prstGeom>
          <a:noFill/>
          <a:ln/>
        </p:spPr>
        <p:txBody>
          <a:bodyPr wrap="square" lIns="0" tIns="0" rIns="0" bIns="0"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Thank you</a:t>
            </a:r>
            <a:endParaRPr lang="en-US" sz="4800" dirty="0"/>
          </a:p>
        </p:txBody>
      </p:sp>
      <p:sp>
        <p:nvSpPr>
          <p:cNvPr id="4" name="Text 2"/>
          <p:cNvSpPr txBox="1"/>
          <p:nvPr/>
        </p:nvSpPr>
        <p:spPr>
          <a:xfrm>
            <a:off x="457200" y="3840480"/>
            <a:ext cx="8229600" cy="548640"/>
          </a:xfrm>
          <a:prstGeom prst="rect">
            <a:avLst/>
          </a:prstGeom>
          <a:noFill/>
          <a:ln/>
        </p:spPr>
        <p:txBody>
          <a:bodyPr wrap="square" lIns="0" tIns="0" rIns="0" bIns="0" rtlCol="0" anchor="ctr"/>
          <a:lstStyle/>
          <a:p>
            <a:pPr marL="0" indent="0">
              <a:buNone/>
            </a:pP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2296</Words>
  <Application>Microsoft Office PowerPoint</Application>
  <PresentationFormat>On-screen Show (16:9)</PresentationFormat>
  <Paragraphs>371</Paragraphs>
  <Slides>26</Slides>
  <Notes>26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Campus Lab Helpdesk - BCSE308L Project Review</dc:title>
  <dc:subject>PptxGenJS Presentation</dc:subject>
  <dc:creator>PptxGenJS</dc:creator>
  <cp:lastModifiedBy>meghantgtr@outlook.com</cp:lastModifiedBy>
  <cp:revision>3</cp:revision>
  <dcterms:created xsi:type="dcterms:W3CDTF">2026-10-29T07:50:18Z</dcterms:created>
  <dcterms:modified xsi:type="dcterms:W3CDTF">2026-10-29T15:42:23Z</dcterms:modified>
</cp:coreProperties>
</file>